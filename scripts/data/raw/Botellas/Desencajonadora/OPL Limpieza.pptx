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6" r:id="rId3"/>
    <p:sldId id="257" r:id="rId4"/>
    <p:sldId id="258" r:id="rId5"/>
    <p:sldId id="259" r:id="rId6"/>
    <p:sldId id="264" r:id="rId7"/>
    <p:sldId id="260" r:id="rId8"/>
    <p:sldId id="261" r:id="rId9"/>
    <p:sldId id="262" r:id="rId10"/>
  </p:sldIdLst>
  <p:sldSz cx="9144000" cy="6858000" type="screen4x3"/>
  <p:notesSz cx="7010400" cy="92964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60924" autoAdjust="0"/>
  </p:normalViewPr>
  <p:slideViewPr>
    <p:cSldViewPr>
      <p:cViewPr varScale="1">
        <p:scale>
          <a:sx n="72" d="100"/>
          <a:sy n="72" d="100"/>
        </p:scale>
        <p:origin x="1326"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EC"/>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EC"/>
          </a:p>
        </p:txBody>
      </p:sp>
      <p:sp>
        <p:nvSpPr>
          <p:cNvPr id="4" name="3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5" name="4 Marcador de pie de página"/>
          <p:cNvSpPr>
            <a:spLocks noGrp="1"/>
          </p:cNvSpPr>
          <p:nvPr>
            <p:ph type="ftr" sz="quarter" idx="11"/>
          </p:nvPr>
        </p:nvSpPr>
        <p:spPr/>
        <p:txBody>
          <a:bodyPr/>
          <a:lstStyle/>
          <a:p>
            <a:endParaRPr lang="es-EC"/>
          </a:p>
        </p:txBody>
      </p:sp>
      <p:sp>
        <p:nvSpPr>
          <p:cNvPr id="6" name="5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985667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C"/>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3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5" name="4 Marcador de pie de página"/>
          <p:cNvSpPr>
            <a:spLocks noGrp="1"/>
          </p:cNvSpPr>
          <p:nvPr>
            <p:ph type="ftr" sz="quarter" idx="11"/>
          </p:nvPr>
        </p:nvSpPr>
        <p:spPr/>
        <p:txBody>
          <a:bodyPr/>
          <a:lstStyle/>
          <a:p>
            <a:endParaRPr lang="es-EC"/>
          </a:p>
        </p:txBody>
      </p:sp>
      <p:sp>
        <p:nvSpPr>
          <p:cNvPr id="6" name="5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1037160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EC"/>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5" name="4 Marcador de pie de página"/>
          <p:cNvSpPr>
            <a:spLocks noGrp="1"/>
          </p:cNvSpPr>
          <p:nvPr>
            <p:ph type="ftr" sz="quarter" idx="11"/>
          </p:nvPr>
        </p:nvSpPr>
        <p:spPr/>
        <p:txBody>
          <a:bodyPr/>
          <a:lstStyle/>
          <a:p>
            <a:endParaRPr lang="es-EC"/>
          </a:p>
        </p:txBody>
      </p:sp>
      <p:sp>
        <p:nvSpPr>
          <p:cNvPr id="6" name="5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670785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C"/>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4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6" name="5 Marcador de pie de página"/>
          <p:cNvSpPr>
            <a:spLocks noGrp="1"/>
          </p:cNvSpPr>
          <p:nvPr>
            <p:ph type="ftr" sz="quarter" idx="11"/>
          </p:nvPr>
        </p:nvSpPr>
        <p:spPr/>
        <p:txBody>
          <a:bodyPr/>
          <a:lstStyle/>
          <a:p>
            <a:endParaRPr lang="es-EC"/>
          </a:p>
        </p:txBody>
      </p:sp>
      <p:sp>
        <p:nvSpPr>
          <p:cNvPr id="7" name="6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1685397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EC"/>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6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8" name="7 Marcador de pie de página"/>
          <p:cNvSpPr>
            <a:spLocks noGrp="1"/>
          </p:cNvSpPr>
          <p:nvPr>
            <p:ph type="ftr" sz="quarter" idx="11"/>
          </p:nvPr>
        </p:nvSpPr>
        <p:spPr/>
        <p:txBody>
          <a:bodyPr/>
          <a:lstStyle/>
          <a:p>
            <a:endParaRPr lang="es-EC"/>
          </a:p>
        </p:txBody>
      </p:sp>
      <p:sp>
        <p:nvSpPr>
          <p:cNvPr id="9" name="8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1675733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C"/>
          </a:p>
        </p:txBody>
      </p:sp>
      <p:sp>
        <p:nvSpPr>
          <p:cNvPr id="3" name="2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4" name="3 Marcador de pie de página"/>
          <p:cNvSpPr>
            <a:spLocks noGrp="1"/>
          </p:cNvSpPr>
          <p:nvPr>
            <p:ph type="ftr" sz="quarter" idx="11"/>
          </p:nvPr>
        </p:nvSpPr>
        <p:spPr/>
        <p:txBody>
          <a:bodyPr/>
          <a:lstStyle/>
          <a:p>
            <a:endParaRPr lang="es-EC"/>
          </a:p>
        </p:txBody>
      </p:sp>
      <p:sp>
        <p:nvSpPr>
          <p:cNvPr id="5" name="4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3102237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3" name="2 Marcador de pie de página"/>
          <p:cNvSpPr>
            <a:spLocks noGrp="1"/>
          </p:cNvSpPr>
          <p:nvPr>
            <p:ph type="ftr" sz="quarter" idx="11"/>
          </p:nvPr>
        </p:nvSpPr>
        <p:spPr/>
        <p:txBody>
          <a:bodyPr/>
          <a:lstStyle/>
          <a:p>
            <a:endParaRPr lang="es-EC"/>
          </a:p>
        </p:txBody>
      </p:sp>
      <p:sp>
        <p:nvSpPr>
          <p:cNvPr id="4" name="3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884173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EC"/>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6" name="5 Marcador de pie de página"/>
          <p:cNvSpPr>
            <a:spLocks noGrp="1"/>
          </p:cNvSpPr>
          <p:nvPr>
            <p:ph type="ftr" sz="quarter" idx="11"/>
          </p:nvPr>
        </p:nvSpPr>
        <p:spPr/>
        <p:txBody>
          <a:bodyPr/>
          <a:lstStyle/>
          <a:p>
            <a:endParaRPr lang="es-EC"/>
          </a:p>
        </p:txBody>
      </p:sp>
      <p:sp>
        <p:nvSpPr>
          <p:cNvPr id="7" name="6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1961278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EC"/>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6" name="5 Marcador de pie de página"/>
          <p:cNvSpPr>
            <a:spLocks noGrp="1"/>
          </p:cNvSpPr>
          <p:nvPr>
            <p:ph type="ftr" sz="quarter" idx="11"/>
          </p:nvPr>
        </p:nvSpPr>
        <p:spPr/>
        <p:txBody>
          <a:bodyPr/>
          <a:lstStyle/>
          <a:p>
            <a:endParaRPr lang="es-EC"/>
          </a:p>
        </p:txBody>
      </p:sp>
      <p:sp>
        <p:nvSpPr>
          <p:cNvPr id="7" name="6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3505311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C"/>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3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5" name="4 Marcador de pie de página"/>
          <p:cNvSpPr>
            <a:spLocks noGrp="1"/>
          </p:cNvSpPr>
          <p:nvPr>
            <p:ph type="ftr" sz="quarter" idx="11"/>
          </p:nvPr>
        </p:nvSpPr>
        <p:spPr/>
        <p:txBody>
          <a:bodyPr/>
          <a:lstStyle/>
          <a:p>
            <a:endParaRPr lang="es-EC"/>
          </a:p>
        </p:txBody>
      </p:sp>
      <p:sp>
        <p:nvSpPr>
          <p:cNvPr id="6" name="5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296855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EC"/>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3 Marcador de fecha"/>
          <p:cNvSpPr>
            <a:spLocks noGrp="1"/>
          </p:cNvSpPr>
          <p:nvPr>
            <p:ph type="dt" sz="half" idx="10"/>
          </p:nvPr>
        </p:nvSpPr>
        <p:spPr/>
        <p:txBody>
          <a:bodyPr/>
          <a:lstStyle/>
          <a:p>
            <a:fld id="{3D5CBB0F-8B61-4722-8547-220434861574}" type="datetimeFigureOut">
              <a:rPr lang="es-EC" smtClean="0"/>
              <a:t>06/06/2018</a:t>
            </a:fld>
            <a:endParaRPr lang="es-EC"/>
          </a:p>
        </p:txBody>
      </p:sp>
      <p:sp>
        <p:nvSpPr>
          <p:cNvPr id="5" name="4 Marcador de pie de página"/>
          <p:cNvSpPr>
            <a:spLocks noGrp="1"/>
          </p:cNvSpPr>
          <p:nvPr>
            <p:ph type="ftr" sz="quarter" idx="11"/>
          </p:nvPr>
        </p:nvSpPr>
        <p:spPr/>
        <p:txBody>
          <a:bodyPr/>
          <a:lstStyle/>
          <a:p>
            <a:endParaRPr lang="es-EC"/>
          </a:p>
        </p:txBody>
      </p:sp>
      <p:sp>
        <p:nvSpPr>
          <p:cNvPr id="6" name="5 Marcador de número de diapositiva"/>
          <p:cNvSpPr>
            <a:spLocks noGrp="1"/>
          </p:cNvSpPr>
          <p:nvPr>
            <p:ph type="sldNum" sz="quarter" idx="12"/>
          </p:nvPr>
        </p:nvSpPr>
        <p:spPr/>
        <p:txBody>
          <a:bodyPr/>
          <a:lstStyle/>
          <a:p>
            <a:fld id="{258C9DF0-E7BE-4F8E-9B9A-C1528403A652}" type="slidenum">
              <a:rPr lang="es-EC" smtClean="0"/>
              <a:t>‹Nº›</a:t>
            </a:fld>
            <a:endParaRPr lang="es-EC"/>
          </a:p>
        </p:txBody>
      </p:sp>
    </p:spTree>
    <p:extLst>
      <p:ext uri="{BB962C8B-B14F-4D97-AF65-F5344CB8AC3E}">
        <p14:creationId xmlns:p14="http://schemas.microsoft.com/office/powerpoint/2010/main" val="553354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5CBB0F-8B61-4722-8547-220434861574}" type="datetimeFigureOut">
              <a:rPr lang="es-EC" smtClean="0"/>
              <a:t>06/06/2018</a:t>
            </a:fld>
            <a:endParaRPr lang="es-EC"/>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8C9DF0-E7BE-4F8E-9B9A-C1528403A652}" type="slidenum">
              <a:rPr lang="es-EC" smtClean="0"/>
              <a:t>‹Nº›</a:t>
            </a:fld>
            <a:endParaRPr lang="es-EC"/>
          </a:p>
        </p:txBody>
      </p:sp>
    </p:spTree>
    <p:extLst>
      <p:ext uri="{BB962C8B-B14F-4D97-AF65-F5344CB8AC3E}">
        <p14:creationId xmlns:p14="http://schemas.microsoft.com/office/powerpoint/2010/main" val="1987542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91030" y="188640"/>
            <a:ext cx="8928992" cy="1071339"/>
          </a:xfrm>
          <a:prstGeom prst="round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C" b="1" i="1" dirty="0">
                <a:solidFill>
                  <a:srgbClr val="FFC000"/>
                </a:solidFill>
                <a:latin typeface="Calibri" panose="020F0502020204030204" pitchFamily="34" charset="0"/>
              </a:rPr>
              <a:t>OPL-PACK-ENCAJONADORA</a:t>
            </a:r>
          </a:p>
          <a:p>
            <a:pPr algn="ctr"/>
            <a:r>
              <a:rPr lang="es-EC" b="1" i="1" dirty="0">
                <a:solidFill>
                  <a:srgbClr val="FFC000"/>
                </a:solidFill>
                <a:latin typeface="Calibri" panose="020F0502020204030204" pitchFamily="34" charset="0"/>
              </a:rPr>
              <a:t>Limpieza-ajuste e inspección- lubricación</a:t>
            </a:r>
          </a:p>
          <a:p>
            <a:pPr algn="ctr"/>
            <a:r>
              <a:rPr lang="es-EC" b="1" i="1" u="sng" dirty="0">
                <a:solidFill>
                  <a:schemeClr val="accent5">
                    <a:lumMod val="75000"/>
                  </a:schemeClr>
                </a:solidFill>
                <a:latin typeface="Calibri" panose="020F0502020204030204" pitchFamily="34" charset="0"/>
              </a:rPr>
              <a:t>Limpieza  </a:t>
            </a:r>
            <a:endParaRPr lang="es-EC" b="1" i="1" dirty="0">
              <a:solidFill>
                <a:schemeClr val="accent5">
                  <a:lumMod val="75000"/>
                </a:schemeClr>
              </a:solidFill>
              <a:latin typeface="Calibri" panose="020F0502020204030204" pitchFamily="34" charset="0"/>
            </a:endParaRPr>
          </a:p>
        </p:txBody>
      </p:sp>
      <p:pic>
        <p:nvPicPr>
          <p:cNvPr id="5" name="Picture 2" descr="http://www.lavatec.com.mx/images/logo_servicio.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24545" y="1556792"/>
            <a:ext cx="7413269" cy="5688632"/>
          </a:xfrm>
          <a:prstGeom prst="rect">
            <a:avLst/>
          </a:prstGeom>
          <a:noFill/>
          <a:extLst>
            <a:ext uri="{909E8E84-426E-40DD-AFC4-6F175D3DCCD1}">
              <a14:hiddenFill xmlns:a14="http://schemas.microsoft.com/office/drawing/2010/main">
                <a:solidFill>
                  <a:srgbClr val="FFFFFF"/>
                </a:solidFill>
              </a14:hiddenFill>
            </a:ext>
          </a:extLst>
        </p:spPr>
      </p:pic>
      <p:sp>
        <p:nvSpPr>
          <p:cNvPr id="7" name="6 Rectángulo"/>
          <p:cNvSpPr/>
          <p:nvPr/>
        </p:nvSpPr>
        <p:spPr>
          <a:xfrm>
            <a:off x="5354706" y="1484784"/>
            <a:ext cx="3312368" cy="1033869"/>
          </a:xfrm>
          <a:prstGeom prst="rect">
            <a:avLst/>
          </a:prstGeom>
          <a:solidFill>
            <a:schemeClr val="accent1">
              <a:lumMod val="75000"/>
            </a:schemeClr>
          </a:solidFill>
        </p:spPr>
        <p:style>
          <a:lnRef idx="3">
            <a:schemeClr val="lt1"/>
          </a:lnRef>
          <a:fillRef idx="1">
            <a:schemeClr val="accent3"/>
          </a:fillRef>
          <a:effectRef idx="1">
            <a:schemeClr val="accent3"/>
          </a:effectRef>
          <a:fontRef idx="minor">
            <a:schemeClr val="lt1"/>
          </a:fontRef>
        </p:style>
        <p:txBody>
          <a:bodyPr rtlCol="0" anchor="ctr"/>
          <a:lstStyle/>
          <a:p>
            <a:pPr algn="ctr"/>
            <a:r>
              <a:rPr lang="es-EC" b="1" i="1" dirty="0">
                <a:solidFill>
                  <a:srgbClr val="FFC000"/>
                </a:solidFill>
              </a:rPr>
              <a:t>Mantenimiento</a:t>
            </a:r>
            <a:r>
              <a:rPr lang="es-EC" dirty="0">
                <a:solidFill>
                  <a:schemeClr val="tx2">
                    <a:lumMod val="60000"/>
                    <a:lumOff val="40000"/>
                  </a:schemeClr>
                </a:solidFill>
              </a:rPr>
              <a:t> </a:t>
            </a:r>
            <a:r>
              <a:rPr lang="es-EC" b="1" i="1" dirty="0">
                <a:solidFill>
                  <a:srgbClr val="FFC000"/>
                </a:solidFill>
              </a:rPr>
              <a:t>Autónomo</a:t>
            </a:r>
            <a:r>
              <a:rPr lang="es-EC" dirty="0">
                <a:solidFill>
                  <a:srgbClr val="00B050"/>
                </a:solidFill>
              </a:rPr>
              <a:t> </a:t>
            </a:r>
          </a:p>
        </p:txBody>
      </p:sp>
      <p:pic>
        <p:nvPicPr>
          <p:cNvPr id="8"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2554" y="5717115"/>
            <a:ext cx="2226469" cy="928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pic>
        <p:nvPicPr>
          <p:cNvPr id="9" name="3 Imagen">
            <a:extLst>
              <a:ext uri="{FF2B5EF4-FFF2-40B4-BE49-F238E27FC236}">
                <a16:creationId xmlns:a16="http://schemas.microsoft.com/office/drawing/2014/main" id="{57750EAA-3604-42E7-875A-8204E45C0D26}"/>
              </a:ext>
            </a:extLst>
          </p:cNvPr>
          <p:cNvPicPr/>
          <p:nvPr/>
        </p:nvPicPr>
        <p:blipFill rotWithShape="1">
          <a:blip r:embed="rId4"/>
          <a:srcRect l="12940" r="12823" b="9145"/>
          <a:stretch/>
        </p:blipFill>
        <p:spPr>
          <a:xfrm>
            <a:off x="5257229" y="2852936"/>
            <a:ext cx="3455035" cy="25922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Imagen 9">
            <a:extLst>
              <a:ext uri="{FF2B5EF4-FFF2-40B4-BE49-F238E27FC236}">
                <a16:creationId xmlns:a16="http://schemas.microsoft.com/office/drawing/2014/main" id="{F6D9C7FF-60D5-4850-8956-0E532A239787}"/>
              </a:ext>
            </a:extLst>
          </p:cNvPr>
          <p:cNvPicPr>
            <a:picLocks noChangeAspect="1"/>
          </p:cNvPicPr>
          <p:nvPr/>
        </p:nvPicPr>
        <p:blipFill rotWithShape="1">
          <a:blip r:embed="rId5"/>
          <a:srcRect l="73875" t="80478" r="19170" b="14443"/>
          <a:stretch/>
        </p:blipFill>
        <p:spPr>
          <a:xfrm>
            <a:off x="179512" y="203244"/>
            <a:ext cx="1872208" cy="9935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Imagen 10">
            <a:extLst>
              <a:ext uri="{FF2B5EF4-FFF2-40B4-BE49-F238E27FC236}">
                <a16:creationId xmlns:a16="http://schemas.microsoft.com/office/drawing/2014/main" id="{BB8DB67D-7703-4FEE-AB0F-92539FDEBA6A}"/>
              </a:ext>
            </a:extLst>
          </p:cNvPr>
          <p:cNvPicPr>
            <a:picLocks noChangeAspect="1"/>
          </p:cNvPicPr>
          <p:nvPr/>
        </p:nvPicPr>
        <p:blipFill rotWithShape="1">
          <a:blip r:embed="rId5"/>
          <a:srcRect l="73875" t="80478" r="19170" b="14443"/>
          <a:stretch/>
        </p:blipFill>
        <p:spPr>
          <a:xfrm>
            <a:off x="7117996" y="219385"/>
            <a:ext cx="1872208" cy="9935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27836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extLst>
              <p:ext uri="{D42A27DB-BD31-4B8C-83A1-F6EECF244321}">
                <p14:modId xmlns:p14="http://schemas.microsoft.com/office/powerpoint/2010/main" val="4155199458"/>
              </p:ext>
            </p:extLst>
          </p:nvPr>
        </p:nvGraphicFramePr>
        <p:xfrm>
          <a:off x="107504" y="116632"/>
          <a:ext cx="8856984" cy="1326976"/>
        </p:xfrm>
        <a:graphic>
          <a:graphicData uri="http://schemas.openxmlformats.org/drawingml/2006/table">
            <a:tbl>
              <a:tblPr/>
              <a:tblGrid>
                <a:gridCol w="2429691">
                  <a:extLst>
                    <a:ext uri="{9D8B030D-6E8A-4147-A177-3AD203B41FA5}">
                      <a16:colId xmlns:a16="http://schemas.microsoft.com/office/drawing/2014/main" val="20000"/>
                    </a:ext>
                  </a:extLst>
                </a:gridCol>
                <a:gridCol w="4702747">
                  <a:extLst>
                    <a:ext uri="{9D8B030D-6E8A-4147-A177-3AD203B41FA5}">
                      <a16:colId xmlns:a16="http://schemas.microsoft.com/office/drawing/2014/main" val="20001"/>
                    </a:ext>
                  </a:extLst>
                </a:gridCol>
                <a:gridCol w="1724546">
                  <a:extLst>
                    <a:ext uri="{9D8B030D-6E8A-4147-A177-3AD203B41FA5}">
                      <a16:colId xmlns:a16="http://schemas.microsoft.com/office/drawing/2014/main" val="20002"/>
                    </a:ext>
                  </a:extLst>
                </a:gridCol>
              </a:tblGrid>
              <a:tr h="39467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s-BO" sz="1400" b="1" dirty="0">
                          <a:latin typeface="+mj-lt"/>
                        </a:rPr>
                        <a:t>OPL</a:t>
                      </a:r>
                      <a:r>
                        <a:rPr lang="es-BO" sz="1400" b="1" baseline="0" dirty="0">
                          <a:latin typeface="+mj-lt"/>
                        </a:rPr>
                        <a:t> – LECCION DE UN PUNTO</a:t>
                      </a:r>
                      <a:endParaRPr lang="es-BO" sz="1400" b="1" dirty="0">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300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pPr>
                      <a:r>
                        <a:rPr kumimoji="0" lang="es-ES_tradnl" sz="1000" b="1" i="0" u="none" strike="noStrike" cap="none" normalizeH="0" baseline="0" dirty="0">
                          <a:ln>
                            <a:noFill/>
                          </a:ln>
                          <a:solidFill>
                            <a:schemeClr val="tx1"/>
                          </a:solidFill>
                          <a:effectLst/>
                          <a:latin typeface="+mj-lt"/>
                          <a:ea typeface="Times New Roman" pitchFamily="18" charset="0"/>
                          <a:cs typeface="Arial" charset="0"/>
                        </a:rPr>
                        <a:t>Revisión</a:t>
                      </a:r>
                      <a:r>
                        <a:rPr kumimoji="0" lang="es-ES_tradnl" sz="1000" b="0" i="0" u="none" strike="noStrike" cap="none" normalizeH="0" baseline="0" dirty="0">
                          <a:ln>
                            <a:noFill/>
                          </a:ln>
                          <a:solidFill>
                            <a:schemeClr val="tx1"/>
                          </a:solidFill>
                          <a:effectLst/>
                          <a:latin typeface="+mj-lt"/>
                          <a:ea typeface="Times New Roman" pitchFamily="18" charset="0"/>
                          <a:cs typeface="Arial" charset="0"/>
                        </a:rPr>
                        <a:t>: 01</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1" i="0" u="none" strike="noStrike" cap="none" normalizeH="0" baseline="0" dirty="0">
                          <a:ln>
                            <a:noFill/>
                          </a:ln>
                          <a:solidFill>
                            <a:schemeClr val="tx1"/>
                          </a:solidFill>
                          <a:effectLst/>
                          <a:latin typeface="+mj-lt"/>
                          <a:cs typeface="Times New Roman" pitchFamily="18" charset="0"/>
                        </a:rPr>
                        <a:t>MANTENIMIENTO  AUTONOMO:</a:t>
                      </a:r>
                      <a:endParaRPr kumimoji="0" lang="es-ES_tradnl" sz="1000" b="1"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0" i="0" u="none" strike="noStrike" cap="none" normalizeH="0" baseline="0" dirty="0">
                          <a:ln>
                            <a:noFill/>
                          </a:ln>
                          <a:solidFill>
                            <a:schemeClr val="tx1"/>
                          </a:solidFill>
                          <a:effectLst/>
                          <a:latin typeface="+mj-lt"/>
                        </a:rPr>
                        <a:t>Condición Básica</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12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1" i="0" u="none" strike="noStrike" kern="1200" cap="none" normalizeH="0" baseline="0" dirty="0">
                          <a:ln>
                            <a:noFill/>
                          </a:ln>
                          <a:solidFill>
                            <a:schemeClr val="tx1"/>
                          </a:solidFill>
                          <a:effectLst/>
                          <a:latin typeface="+mj-lt"/>
                          <a:ea typeface="Times New Roman" pitchFamily="18" charset="0"/>
                          <a:cs typeface="Arial" charset="0"/>
                        </a:rPr>
                        <a:t>Código</a:t>
                      </a:r>
                      <a:r>
                        <a:rPr kumimoji="0" lang="es-ES_tradnl" sz="1000" b="0" i="0" u="none" strike="noStrike" kern="1200" cap="none" normalizeH="0" baseline="0" dirty="0">
                          <a:ln>
                            <a:noFill/>
                          </a:ln>
                          <a:solidFill>
                            <a:schemeClr val="tx1"/>
                          </a:solidFill>
                          <a:effectLst/>
                          <a:latin typeface="+mj-lt"/>
                          <a:ea typeface="Times New Roman" pitchFamily="18" charset="0"/>
                          <a:cs typeface="Arial" charset="0"/>
                        </a:rPr>
                        <a:t>:</a:t>
                      </a:r>
                      <a:r>
                        <a:rPr kumimoji="0" lang="es-ES_tradnl" sz="900" b="0" i="0" u="none" strike="noStrike" kern="1200" cap="none" normalizeH="0" baseline="0" dirty="0">
                          <a:ln>
                            <a:noFill/>
                          </a:ln>
                          <a:solidFill>
                            <a:schemeClr val="tx1"/>
                          </a:solidFill>
                          <a:effectLst/>
                          <a:latin typeface="+mj-lt"/>
                          <a:ea typeface="Times New Roman" pitchFamily="18" charset="0"/>
                          <a:cs typeface="Arial" charset="0"/>
                        </a:rPr>
                        <a:t> </a:t>
                      </a:r>
                      <a:r>
                        <a:rPr kumimoji="0" lang="es-AR" sz="900" b="0" i="0" u="none" strike="noStrike" kern="1200" cap="none" normalizeH="0" baseline="0" dirty="0">
                          <a:ln>
                            <a:noFill/>
                          </a:ln>
                          <a:solidFill>
                            <a:srgbClr val="000000"/>
                          </a:solidFill>
                          <a:effectLst/>
                          <a:latin typeface="+mn-lt"/>
                          <a:ea typeface="+mn-ea"/>
                          <a:cs typeface="+mn-cs"/>
                        </a:rPr>
                        <a:t>OPL-PACK-ENCA-01</a:t>
                      </a:r>
                      <a:endParaRPr kumimoji="0" lang="es-ES" sz="900" b="0" i="0" u="none" strike="noStrike" kern="1200" cap="none" normalizeH="0" baseline="0" dirty="0">
                        <a:ln>
                          <a:noFill/>
                        </a:ln>
                        <a:solidFill>
                          <a:srgbClr val="000000"/>
                        </a:solidFill>
                        <a:effectLst/>
                        <a:latin typeface="+mn-lt"/>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lang="es-BO" sz="1000" b="0" i="0" u="none" strike="noStrike" kern="1200" dirty="0">
                          <a:solidFill>
                            <a:schemeClr val="tx1"/>
                          </a:solidFill>
                          <a:effectLst/>
                          <a:latin typeface="+mn-lt"/>
                          <a:ea typeface="+mn-ea"/>
                          <a:cs typeface="+mn-cs"/>
                        </a:rPr>
                        <a:t>Tema:</a:t>
                      </a:r>
                      <a:r>
                        <a:rPr lang="es-BO" sz="1000" b="0" i="0" u="none" strike="noStrike" kern="1200" baseline="0" dirty="0">
                          <a:solidFill>
                            <a:schemeClr val="tx1"/>
                          </a:solidFill>
                          <a:effectLst/>
                          <a:latin typeface="+mn-lt"/>
                          <a:ea typeface="+mn-ea"/>
                          <a:cs typeface="+mn-cs"/>
                        </a:rPr>
                        <a:t> limpieza de pisos</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0" i="0" u="none" strike="noStrike" kern="1200" cap="none" normalizeH="0" baseline="0" dirty="0">
                          <a:ln>
                            <a:noFill/>
                          </a:ln>
                          <a:solidFill>
                            <a:schemeClr val="tx1"/>
                          </a:solidFill>
                          <a:effectLst/>
                          <a:latin typeface="+mn-lt"/>
                          <a:ea typeface="+mn-ea"/>
                          <a:cs typeface="Times New Roman" pitchFamily="18" charset="0"/>
                        </a:rPr>
                        <a:t>Fecha:</a:t>
                      </a:r>
                      <a:r>
                        <a:rPr kumimoji="0" lang="es-ES_tradnl" sz="1000" b="0" i="0" u="none" strike="noStrike" kern="1200" cap="none" normalizeH="0" baseline="0" dirty="0">
                          <a:ln>
                            <a:noFill/>
                          </a:ln>
                          <a:solidFill>
                            <a:schemeClr val="tx1"/>
                          </a:solidFill>
                          <a:effectLst/>
                          <a:latin typeface="+mn-lt"/>
                          <a:ea typeface="+mn-ea"/>
                          <a:cs typeface="+mn-cs"/>
                        </a:rPr>
                        <a:t>   01/02/2016   </a:t>
                      </a:r>
                      <a:endParaRPr kumimoji="0" lang="es-ES_tradnl" sz="1000" b="0"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37">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defRPr/>
                      </a:pPr>
                      <a:r>
                        <a:rPr kumimoji="0" lang="es-ES" sz="1000" b="1" i="0" u="none" strike="noStrike" kern="1200" cap="none" normalizeH="0" baseline="0" dirty="0">
                          <a:ln>
                            <a:noFill/>
                          </a:ln>
                          <a:solidFill>
                            <a:schemeClr val="tx1"/>
                          </a:solidFill>
                          <a:effectLst/>
                          <a:latin typeface="+mj-lt"/>
                          <a:ea typeface="+mn-ea"/>
                          <a:cs typeface="Times New Roman" pitchFamily="18" charset="0"/>
                        </a:rPr>
                        <a:t>Objetivo:  </a:t>
                      </a:r>
                      <a:r>
                        <a:rPr kumimoji="0" lang="es-ES" sz="1000" b="0" i="0" u="none" strike="noStrike" kern="1200" cap="none" normalizeH="0" baseline="0" dirty="0">
                          <a:ln>
                            <a:noFill/>
                          </a:ln>
                          <a:solidFill>
                            <a:schemeClr val="tx1"/>
                          </a:solidFill>
                          <a:effectLst/>
                          <a:latin typeface="+mj-lt"/>
                          <a:ea typeface="+mn-ea"/>
                          <a:cs typeface="Times New Roman" pitchFamily="18" charset="0"/>
                        </a:rPr>
                        <a:t>Mantener los pisos secos y limpios </a:t>
                      </a:r>
                      <a:endParaRPr kumimoji="0" lang="es-ES" sz="1000" b="0" i="0" u="none" strike="noStrike" kern="1200" cap="none" normalizeH="0" baseline="0" dirty="0">
                        <a:ln>
                          <a:noFill/>
                        </a:ln>
                        <a:solidFill>
                          <a:schemeClr val="tx1"/>
                        </a:solidFill>
                        <a:effectLst/>
                        <a:latin typeface="Arial" charset="0"/>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BO"/>
                    </a:p>
                  </a:txBody>
                  <a:tcPr/>
                </a:tc>
                <a:extLst>
                  <a:ext uri="{0D108BD9-81ED-4DB2-BD59-A6C34878D82A}">
                    <a16:rowId xmlns:a16="http://schemas.microsoft.com/office/drawing/2014/main" val="10003"/>
                  </a:ext>
                </a:extLst>
              </a:tr>
            </a:tbl>
          </a:graphicData>
        </a:graphic>
      </p:graphicFrame>
      <p:sp>
        <p:nvSpPr>
          <p:cNvPr id="5" name="4 CuadroTexto"/>
          <p:cNvSpPr txBox="1"/>
          <p:nvPr/>
        </p:nvSpPr>
        <p:spPr>
          <a:xfrm>
            <a:off x="6876258" y="5733256"/>
            <a:ext cx="2096826"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Diaria</a:t>
            </a:r>
          </a:p>
        </p:txBody>
      </p:sp>
      <p:sp>
        <p:nvSpPr>
          <p:cNvPr id="6" name="5 CuadroTexto"/>
          <p:cNvSpPr txBox="1"/>
          <p:nvPr/>
        </p:nvSpPr>
        <p:spPr>
          <a:xfrm>
            <a:off x="5004047" y="5731282"/>
            <a:ext cx="1584178"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Frecuencia</a:t>
            </a:r>
          </a:p>
        </p:txBody>
      </p:sp>
      <p:pic>
        <p:nvPicPr>
          <p:cNvPr id="7"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576" y="3501008"/>
            <a:ext cx="1363118" cy="135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sp>
        <p:nvSpPr>
          <p:cNvPr id="8" name="7 CuadroTexto"/>
          <p:cNvSpPr txBox="1"/>
          <p:nvPr/>
        </p:nvSpPr>
        <p:spPr>
          <a:xfrm>
            <a:off x="5112289" y="2012818"/>
            <a:ext cx="1656184" cy="369332"/>
          </a:xfrm>
          <a:prstGeom prst="rect">
            <a:avLst/>
          </a:prstGeom>
          <a:noFill/>
        </p:spPr>
        <p:txBody>
          <a:bodyPr wrap="square" rtlCol="0">
            <a:spAutoFit/>
          </a:bodyPr>
          <a:lstStyle/>
          <a:p>
            <a:r>
              <a:rPr lang="es-EC" b="1" i="1" dirty="0">
                <a:effectLst>
                  <a:outerShdw blurRad="38100" dist="38100" dir="2700000" algn="tl">
                    <a:srgbClr val="000000">
                      <a:alpha val="43137"/>
                    </a:srgbClr>
                  </a:outerShdw>
                </a:effectLst>
              </a:rPr>
              <a:t>Materiales</a:t>
            </a:r>
          </a:p>
        </p:txBody>
      </p:sp>
      <p:sp>
        <p:nvSpPr>
          <p:cNvPr id="9" name="8 Rectángulo"/>
          <p:cNvSpPr/>
          <p:nvPr/>
        </p:nvSpPr>
        <p:spPr>
          <a:xfrm>
            <a:off x="5004047" y="1945450"/>
            <a:ext cx="1584177" cy="523219"/>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0" name="9 Rectángulo"/>
          <p:cNvSpPr/>
          <p:nvPr/>
        </p:nvSpPr>
        <p:spPr>
          <a:xfrm>
            <a:off x="5004047" y="2758143"/>
            <a:ext cx="1584177" cy="44841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b="1" i="1" dirty="0">
                <a:solidFill>
                  <a:schemeClr val="tx1"/>
                </a:solidFill>
                <a:effectLst>
                  <a:outerShdw blurRad="38100" dist="38100" dir="2700000" algn="tl">
                    <a:srgbClr val="000000">
                      <a:alpha val="43137"/>
                    </a:srgbClr>
                  </a:outerShdw>
                </a:effectLst>
              </a:rPr>
              <a:t>Trabajos a ejecutar</a:t>
            </a:r>
          </a:p>
        </p:txBody>
      </p:sp>
      <p:sp>
        <p:nvSpPr>
          <p:cNvPr id="11" name="10 Rectángulo"/>
          <p:cNvSpPr/>
          <p:nvPr/>
        </p:nvSpPr>
        <p:spPr>
          <a:xfrm>
            <a:off x="6876258" y="2758142"/>
            <a:ext cx="2096826" cy="268708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hangingPunct="0"/>
            <a:r>
              <a:rPr lang="es-MX" sz="2000" b="1" i="1" dirty="0">
                <a:solidFill>
                  <a:srgbClr val="000000"/>
                </a:solidFill>
                <a:effectLst>
                  <a:outerShdw blurRad="38100" dist="38100" dir="2700000" algn="tl">
                    <a:srgbClr val="000000">
                      <a:alpha val="43137"/>
                    </a:srgbClr>
                  </a:outerShdw>
                </a:effectLst>
                <a:cs typeface="Arial" charset="0"/>
              </a:rPr>
              <a:t>1</a:t>
            </a:r>
            <a:r>
              <a:rPr lang="es-MX" b="1" i="1" dirty="0">
                <a:solidFill>
                  <a:srgbClr val="000000"/>
                </a:solidFill>
                <a:effectLst>
                  <a:outerShdw blurRad="38100" dist="38100" dir="2700000" algn="tl">
                    <a:srgbClr val="000000">
                      <a:alpha val="43137"/>
                    </a:srgbClr>
                  </a:outerShdw>
                </a:effectLst>
                <a:cs typeface="Arial" charset="0"/>
              </a:rPr>
              <a:t>-</a:t>
            </a:r>
            <a:r>
              <a:rPr lang="es-MX" sz="2000" b="1" i="1" dirty="0">
                <a:solidFill>
                  <a:srgbClr val="000000"/>
                </a:solidFill>
                <a:effectLst>
                  <a:outerShdw blurRad="38100" dist="38100" dir="2700000" algn="tl">
                    <a:srgbClr val="000000">
                      <a:alpha val="43137"/>
                    </a:srgbClr>
                  </a:outerShdw>
                </a:effectLst>
                <a:cs typeface="Arial" charset="0"/>
              </a:rPr>
              <a:t> Realizar limpieza de pisos al termino de producción, aplicando 5s en todo el sector.</a:t>
            </a:r>
            <a:endParaRPr lang="es-EC" sz="1000" b="1" i="1" dirty="0">
              <a:solidFill>
                <a:schemeClr val="tx1"/>
              </a:solidFill>
              <a:effectLst>
                <a:outerShdw blurRad="38100" dist="38100" dir="2700000" algn="tl">
                  <a:srgbClr val="000000">
                    <a:alpha val="43137"/>
                  </a:srgbClr>
                </a:outerShdw>
              </a:effectLst>
            </a:endParaRPr>
          </a:p>
        </p:txBody>
      </p:sp>
      <p:sp>
        <p:nvSpPr>
          <p:cNvPr id="12" name="11 Rectángulo"/>
          <p:cNvSpPr/>
          <p:nvPr/>
        </p:nvSpPr>
        <p:spPr>
          <a:xfrm>
            <a:off x="6876256" y="1924716"/>
            <a:ext cx="1584177" cy="545536"/>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3" name="12 CuadroTexto"/>
          <p:cNvSpPr txBox="1"/>
          <p:nvPr/>
        </p:nvSpPr>
        <p:spPr>
          <a:xfrm>
            <a:off x="6804251" y="1945450"/>
            <a:ext cx="1656184" cy="523220"/>
          </a:xfrm>
          <a:prstGeom prst="rect">
            <a:avLst/>
          </a:prstGeom>
          <a:noFill/>
        </p:spPr>
        <p:txBody>
          <a:bodyPr wrap="square" rtlCol="0">
            <a:spAutoFit/>
          </a:bodyPr>
          <a:lstStyle/>
          <a:p>
            <a:pPr algn="ctr"/>
            <a:r>
              <a:rPr lang="es-EC" sz="1400" b="1" i="1" dirty="0">
                <a:effectLst>
                  <a:outerShdw blurRad="38100" dist="38100" dir="2700000" algn="tl">
                    <a:srgbClr val="000000">
                      <a:alpha val="43137"/>
                    </a:srgbClr>
                  </a:outerShdw>
                </a:effectLst>
              </a:rPr>
              <a:t>Escoba, detergente y agua</a:t>
            </a:r>
          </a:p>
        </p:txBody>
      </p:sp>
      <p:graphicFrame>
        <p:nvGraphicFramePr>
          <p:cNvPr id="14" name="13 Tabla"/>
          <p:cNvGraphicFramePr>
            <a:graphicFrameLocks noGrp="1"/>
          </p:cNvGraphicFramePr>
          <p:nvPr>
            <p:extLst>
              <p:ext uri="{D42A27DB-BD31-4B8C-83A1-F6EECF244321}">
                <p14:modId xmlns:p14="http://schemas.microsoft.com/office/powerpoint/2010/main" val="2338775480"/>
              </p:ext>
            </p:extLst>
          </p:nvPr>
        </p:nvGraphicFramePr>
        <p:xfrm>
          <a:off x="2276" y="6309320"/>
          <a:ext cx="9026448" cy="469596"/>
        </p:xfrm>
        <a:graphic>
          <a:graphicData uri="http://schemas.openxmlformats.org/drawingml/2006/table">
            <a:tbl>
              <a:tblPr/>
              <a:tblGrid>
                <a:gridCol w="3051615">
                  <a:extLst>
                    <a:ext uri="{9D8B030D-6E8A-4147-A177-3AD203B41FA5}">
                      <a16:colId xmlns:a16="http://schemas.microsoft.com/office/drawing/2014/main" val="20000"/>
                    </a:ext>
                  </a:extLst>
                </a:gridCol>
                <a:gridCol w="2986537">
                  <a:extLst>
                    <a:ext uri="{9D8B030D-6E8A-4147-A177-3AD203B41FA5}">
                      <a16:colId xmlns:a16="http://schemas.microsoft.com/office/drawing/2014/main" val="20001"/>
                    </a:ext>
                  </a:extLst>
                </a:gridCol>
                <a:gridCol w="2988296">
                  <a:extLst>
                    <a:ext uri="{9D8B030D-6E8A-4147-A177-3AD203B41FA5}">
                      <a16:colId xmlns:a16="http://schemas.microsoft.com/office/drawing/2014/main" val="20002"/>
                    </a:ext>
                  </a:extLst>
                </a:gridCol>
              </a:tblGrid>
              <a:tr h="241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Preparó: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Revisó: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Aprobó: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50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Carlos Córdova </a:t>
                      </a:r>
                      <a:endParaRPr kumimoji="0" lang="es-ES_tradnl" sz="900" b="0"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Ing. Cesar Brocel</a:t>
                      </a:r>
                      <a:endParaRPr kumimoji="0" lang="es-ES_tradnl" sz="900" b="1" i="0" u="none" strike="noStrike" kern="1200" cap="none" normalizeH="0" baseline="0" dirty="0">
                        <a:ln>
                          <a:noFill/>
                        </a:ln>
                        <a:solidFill>
                          <a:schemeClr val="tx1"/>
                        </a:solidFill>
                        <a:effectLst/>
                        <a:latin typeface="+mn-lt"/>
                        <a:ea typeface="+mn-ea"/>
                        <a:cs typeface="+mn-cs"/>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rPr>
                        <a:t>Ing. Cesar Brocel</a:t>
                      </a: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026" name="Picture 2" descr="C:\Users\ecccordova\AppData\Local\Microsoft\Windows\Temporary Internet Files\Content.Outlook\QD335UFA\20160122_135521_resiz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983764"/>
            <a:ext cx="4176464" cy="36774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6" name="Imagen 15">
            <a:extLst>
              <a:ext uri="{FF2B5EF4-FFF2-40B4-BE49-F238E27FC236}">
                <a16:creationId xmlns:a16="http://schemas.microsoft.com/office/drawing/2014/main" id="{0AE84332-475C-434D-829E-662EF2E05017}"/>
              </a:ext>
            </a:extLst>
          </p:cNvPr>
          <p:cNvPicPr>
            <a:picLocks noChangeAspect="1"/>
          </p:cNvPicPr>
          <p:nvPr/>
        </p:nvPicPr>
        <p:blipFill rotWithShape="1">
          <a:blip r:embed="rId4"/>
          <a:srcRect l="73875" t="80478" r="19170" b="14443"/>
          <a:stretch/>
        </p:blipFill>
        <p:spPr>
          <a:xfrm>
            <a:off x="117916" y="115050"/>
            <a:ext cx="2437860"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3 Imagen">
            <a:extLst>
              <a:ext uri="{FF2B5EF4-FFF2-40B4-BE49-F238E27FC236}">
                <a16:creationId xmlns:a16="http://schemas.microsoft.com/office/drawing/2014/main" id="{B0AFF821-C3D1-4B47-A25A-4F0FA7E5B16F}"/>
              </a:ext>
            </a:extLst>
          </p:cNvPr>
          <p:cNvPicPr/>
          <p:nvPr/>
        </p:nvPicPr>
        <p:blipFill rotWithShape="1">
          <a:blip r:embed="rId5"/>
          <a:srcRect l="12940" r="12823" b="9145"/>
          <a:stretch/>
        </p:blipFill>
        <p:spPr>
          <a:xfrm>
            <a:off x="7205043" y="115050"/>
            <a:ext cx="1768041"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40952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extLst>
              <p:ext uri="{D42A27DB-BD31-4B8C-83A1-F6EECF244321}">
                <p14:modId xmlns:p14="http://schemas.microsoft.com/office/powerpoint/2010/main" val="882549587"/>
              </p:ext>
            </p:extLst>
          </p:nvPr>
        </p:nvGraphicFramePr>
        <p:xfrm>
          <a:off x="107504" y="116632"/>
          <a:ext cx="8856984" cy="1326976"/>
        </p:xfrm>
        <a:graphic>
          <a:graphicData uri="http://schemas.openxmlformats.org/drawingml/2006/table">
            <a:tbl>
              <a:tblPr/>
              <a:tblGrid>
                <a:gridCol w="2429691">
                  <a:extLst>
                    <a:ext uri="{9D8B030D-6E8A-4147-A177-3AD203B41FA5}">
                      <a16:colId xmlns:a16="http://schemas.microsoft.com/office/drawing/2014/main" val="20000"/>
                    </a:ext>
                  </a:extLst>
                </a:gridCol>
                <a:gridCol w="4702747">
                  <a:extLst>
                    <a:ext uri="{9D8B030D-6E8A-4147-A177-3AD203B41FA5}">
                      <a16:colId xmlns:a16="http://schemas.microsoft.com/office/drawing/2014/main" val="20001"/>
                    </a:ext>
                  </a:extLst>
                </a:gridCol>
                <a:gridCol w="1724546">
                  <a:extLst>
                    <a:ext uri="{9D8B030D-6E8A-4147-A177-3AD203B41FA5}">
                      <a16:colId xmlns:a16="http://schemas.microsoft.com/office/drawing/2014/main" val="20002"/>
                    </a:ext>
                  </a:extLst>
                </a:gridCol>
              </a:tblGrid>
              <a:tr h="39467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s-BO" sz="1400" b="1" dirty="0">
                          <a:latin typeface="+mj-lt"/>
                        </a:rPr>
                        <a:t>OPL</a:t>
                      </a:r>
                      <a:r>
                        <a:rPr lang="es-BO" sz="1400" b="1" baseline="0" dirty="0">
                          <a:latin typeface="+mj-lt"/>
                        </a:rPr>
                        <a:t> – LECCION DE UN PUNTO</a:t>
                      </a:r>
                      <a:endParaRPr lang="es-BO" sz="1400" b="1" dirty="0">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300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pPr>
                      <a:r>
                        <a:rPr kumimoji="0" lang="es-ES_tradnl" sz="1000" b="1" i="0" u="none" strike="noStrike" cap="none" normalizeH="0" baseline="0" dirty="0">
                          <a:ln>
                            <a:noFill/>
                          </a:ln>
                          <a:solidFill>
                            <a:schemeClr val="tx1"/>
                          </a:solidFill>
                          <a:effectLst/>
                          <a:latin typeface="+mj-lt"/>
                          <a:ea typeface="Times New Roman" pitchFamily="18" charset="0"/>
                          <a:cs typeface="Arial" charset="0"/>
                        </a:rPr>
                        <a:t>Revisión</a:t>
                      </a:r>
                      <a:r>
                        <a:rPr kumimoji="0" lang="es-ES_tradnl" sz="1000" b="0" i="0" u="none" strike="noStrike" cap="none" normalizeH="0" baseline="0" dirty="0">
                          <a:ln>
                            <a:noFill/>
                          </a:ln>
                          <a:solidFill>
                            <a:schemeClr val="tx1"/>
                          </a:solidFill>
                          <a:effectLst/>
                          <a:latin typeface="+mj-lt"/>
                          <a:ea typeface="Times New Roman" pitchFamily="18" charset="0"/>
                          <a:cs typeface="Arial" charset="0"/>
                        </a:rPr>
                        <a:t>: 02</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1" i="0" u="none" strike="noStrike" cap="none" normalizeH="0" baseline="0" dirty="0">
                          <a:ln>
                            <a:noFill/>
                          </a:ln>
                          <a:solidFill>
                            <a:schemeClr val="tx1"/>
                          </a:solidFill>
                          <a:effectLst/>
                          <a:latin typeface="+mj-lt"/>
                          <a:cs typeface="Times New Roman" pitchFamily="18" charset="0"/>
                        </a:rPr>
                        <a:t>MANTENIMIENTO  AUTONOMO:</a:t>
                      </a:r>
                      <a:endParaRPr kumimoji="0" lang="es-ES_tradnl" sz="1000" b="1"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0" i="0" u="none" strike="noStrike" cap="none" normalizeH="0" baseline="0" dirty="0">
                          <a:ln>
                            <a:noFill/>
                          </a:ln>
                          <a:solidFill>
                            <a:schemeClr val="tx1"/>
                          </a:solidFill>
                          <a:effectLst/>
                          <a:latin typeface="+mj-lt"/>
                        </a:rPr>
                        <a:t>Condición Básica</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12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1" i="0" u="none" strike="noStrike" kern="1200" cap="none" normalizeH="0" baseline="0" dirty="0">
                          <a:ln>
                            <a:noFill/>
                          </a:ln>
                          <a:solidFill>
                            <a:schemeClr val="tx1"/>
                          </a:solidFill>
                          <a:effectLst/>
                          <a:latin typeface="+mj-lt"/>
                          <a:ea typeface="Times New Roman" pitchFamily="18" charset="0"/>
                          <a:cs typeface="Arial" charset="0"/>
                        </a:rPr>
                        <a:t>Código</a:t>
                      </a:r>
                      <a:r>
                        <a:rPr kumimoji="0" lang="es-ES_tradnl" sz="1000" b="0" i="0" u="none" strike="noStrike" kern="1200" cap="none" normalizeH="0" baseline="0" dirty="0">
                          <a:ln>
                            <a:noFill/>
                          </a:ln>
                          <a:solidFill>
                            <a:schemeClr val="tx1"/>
                          </a:solidFill>
                          <a:effectLst/>
                          <a:latin typeface="+mj-lt"/>
                          <a:ea typeface="Times New Roman" pitchFamily="18" charset="0"/>
                          <a:cs typeface="Arial" charset="0"/>
                        </a:rPr>
                        <a:t>:</a:t>
                      </a:r>
                      <a:r>
                        <a:rPr kumimoji="0" lang="es-ES_tradnl" sz="900" b="0" i="0" u="none" strike="noStrike" kern="1200" cap="none" normalizeH="0" baseline="0" dirty="0">
                          <a:ln>
                            <a:noFill/>
                          </a:ln>
                          <a:solidFill>
                            <a:schemeClr val="tx1"/>
                          </a:solidFill>
                          <a:effectLst/>
                          <a:latin typeface="+mj-lt"/>
                          <a:ea typeface="Times New Roman" pitchFamily="18" charset="0"/>
                          <a:cs typeface="Arial" charset="0"/>
                        </a:rPr>
                        <a:t> </a:t>
                      </a:r>
                      <a:r>
                        <a:rPr kumimoji="0" lang="es-AR" sz="900" b="0" i="0" u="none" strike="noStrike" kern="1200" cap="none" normalizeH="0" baseline="0" dirty="0">
                          <a:ln>
                            <a:noFill/>
                          </a:ln>
                          <a:solidFill>
                            <a:srgbClr val="000000"/>
                          </a:solidFill>
                          <a:effectLst/>
                          <a:latin typeface="+mn-lt"/>
                          <a:ea typeface="+mn-ea"/>
                          <a:cs typeface="+mn-cs"/>
                        </a:rPr>
                        <a:t>OPL-PACK-ENCA-02</a:t>
                      </a:r>
                      <a:endParaRPr kumimoji="0" lang="es-ES" sz="900" b="0" i="0" u="none" strike="noStrike" kern="1200" cap="none" normalizeH="0" baseline="0" dirty="0">
                        <a:ln>
                          <a:noFill/>
                        </a:ln>
                        <a:solidFill>
                          <a:srgbClr val="000000"/>
                        </a:solidFill>
                        <a:effectLst/>
                        <a:latin typeface="+mn-lt"/>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lang="es-BO" sz="1000" b="0" i="0" u="none" strike="noStrike" kern="1200" dirty="0">
                          <a:solidFill>
                            <a:schemeClr val="tx1"/>
                          </a:solidFill>
                          <a:effectLst/>
                          <a:latin typeface="+mn-lt"/>
                          <a:ea typeface="+mn-ea"/>
                          <a:cs typeface="+mn-cs"/>
                        </a:rPr>
                        <a:t>Tema:</a:t>
                      </a:r>
                      <a:r>
                        <a:rPr lang="es-BO" sz="1000" b="0" i="0" u="none" strike="noStrike" kern="1200" baseline="0" dirty="0">
                          <a:solidFill>
                            <a:schemeClr val="tx1"/>
                          </a:solidFill>
                          <a:effectLst/>
                          <a:latin typeface="+mn-lt"/>
                          <a:ea typeface="+mn-ea"/>
                          <a:cs typeface="+mn-cs"/>
                        </a:rPr>
                        <a:t> limpieza de bandejas </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0" i="0" u="none" strike="noStrike" kern="1200" cap="none" normalizeH="0" baseline="0" dirty="0">
                          <a:ln>
                            <a:noFill/>
                          </a:ln>
                          <a:solidFill>
                            <a:schemeClr val="tx1"/>
                          </a:solidFill>
                          <a:effectLst/>
                          <a:latin typeface="+mn-lt"/>
                          <a:ea typeface="+mn-ea"/>
                          <a:cs typeface="Times New Roman" pitchFamily="18" charset="0"/>
                        </a:rPr>
                        <a:t>Fecha:</a:t>
                      </a:r>
                      <a:r>
                        <a:rPr kumimoji="0" lang="es-ES_tradnl" sz="1000" b="0" i="0" u="none" strike="noStrike" kern="1200" cap="none" normalizeH="0" baseline="0" dirty="0">
                          <a:ln>
                            <a:noFill/>
                          </a:ln>
                          <a:solidFill>
                            <a:schemeClr val="tx1"/>
                          </a:solidFill>
                          <a:effectLst/>
                          <a:latin typeface="+mn-lt"/>
                          <a:ea typeface="+mn-ea"/>
                          <a:cs typeface="+mn-cs"/>
                        </a:rPr>
                        <a:t>   01/02/2016   </a:t>
                      </a:r>
                      <a:endParaRPr kumimoji="0" lang="es-ES_tradnl" sz="1000" b="0"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37">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defRPr/>
                      </a:pPr>
                      <a:r>
                        <a:rPr kumimoji="0" lang="es-ES" sz="1000" b="1" i="0" u="none" strike="noStrike" kern="1200" cap="none" normalizeH="0" baseline="0" dirty="0">
                          <a:ln>
                            <a:noFill/>
                          </a:ln>
                          <a:solidFill>
                            <a:schemeClr val="tx1"/>
                          </a:solidFill>
                          <a:effectLst/>
                          <a:latin typeface="+mj-lt"/>
                          <a:ea typeface="+mn-ea"/>
                          <a:cs typeface="Times New Roman" pitchFamily="18" charset="0"/>
                        </a:rPr>
                        <a:t>Objetivo:  </a:t>
                      </a:r>
                      <a:r>
                        <a:rPr kumimoji="0" lang="es-ES" sz="1000" b="0" i="0" u="none" strike="noStrike" kern="1200" cap="none" normalizeH="0" baseline="0" dirty="0">
                          <a:ln>
                            <a:noFill/>
                          </a:ln>
                          <a:solidFill>
                            <a:schemeClr val="tx1"/>
                          </a:solidFill>
                          <a:effectLst/>
                          <a:latin typeface="+mj-lt"/>
                          <a:ea typeface="+mn-ea"/>
                          <a:cs typeface="Times New Roman" pitchFamily="18" charset="0"/>
                        </a:rPr>
                        <a:t>Mantener limpias las bandejas.</a:t>
                      </a:r>
                      <a:endParaRPr kumimoji="0" lang="es-ES" sz="1000" b="0" i="0" u="none" strike="noStrike" kern="1200" cap="none" normalizeH="0" baseline="0" dirty="0">
                        <a:ln>
                          <a:noFill/>
                        </a:ln>
                        <a:solidFill>
                          <a:schemeClr val="tx1"/>
                        </a:solidFill>
                        <a:effectLst/>
                        <a:latin typeface="Arial" charset="0"/>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BO"/>
                    </a:p>
                  </a:txBody>
                  <a:tcPr/>
                </a:tc>
                <a:extLst>
                  <a:ext uri="{0D108BD9-81ED-4DB2-BD59-A6C34878D82A}">
                    <a16:rowId xmlns:a16="http://schemas.microsoft.com/office/drawing/2014/main" val="10003"/>
                  </a:ext>
                </a:extLst>
              </a:tr>
            </a:tbl>
          </a:graphicData>
        </a:graphic>
      </p:graphicFrame>
      <p:graphicFrame>
        <p:nvGraphicFramePr>
          <p:cNvPr id="3" name="2 Tabla"/>
          <p:cNvGraphicFramePr>
            <a:graphicFrameLocks noGrp="1"/>
          </p:cNvGraphicFramePr>
          <p:nvPr>
            <p:extLst>
              <p:ext uri="{D42A27DB-BD31-4B8C-83A1-F6EECF244321}">
                <p14:modId xmlns:p14="http://schemas.microsoft.com/office/powerpoint/2010/main" val="2214896715"/>
              </p:ext>
            </p:extLst>
          </p:nvPr>
        </p:nvGraphicFramePr>
        <p:xfrm>
          <a:off x="2276" y="6309320"/>
          <a:ext cx="9026448" cy="469596"/>
        </p:xfrm>
        <a:graphic>
          <a:graphicData uri="http://schemas.openxmlformats.org/drawingml/2006/table">
            <a:tbl>
              <a:tblPr/>
              <a:tblGrid>
                <a:gridCol w="3051615">
                  <a:extLst>
                    <a:ext uri="{9D8B030D-6E8A-4147-A177-3AD203B41FA5}">
                      <a16:colId xmlns:a16="http://schemas.microsoft.com/office/drawing/2014/main" val="20000"/>
                    </a:ext>
                  </a:extLst>
                </a:gridCol>
                <a:gridCol w="2986537">
                  <a:extLst>
                    <a:ext uri="{9D8B030D-6E8A-4147-A177-3AD203B41FA5}">
                      <a16:colId xmlns:a16="http://schemas.microsoft.com/office/drawing/2014/main" val="20001"/>
                    </a:ext>
                  </a:extLst>
                </a:gridCol>
                <a:gridCol w="2988296">
                  <a:extLst>
                    <a:ext uri="{9D8B030D-6E8A-4147-A177-3AD203B41FA5}">
                      <a16:colId xmlns:a16="http://schemas.microsoft.com/office/drawing/2014/main" val="20002"/>
                    </a:ext>
                  </a:extLst>
                </a:gridCol>
              </a:tblGrid>
              <a:tr h="241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Preparó: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Revisó: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Aprobó: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50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Carlos Córdova </a:t>
                      </a:r>
                      <a:endParaRPr kumimoji="0" lang="es-ES_tradnl" sz="900" b="0"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Ing. Cesar Brocel</a:t>
                      </a:r>
                      <a:endParaRPr kumimoji="0" lang="es-ES_tradnl" sz="900" b="1" i="0" u="none" strike="noStrike" kern="1200" cap="none" normalizeH="0" baseline="0" dirty="0">
                        <a:ln>
                          <a:noFill/>
                        </a:ln>
                        <a:solidFill>
                          <a:schemeClr val="tx1"/>
                        </a:solidFill>
                        <a:effectLst/>
                        <a:latin typeface="+mn-lt"/>
                        <a:ea typeface="+mn-ea"/>
                        <a:cs typeface="+mn-cs"/>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rPr>
                        <a:t>Ing. Cesar Brocel</a:t>
                      </a: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6 CuadroTexto"/>
          <p:cNvSpPr txBox="1"/>
          <p:nvPr/>
        </p:nvSpPr>
        <p:spPr>
          <a:xfrm>
            <a:off x="6876258" y="5733256"/>
            <a:ext cx="2096826"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Semanal</a:t>
            </a:r>
          </a:p>
        </p:txBody>
      </p:sp>
      <p:sp>
        <p:nvSpPr>
          <p:cNvPr id="8" name="7 CuadroTexto"/>
          <p:cNvSpPr txBox="1"/>
          <p:nvPr/>
        </p:nvSpPr>
        <p:spPr>
          <a:xfrm>
            <a:off x="5004047" y="5731282"/>
            <a:ext cx="1584178"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Frecuencia</a:t>
            </a:r>
          </a:p>
        </p:txBody>
      </p:sp>
      <p:pic>
        <p:nvPicPr>
          <p:cNvPr id="9"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576" y="3501008"/>
            <a:ext cx="1363118" cy="135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sp>
        <p:nvSpPr>
          <p:cNvPr id="10" name="9 CuadroTexto"/>
          <p:cNvSpPr txBox="1"/>
          <p:nvPr/>
        </p:nvSpPr>
        <p:spPr>
          <a:xfrm>
            <a:off x="5220072" y="1909447"/>
            <a:ext cx="1656184" cy="369332"/>
          </a:xfrm>
          <a:prstGeom prst="rect">
            <a:avLst/>
          </a:prstGeom>
          <a:noFill/>
        </p:spPr>
        <p:txBody>
          <a:bodyPr wrap="square" rtlCol="0">
            <a:spAutoFit/>
          </a:bodyPr>
          <a:lstStyle/>
          <a:p>
            <a:r>
              <a:rPr lang="es-EC" b="1" i="1" dirty="0">
                <a:effectLst>
                  <a:outerShdw blurRad="38100" dist="38100" dir="2700000" algn="tl">
                    <a:srgbClr val="000000">
                      <a:alpha val="43137"/>
                    </a:srgbClr>
                  </a:outerShdw>
                </a:effectLst>
              </a:rPr>
              <a:t>Materiales</a:t>
            </a:r>
          </a:p>
        </p:txBody>
      </p:sp>
      <p:sp>
        <p:nvSpPr>
          <p:cNvPr id="11" name="10 Rectángulo"/>
          <p:cNvSpPr/>
          <p:nvPr/>
        </p:nvSpPr>
        <p:spPr>
          <a:xfrm>
            <a:off x="5004047" y="1839347"/>
            <a:ext cx="1584177" cy="554230"/>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2" name="11 Rectángulo"/>
          <p:cNvSpPr/>
          <p:nvPr/>
        </p:nvSpPr>
        <p:spPr>
          <a:xfrm>
            <a:off x="5004047" y="2758143"/>
            <a:ext cx="1584177" cy="44841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b="1" i="1" dirty="0">
                <a:solidFill>
                  <a:schemeClr val="tx1"/>
                </a:solidFill>
                <a:effectLst>
                  <a:outerShdw blurRad="38100" dist="38100" dir="2700000" algn="tl">
                    <a:srgbClr val="000000">
                      <a:alpha val="43137"/>
                    </a:srgbClr>
                  </a:outerShdw>
                </a:effectLst>
              </a:rPr>
              <a:t>Trabajos a ejecutar</a:t>
            </a:r>
          </a:p>
        </p:txBody>
      </p:sp>
      <p:sp>
        <p:nvSpPr>
          <p:cNvPr id="13" name="12 Rectángulo"/>
          <p:cNvSpPr/>
          <p:nvPr/>
        </p:nvSpPr>
        <p:spPr>
          <a:xfrm>
            <a:off x="6804251" y="2758143"/>
            <a:ext cx="2096826" cy="268708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hangingPunct="0"/>
            <a:r>
              <a:rPr lang="es-MX" sz="1600" b="1" i="1" dirty="0">
                <a:solidFill>
                  <a:srgbClr val="000000"/>
                </a:solidFill>
                <a:effectLst>
                  <a:outerShdw blurRad="38100" dist="38100" dir="2700000" algn="tl">
                    <a:srgbClr val="000000">
                      <a:alpha val="43137"/>
                    </a:srgbClr>
                  </a:outerShdw>
                </a:effectLst>
                <a:cs typeface="Arial" charset="0"/>
              </a:rPr>
              <a:t>Realizar limpieza de las bandejas, utilizando desengrasante Yellow pine para quitar la grasa incrustada, retirar toda la basura que caen de los transportes, destapar las rejillas para el flujo correcto del agua </a:t>
            </a:r>
            <a:endParaRPr lang="es-EC" sz="800" b="1" i="1" dirty="0">
              <a:solidFill>
                <a:schemeClr val="tx1"/>
              </a:solidFill>
              <a:effectLst>
                <a:outerShdw blurRad="38100" dist="38100" dir="2700000" algn="tl">
                  <a:srgbClr val="000000">
                    <a:alpha val="43137"/>
                  </a:srgbClr>
                </a:outerShdw>
              </a:effectLst>
            </a:endParaRPr>
          </a:p>
        </p:txBody>
      </p:sp>
      <p:sp>
        <p:nvSpPr>
          <p:cNvPr id="14" name="13 Rectángulo"/>
          <p:cNvSpPr/>
          <p:nvPr/>
        </p:nvSpPr>
        <p:spPr>
          <a:xfrm>
            <a:off x="6876258" y="1839347"/>
            <a:ext cx="1584177" cy="545536"/>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5" name="14 CuadroTexto"/>
          <p:cNvSpPr txBox="1"/>
          <p:nvPr/>
        </p:nvSpPr>
        <p:spPr>
          <a:xfrm>
            <a:off x="6804251" y="1870466"/>
            <a:ext cx="1656184" cy="523220"/>
          </a:xfrm>
          <a:prstGeom prst="rect">
            <a:avLst/>
          </a:prstGeom>
          <a:noFill/>
        </p:spPr>
        <p:txBody>
          <a:bodyPr wrap="square" rtlCol="0">
            <a:spAutoFit/>
          </a:bodyPr>
          <a:lstStyle/>
          <a:p>
            <a:pPr algn="ctr"/>
            <a:r>
              <a:rPr lang="es-EC" sz="1400" b="1" i="1" dirty="0">
                <a:effectLst>
                  <a:outerShdw blurRad="38100" dist="38100" dir="2700000" algn="tl">
                    <a:srgbClr val="000000">
                      <a:alpha val="43137"/>
                    </a:srgbClr>
                  </a:outerShdw>
                </a:effectLst>
              </a:rPr>
              <a:t>Escobas, agua y yellow pine.</a:t>
            </a:r>
          </a:p>
        </p:txBody>
      </p:sp>
      <p:pic>
        <p:nvPicPr>
          <p:cNvPr id="1027" name="Picture 3" descr="C:\Users\ecccordova\AppData\Local\Microsoft\Windows\Temporary Internet Files\Content.Outlook\CIH1JWA1\20160122_135538_resized_1.jpg"/>
          <p:cNvPicPr>
            <a:picLocks noChangeAspect="1" noChangeArrowheads="1"/>
          </p:cNvPicPr>
          <p:nvPr/>
        </p:nvPicPr>
        <p:blipFill rotWithShape="1">
          <a:blip r:embed="rId3">
            <a:extLst>
              <a:ext uri="{28A0092B-C50C-407E-A947-70E740481C1C}">
                <a14:useLocalDpi xmlns:a14="http://schemas.microsoft.com/office/drawing/2010/main" val="0"/>
              </a:ext>
            </a:extLst>
          </a:blip>
          <a:srcRect t="21293" r="1231" b="27345"/>
          <a:stretch/>
        </p:blipFill>
        <p:spPr bwMode="auto">
          <a:xfrm>
            <a:off x="287817" y="1839347"/>
            <a:ext cx="4364866" cy="37043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6" name="Imagen 15">
            <a:extLst>
              <a:ext uri="{FF2B5EF4-FFF2-40B4-BE49-F238E27FC236}">
                <a16:creationId xmlns:a16="http://schemas.microsoft.com/office/drawing/2014/main" id="{E2B4F383-55F0-4059-A9DD-289F42DADFD6}"/>
              </a:ext>
            </a:extLst>
          </p:cNvPr>
          <p:cNvPicPr>
            <a:picLocks noChangeAspect="1"/>
          </p:cNvPicPr>
          <p:nvPr/>
        </p:nvPicPr>
        <p:blipFill rotWithShape="1">
          <a:blip r:embed="rId4"/>
          <a:srcRect l="73875" t="80478" r="19170" b="14443"/>
          <a:stretch/>
        </p:blipFill>
        <p:spPr>
          <a:xfrm>
            <a:off x="117916" y="115050"/>
            <a:ext cx="2437860"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3 Imagen">
            <a:extLst>
              <a:ext uri="{FF2B5EF4-FFF2-40B4-BE49-F238E27FC236}">
                <a16:creationId xmlns:a16="http://schemas.microsoft.com/office/drawing/2014/main" id="{DF8EBEC9-A97D-44B7-A7C6-6921F18C427C}"/>
              </a:ext>
            </a:extLst>
          </p:cNvPr>
          <p:cNvPicPr/>
          <p:nvPr/>
        </p:nvPicPr>
        <p:blipFill rotWithShape="1">
          <a:blip r:embed="rId5"/>
          <a:srcRect l="12940" r="12823" b="9145"/>
          <a:stretch/>
        </p:blipFill>
        <p:spPr>
          <a:xfrm>
            <a:off x="7205043" y="115050"/>
            <a:ext cx="1768041"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5735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extLst>
              <p:ext uri="{D42A27DB-BD31-4B8C-83A1-F6EECF244321}">
                <p14:modId xmlns:p14="http://schemas.microsoft.com/office/powerpoint/2010/main" val="255836520"/>
              </p:ext>
            </p:extLst>
          </p:nvPr>
        </p:nvGraphicFramePr>
        <p:xfrm>
          <a:off x="107504" y="116632"/>
          <a:ext cx="8856984" cy="1326976"/>
        </p:xfrm>
        <a:graphic>
          <a:graphicData uri="http://schemas.openxmlformats.org/drawingml/2006/table">
            <a:tbl>
              <a:tblPr/>
              <a:tblGrid>
                <a:gridCol w="2429691">
                  <a:extLst>
                    <a:ext uri="{9D8B030D-6E8A-4147-A177-3AD203B41FA5}">
                      <a16:colId xmlns:a16="http://schemas.microsoft.com/office/drawing/2014/main" val="20000"/>
                    </a:ext>
                  </a:extLst>
                </a:gridCol>
                <a:gridCol w="4702747">
                  <a:extLst>
                    <a:ext uri="{9D8B030D-6E8A-4147-A177-3AD203B41FA5}">
                      <a16:colId xmlns:a16="http://schemas.microsoft.com/office/drawing/2014/main" val="20001"/>
                    </a:ext>
                  </a:extLst>
                </a:gridCol>
                <a:gridCol w="1724546">
                  <a:extLst>
                    <a:ext uri="{9D8B030D-6E8A-4147-A177-3AD203B41FA5}">
                      <a16:colId xmlns:a16="http://schemas.microsoft.com/office/drawing/2014/main" val="20002"/>
                    </a:ext>
                  </a:extLst>
                </a:gridCol>
              </a:tblGrid>
              <a:tr h="39467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s-BO" sz="1400" b="1" dirty="0">
                          <a:latin typeface="+mj-lt"/>
                        </a:rPr>
                        <a:t>OPL</a:t>
                      </a:r>
                      <a:r>
                        <a:rPr lang="es-BO" sz="1400" b="1" baseline="0" dirty="0">
                          <a:latin typeface="+mj-lt"/>
                        </a:rPr>
                        <a:t> – LECCION DE UN PUNTO</a:t>
                      </a:r>
                      <a:endParaRPr lang="es-BO" sz="1400" b="1" dirty="0">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300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pPr>
                      <a:r>
                        <a:rPr kumimoji="0" lang="es-ES_tradnl" sz="1000" b="1" i="0" u="none" strike="noStrike" cap="none" normalizeH="0" baseline="0" dirty="0">
                          <a:ln>
                            <a:noFill/>
                          </a:ln>
                          <a:solidFill>
                            <a:schemeClr val="tx1"/>
                          </a:solidFill>
                          <a:effectLst/>
                          <a:latin typeface="+mj-lt"/>
                          <a:ea typeface="Times New Roman" pitchFamily="18" charset="0"/>
                          <a:cs typeface="Arial" charset="0"/>
                        </a:rPr>
                        <a:t>Revisión</a:t>
                      </a:r>
                      <a:r>
                        <a:rPr kumimoji="0" lang="es-ES_tradnl" sz="1000" b="0" i="0" u="none" strike="noStrike" cap="none" normalizeH="0" baseline="0" dirty="0">
                          <a:ln>
                            <a:noFill/>
                          </a:ln>
                          <a:solidFill>
                            <a:schemeClr val="tx1"/>
                          </a:solidFill>
                          <a:effectLst/>
                          <a:latin typeface="+mj-lt"/>
                          <a:ea typeface="Times New Roman" pitchFamily="18" charset="0"/>
                          <a:cs typeface="Arial" charset="0"/>
                        </a:rPr>
                        <a:t>: 03</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1" i="0" u="none" strike="noStrike" cap="none" normalizeH="0" baseline="0" dirty="0">
                          <a:ln>
                            <a:noFill/>
                          </a:ln>
                          <a:solidFill>
                            <a:schemeClr val="tx1"/>
                          </a:solidFill>
                          <a:effectLst/>
                          <a:latin typeface="+mj-lt"/>
                          <a:cs typeface="Times New Roman" pitchFamily="18" charset="0"/>
                        </a:rPr>
                        <a:t>MANTENIMIENTO  AUTONOMO:</a:t>
                      </a:r>
                      <a:endParaRPr kumimoji="0" lang="es-ES_tradnl" sz="1000" b="1"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0" i="0" u="none" strike="noStrike" cap="none" normalizeH="0" baseline="0" dirty="0">
                          <a:ln>
                            <a:noFill/>
                          </a:ln>
                          <a:solidFill>
                            <a:schemeClr val="tx1"/>
                          </a:solidFill>
                          <a:effectLst/>
                          <a:latin typeface="+mj-lt"/>
                        </a:rPr>
                        <a:t>Condición Básica</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12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1" i="0" u="none" strike="noStrike" kern="1200" cap="none" normalizeH="0" baseline="0" dirty="0">
                          <a:ln>
                            <a:noFill/>
                          </a:ln>
                          <a:solidFill>
                            <a:schemeClr val="tx1"/>
                          </a:solidFill>
                          <a:effectLst/>
                          <a:latin typeface="+mj-lt"/>
                          <a:ea typeface="Times New Roman" pitchFamily="18" charset="0"/>
                          <a:cs typeface="Arial" charset="0"/>
                        </a:rPr>
                        <a:t>Código</a:t>
                      </a:r>
                      <a:r>
                        <a:rPr kumimoji="0" lang="es-ES_tradnl" sz="1000" b="0" i="0" u="none" strike="noStrike" kern="1200" cap="none" normalizeH="0" baseline="0" dirty="0">
                          <a:ln>
                            <a:noFill/>
                          </a:ln>
                          <a:solidFill>
                            <a:schemeClr val="tx1"/>
                          </a:solidFill>
                          <a:effectLst/>
                          <a:latin typeface="+mj-lt"/>
                          <a:ea typeface="Times New Roman" pitchFamily="18" charset="0"/>
                          <a:cs typeface="Arial" charset="0"/>
                        </a:rPr>
                        <a:t>:</a:t>
                      </a:r>
                      <a:r>
                        <a:rPr kumimoji="0" lang="es-ES_tradnl" sz="900" b="0" i="0" u="none" strike="noStrike" kern="1200" cap="none" normalizeH="0" baseline="0" dirty="0">
                          <a:ln>
                            <a:noFill/>
                          </a:ln>
                          <a:solidFill>
                            <a:schemeClr val="tx1"/>
                          </a:solidFill>
                          <a:effectLst/>
                          <a:latin typeface="+mj-lt"/>
                          <a:ea typeface="Times New Roman" pitchFamily="18" charset="0"/>
                          <a:cs typeface="Arial" charset="0"/>
                        </a:rPr>
                        <a:t> </a:t>
                      </a:r>
                      <a:r>
                        <a:rPr kumimoji="0" lang="es-AR" sz="900" b="0" i="0" u="none" strike="noStrike" kern="1200" cap="none" normalizeH="0" baseline="0" dirty="0">
                          <a:ln>
                            <a:noFill/>
                          </a:ln>
                          <a:solidFill>
                            <a:srgbClr val="000000"/>
                          </a:solidFill>
                          <a:effectLst/>
                          <a:latin typeface="+mn-lt"/>
                          <a:ea typeface="+mn-ea"/>
                          <a:cs typeface="+mn-cs"/>
                        </a:rPr>
                        <a:t>OPL-PACK-ENCA-03</a:t>
                      </a:r>
                      <a:endParaRPr kumimoji="0" lang="es-ES" sz="900" b="0" i="0" u="none" strike="noStrike" kern="1200" cap="none" normalizeH="0" baseline="0" dirty="0">
                        <a:ln>
                          <a:noFill/>
                        </a:ln>
                        <a:solidFill>
                          <a:srgbClr val="000000"/>
                        </a:solidFill>
                        <a:effectLst/>
                        <a:latin typeface="+mn-lt"/>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lang="es-BO" sz="1000" b="0" i="0" u="none" strike="noStrike" kern="1200" dirty="0">
                          <a:solidFill>
                            <a:schemeClr val="tx1"/>
                          </a:solidFill>
                          <a:effectLst/>
                          <a:latin typeface="+mn-lt"/>
                          <a:ea typeface="+mn-ea"/>
                          <a:cs typeface="+mn-cs"/>
                        </a:rPr>
                        <a:t>Tema:</a:t>
                      </a:r>
                      <a:r>
                        <a:rPr lang="es-BO" sz="1000" b="0" i="0" u="none" strike="noStrike" kern="1200" baseline="0" dirty="0">
                          <a:solidFill>
                            <a:schemeClr val="tx1"/>
                          </a:solidFill>
                          <a:effectLst/>
                          <a:latin typeface="+mn-lt"/>
                          <a:ea typeface="+mn-ea"/>
                          <a:cs typeface="+mn-cs"/>
                        </a:rPr>
                        <a:t> limpieza de pisos semanal</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0" i="0" u="none" strike="noStrike" kern="1200" cap="none" normalizeH="0" baseline="0" dirty="0">
                          <a:ln>
                            <a:noFill/>
                          </a:ln>
                          <a:solidFill>
                            <a:schemeClr val="tx1"/>
                          </a:solidFill>
                          <a:effectLst/>
                          <a:latin typeface="+mn-lt"/>
                          <a:ea typeface="+mn-ea"/>
                          <a:cs typeface="Times New Roman" pitchFamily="18" charset="0"/>
                        </a:rPr>
                        <a:t>Fecha:</a:t>
                      </a:r>
                      <a:r>
                        <a:rPr kumimoji="0" lang="es-ES_tradnl" sz="1000" b="0" i="0" u="none" strike="noStrike" kern="1200" cap="none" normalizeH="0" baseline="0" dirty="0">
                          <a:ln>
                            <a:noFill/>
                          </a:ln>
                          <a:solidFill>
                            <a:schemeClr val="tx1"/>
                          </a:solidFill>
                          <a:effectLst/>
                          <a:latin typeface="+mn-lt"/>
                          <a:ea typeface="+mn-ea"/>
                          <a:cs typeface="+mn-cs"/>
                        </a:rPr>
                        <a:t>   01/02/2016   </a:t>
                      </a:r>
                      <a:endParaRPr kumimoji="0" lang="es-ES_tradnl" sz="1000" b="0"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37">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defRPr/>
                      </a:pPr>
                      <a:r>
                        <a:rPr kumimoji="0" lang="es-ES" sz="1000" b="1" i="0" u="none" strike="noStrike" kern="1200" cap="none" normalizeH="0" baseline="0" dirty="0">
                          <a:ln>
                            <a:noFill/>
                          </a:ln>
                          <a:solidFill>
                            <a:schemeClr val="tx1"/>
                          </a:solidFill>
                          <a:effectLst/>
                          <a:latin typeface="+mj-lt"/>
                          <a:ea typeface="+mn-ea"/>
                          <a:cs typeface="Times New Roman" pitchFamily="18" charset="0"/>
                        </a:rPr>
                        <a:t>Objetivo: Realizar una correcta limpieza semanal de pisos .</a:t>
                      </a:r>
                      <a:endParaRPr kumimoji="0" lang="es-ES" sz="1000" b="0" i="0" u="none" strike="noStrike" kern="1200" cap="none" normalizeH="0" baseline="0" dirty="0">
                        <a:ln>
                          <a:noFill/>
                        </a:ln>
                        <a:solidFill>
                          <a:schemeClr val="tx1"/>
                        </a:solidFill>
                        <a:effectLst/>
                        <a:latin typeface="Arial" charset="0"/>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BO"/>
                    </a:p>
                  </a:txBody>
                  <a:tcPr/>
                </a:tc>
                <a:extLst>
                  <a:ext uri="{0D108BD9-81ED-4DB2-BD59-A6C34878D82A}">
                    <a16:rowId xmlns:a16="http://schemas.microsoft.com/office/drawing/2014/main" val="10003"/>
                  </a:ext>
                </a:extLst>
              </a:tr>
            </a:tbl>
          </a:graphicData>
        </a:graphic>
      </p:graphicFrame>
      <p:graphicFrame>
        <p:nvGraphicFramePr>
          <p:cNvPr id="3" name="2 Tabla"/>
          <p:cNvGraphicFramePr>
            <a:graphicFrameLocks noGrp="1"/>
          </p:cNvGraphicFramePr>
          <p:nvPr>
            <p:extLst>
              <p:ext uri="{D42A27DB-BD31-4B8C-83A1-F6EECF244321}">
                <p14:modId xmlns:p14="http://schemas.microsoft.com/office/powerpoint/2010/main" val="4186460931"/>
              </p:ext>
            </p:extLst>
          </p:nvPr>
        </p:nvGraphicFramePr>
        <p:xfrm>
          <a:off x="106555" y="6309320"/>
          <a:ext cx="8929941" cy="469596"/>
        </p:xfrm>
        <a:graphic>
          <a:graphicData uri="http://schemas.openxmlformats.org/drawingml/2006/table">
            <a:tbl>
              <a:tblPr/>
              <a:tblGrid>
                <a:gridCol w="3018989">
                  <a:extLst>
                    <a:ext uri="{9D8B030D-6E8A-4147-A177-3AD203B41FA5}">
                      <a16:colId xmlns:a16="http://schemas.microsoft.com/office/drawing/2014/main" val="20000"/>
                    </a:ext>
                  </a:extLst>
                </a:gridCol>
                <a:gridCol w="2954606">
                  <a:extLst>
                    <a:ext uri="{9D8B030D-6E8A-4147-A177-3AD203B41FA5}">
                      <a16:colId xmlns:a16="http://schemas.microsoft.com/office/drawing/2014/main" val="20001"/>
                    </a:ext>
                  </a:extLst>
                </a:gridCol>
                <a:gridCol w="2956346">
                  <a:extLst>
                    <a:ext uri="{9D8B030D-6E8A-4147-A177-3AD203B41FA5}">
                      <a16:colId xmlns:a16="http://schemas.microsoft.com/office/drawing/2014/main" val="20002"/>
                    </a:ext>
                  </a:extLst>
                </a:gridCol>
              </a:tblGrid>
              <a:tr h="241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Preparó: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Revisó: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Aprobó: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50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Carlos Córdova </a:t>
                      </a:r>
                      <a:endParaRPr kumimoji="0" lang="es-ES_tradnl" sz="900" b="0"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Ing. Cesar Brocel</a:t>
                      </a:r>
                      <a:endParaRPr kumimoji="0" lang="es-ES_tradnl" sz="900" b="1" i="0" u="none" strike="noStrike" kern="1200" cap="none" normalizeH="0" baseline="0" dirty="0">
                        <a:ln>
                          <a:noFill/>
                        </a:ln>
                        <a:solidFill>
                          <a:schemeClr val="tx1"/>
                        </a:solidFill>
                        <a:effectLst/>
                        <a:latin typeface="+mn-lt"/>
                        <a:ea typeface="+mn-ea"/>
                        <a:cs typeface="+mn-cs"/>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rPr>
                        <a:t>Ing. Cesar Brocel</a:t>
                      </a: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5 CuadroTexto"/>
          <p:cNvSpPr txBox="1"/>
          <p:nvPr/>
        </p:nvSpPr>
        <p:spPr>
          <a:xfrm>
            <a:off x="6804251" y="5733256"/>
            <a:ext cx="2096826"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Semanal</a:t>
            </a:r>
          </a:p>
        </p:txBody>
      </p:sp>
      <p:sp>
        <p:nvSpPr>
          <p:cNvPr id="7" name="6 CuadroTexto"/>
          <p:cNvSpPr txBox="1"/>
          <p:nvPr/>
        </p:nvSpPr>
        <p:spPr>
          <a:xfrm>
            <a:off x="5004047" y="5731282"/>
            <a:ext cx="1584178"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Frecuencia</a:t>
            </a:r>
          </a:p>
        </p:txBody>
      </p:sp>
      <p:pic>
        <p:nvPicPr>
          <p:cNvPr id="8"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576" y="3501008"/>
            <a:ext cx="1363118" cy="135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sp>
        <p:nvSpPr>
          <p:cNvPr id="9" name="8 CuadroTexto"/>
          <p:cNvSpPr txBox="1"/>
          <p:nvPr/>
        </p:nvSpPr>
        <p:spPr>
          <a:xfrm>
            <a:off x="5220072" y="1909447"/>
            <a:ext cx="1656184" cy="369332"/>
          </a:xfrm>
          <a:prstGeom prst="rect">
            <a:avLst/>
          </a:prstGeom>
          <a:noFill/>
        </p:spPr>
        <p:txBody>
          <a:bodyPr wrap="square" rtlCol="0">
            <a:spAutoFit/>
          </a:bodyPr>
          <a:lstStyle/>
          <a:p>
            <a:r>
              <a:rPr lang="es-EC" b="1" i="1" dirty="0">
                <a:effectLst>
                  <a:outerShdw blurRad="38100" dist="38100" dir="2700000" algn="tl">
                    <a:srgbClr val="000000">
                      <a:alpha val="43137"/>
                    </a:srgbClr>
                  </a:outerShdw>
                </a:effectLst>
              </a:rPr>
              <a:t>Materiales</a:t>
            </a:r>
          </a:p>
        </p:txBody>
      </p:sp>
      <p:sp>
        <p:nvSpPr>
          <p:cNvPr id="10" name="9 Rectángulo"/>
          <p:cNvSpPr/>
          <p:nvPr/>
        </p:nvSpPr>
        <p:spPr>
          <a:xfrm>
            <a:off x="5004047" y="1839347"/>
            <a:ext cx="1584177" cy="554230"/>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1" name="10 Rectángulo"/>
          <p:cNvSpPr/>
          <p:nvPr/>
        </p:nvSpPr>
        <p:spPr>
          <a:xfrm>
            <a:off x="5004047" y="2758143"/>
            <a:ext cx="1584177" cy="44841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b="1" i="1" dirty="0">
                <a:solidFill>
                  <a:schemeClr val="tx1"/>
                </a:solidFill>
                <a:effectLst>
                  <a:outerShdw blurRad="38100" dist="38100" dir="2700000" algn="tl">
                    <a:srgbClr val="000000">
                      <a:alpha val="43137"/>
                    </a:srgbClr>
                  </a:outerShdw>
                </a:effectLst>
              </a:rPr>
              <a:t>Trabajos a ejecutar</a:t>
            </a:r>
          </a:p>
        </p:txBody>
      </p:sp>
      <p:sp>
        <p:nvSpPr>
          <p:cNvPr id="12" name="11 Rectángulo"/>
          <p:cNvSpPr/>
          <p:nvPr/>
        </p:nvSpPr>
        <p:spPr>
          <a:xfrm>
            <a:off x="6804251" y="2758143"/>
            <a:ext cx="2096826" cy="268708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hangingPunct="0"/>
            <a:r>
              <a:rPr lang="es-MX" sz="1500" b="1" i="1" dirty="0">
                <a:solidFill>
                  <a:srgbClr val="000000"/>
                </a:solidFill>
                <a:effectLst>
                  <a:outerShdw blurRad="38100" dist="38100" dir="2700000" algn="tl">
                    <a:srgbClr val="000000">
                      <a:alpha val="43137"/>
                    </a:srgbClr>
                  </a:outerShdw>
                </a:effectLst>
                <a:cs typeface="Arial" charset="0"/>
              </a:rPr>
              <a:t>Realizar limpieza semanal del área, limpiar pisos con desengrasante, trapear pisos hasta dejarlos completamente limpios y secos, por debajo y dentro de la maquina, retirar vidrios incrustados dentro</a:t>
            </a:r>
          </a:p>
          <a:p>
            <a:pPr eaLnBrk="0" hangingPunct="0"/>
            <a:r>
              <a:rPr lang="es-MX" sz="1500" b="1" i="1" dirty="0">
                <a:solidFill>
                  <a:srgbClr val="000000"/>
                </a:solidFill>
                <a:effectLst>
                  <a:outerShdw blurRad="38100" dist="38100" dir="2700000" algn="tl">
                    <a:srgbClr val="000000">
                      <a:alpha val="43137"/>
                    </a:srgbClr>
                  </a:outerShdw>
                </a:effectLst>
                <a:cs typeface="Arial" charset="0"/>
              </a:rPr>
              <a:t>del equipo</a:t>
            </a:r>
            <a:endParaRPr lang="es-EC" sz="1500" b="1" i="1" dirty="0">
              <a:solidFill>
                <a:schemeClr val="tx1"/>
              </a:solidFill>
              <a:effectLst>
                <a:outerShdw blurRad="38100" dist="38100" dir="2700000" algn="tl">
                  <a:srgbClr val="000000">
                    <a:alpha val="43137"/>
                  </a:srgbClr>
                </a:outerShdw>
              </a:effectLst>
            </a:endParaRPr>
          </a:p>
        </p:txBody>
      </p:sp>
      <p:sp>
        <p:nvSpPr>
          <p:cNvPr id="13" name="12 Rectángulo"/>
          <p:cNvSpPr/>
          <p:nvPr/>
        </p:nvSpPr>
        <p:spPr>
          <a:xfrm>
            <a:off x="6876258" y="1839347"/>
            <a:ext cx="1584177" cy="545536"/>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sz="2000"/>
          </a:p>
        </p:txBody>
      </p:sp>
      <p:sp>
        <p:nvSpPr>
          <p:cNvPr id="14" name="13 CuadroTexto"/>
          <p:cNvSpPr txBox="1"/>
          <p:nvPr/>
        </p:nvSpPr>
        <p:spPr>
          <a:xfrm>
            <a:off x="6804251" y="1892440"/>
            <a:ext cx="1656184" cy="492443"/>
          </a:xfrm>
          <a:prstGeom prst="rect">
            <a:avLst/>
          </a:prstGeom>
          <a:noFill/>
        </p:spPr>
        <p:txBody>
          <a:bodyPr wrap="square" rtlCol="0">
            <a:spAutoFit/>
          </a:bodyPr>
          <a:lstStyle/>
          <a:p>
            <a:pPr algn="ctr"/>
            <a:r>
              <a:rPr lang="es-EC" sz="1300" b="1" i="1" dirty="0">
                <a:effectLst>
                  <a:outerShdw blurRad="38100" dist="38100" dir="2700000" algn="tl">
                    <a:srgbClr val="000000">
                      <a:alpha val="43137"/>
                    </a:srgbClr>
                  </a:outerShdw>
                </a:effectLst>
              </a:rPr>
              <a:t>Agua recuperada, escoba y Yellow pine</a:t>
            </a:r>
          </a:p>
        </p:txBody>
      </p:sp>
      <p:pic>
        <p:nvPicPr>
          <p:cNvPr id="15" name="Picture 2" descr="C:\Users\ecccordova\AppData\Local\Microsoft\Windows\Temporary Internet Files\Content.Outlook\QD335UFA\20160122_135521_resiz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983764"/>
            <a:ext cx="4176464" cy="36774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6" name="Imagen 15">
            <a:extLst>
              <a:ext uri="{FF2B5EF4-FFF2-40B4-BE49-F238E27FC236}">
                <a16:creationId xmlns:a16="http://schemas.microsoft.com/office/drawing/2014/main" id="{12153C2A-6A6C-4E2F-94EE-BBAF120E81C0}"/>
              </a:ext>
            </a:extLst>
          </p:cNvPr>
          <p:cNvPicPr>
            <a:picLocks noChangeAspect="1"/>
          </p:cNvPicPr>
          <p:nvPr/>
        </p:nvPicPr>
        <p:blipFill rotWithShape="1">
          <a:blip r:embed="rId4"/>
          <a:srcRect l="73875" t="80478" r="19170" b="14443"/>
          <a:stretch/>
        </p:blipFill>
        <p:spPr>
          <a:xfrm>
            <a:off x="117916" y="115050"/>
            <a:ext cx="2437860"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3 Imagen">
            <a:extLst>
              <a:ext uri="{FF2B5EF4-FFF2-40B4-BE49-F238E27FC236}">
                <a16:creationId xmlns:a16="http://schemas.microsoft.com/office/drawing/2014/main" id="{27497F58-0789-4F6B-83A5-2F77F6476179}"/>
              </a:ext>
            </a:extLst>
          </p:cNvPr>
          <p:cNvPicPr/>
          <p:nvPr/>
        </p:nvPicPr>
        <p:blipFill rotWithShape="1">
          <a:blip r:embed="rId5"/>
          <a:srcRect l="12940" r="12823" b="9145"/>
          <a:stretch/>
        </p:blipFill>
        <p:spPr>
          <a:xfrm>
            <a:off x="7205043" y="115050"/>
            <a:ext cx="1768041"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96904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extLst>
              <p:ext uri="{D42A27DB-BD31-4B8C-83A1-F6EECF244321}">
                <p14:modId xmlns:p14="http://schemas.microsoft.com/office/powerpoint/2010/main" val="3753177010"/>
              </p:ext>
            </p:extLst>
          </p:nvPr>
        </p:nvGraphicFramePr>
        <p:xfrm>
          <a:off x="106555" y="123495"/>
          <a:ext cx="8856984" cy="1326976"/>
        </p:xfrm>
        <a:graphic>
          <a:graphicData uri="http://schemas.openxmlformats.org/drawingml/2006/table">
            <a:tbl>
              <a:tblPr/>
              <a:tblGrid>
                <a:gridCol w="2429691">
                  <a:extLst>
                    <a:ext uri="{9D8B030D-6E8A-4147-A177-3AD203B41FA5}">
                      <a16:colId xmlns:a16="http://schemas.microsoft.com/office/drawing/2014/main" val="20000"/>
                    </a:ext>
                  </a:extLst>
                </a:gridCol>
                <a:gridCol w="4702747">
                  <a:extLst>
                    <a:ext uri="{9D8B030D-6E8A-4147-A177-3AD203B41FA5}">
                      <a16:colId xmlns:a16="http://schemas.microsoft.com/office/drawing/2014/main" val="20001"/>
                    </a:ext>
                  </a:extLst>
                </a:gridCol>
                <a:gridCol w="1724546">
                  <a:extLst>
                    <a:ext uri="{9D8B030D-6E8A-4147-A177-3AD203B41FA5}">
                      <a16:colId xmlns:a16="http://schemas.microsoft.com/office/drawing/2014/main" val="20002"/>
                    </a:ext>
                  </a:extLst>
                </a:gridCol>
              </a:tblGrid>
              <a:tr h="39467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s-BO" sz="1400" b="1" dirty="0">
                          <a:latin typeface="+mj-lt"/>
                        </a:rPr>
                        <a:t>OPL</a:t>
                      </a:r>
                      <a:r>
                        <a:rPr lang="es-BO" sz="1400" b="1" baseline="0" dirty="0">
                          <a:latin typeface="+mj-lt"/>
                        </a:rPr>
                        <a:t> – LECCION DE UN PUNTO</a:t>
                      </a:r>
                      <a:endParaRPr lang="es-BO" sz="1400" b="1" dirty="0">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300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pPr>
                      <a:r>
                        <a:rPr kumimoji="0" lang="es-ES_tradnl" sz="1000" b="1" i="0" u="none" strike="noStrike" cap="none" normalizeH="0" baseline="0" dirty="0">
                          <a:ln>
                            <a:noFill/>
                          </a:ln>
                          <a:solidFill>
                            <a:schemeClr val="tx1"/>
                          </a:solidFill>
                          <a:effectLst/>
                          <a:latin typeface="+mj-lt"/>
                          <a:ea typeface="Times New Roman" pitchFamily="18" charset="0"/>
                          <a:cs typeface="Arial" charset="0"/>
                        </a:rPr>
                        <a:t>Revisión</a:t>
                      </a:r>
                      <a:r>
                        <a:rPr kumimoji="0" lang="es-ES_tradnl" sz="1000" b="0" i="0" u="none" strike="noStrike" cap="none" normalizeH="0" baseline="0" dirty="0">
                          <a:ln>
                            <a:noFill/>
                          </a:ln>
                          <a:solidFill>
                            <a:schemeClr val="tx1"/>
                          </a:solidFill>
                          <a:effectLst/>
                          <a:latin typeface="+mj-lt"/>
                          <a:ea typeface="Times New Roman" pitchFamily="18" charset="0"/>
                          <a:cs typeface="Arial" charset="0"/>
                        </a:rPr>
                        <a:t>: 04</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1" i="0" u="none" strike="noStrike" cap="none" normalizeH="0" baseline="0" dirty="0">
                          <a:ln>
                            <a:noFill/>
                          </a:ln>
                          <a:solidFill>
                            <a:schemeClr val="tx1"/>
                          </a:solidFill>
                          <a:effectLst/>
                          <a:latin typeface="+mj-lt"/>
                          <a:cs typeface="Times New Roman" pitchFamily="18" charset="0"/>
                        </a:rPr>
                        <a:t>MANTENIMIENTO  AUTONOMO:</a:t>
                      </a:r>
                      <a:endParaRPr kumimoji="0" lang="es-ES_tradnl" sz="1000" b="1"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0" i="0" u="none" strike="noStrike" cap="none" normalizeH="0" baseline="0" dirty="0">
                          <a:ln>
                            <a:noFill/>
                          </a:ln>
                          <a:solidFill>
                            <a:schemeClr val="tx1"/>
                          </a:solidFill>
                          <a:effectLst/>
                          <a:latin typeface="+mj-lt"/>
                        </a:rPr>
                        <a:t>Condición Básica</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12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1" i="0" u="none" strike="noStrike" kern="1200" cap="none" normalizeH="0" baseline="0" dirty="0">
                          <a:ln>
                            <a:noFill/>
                          </a:ln>
                          <a:solidFill>
                            <a:schemeClr val="tx1"/>
                          </a:solidFill>
                          <a:effectLst/>
                          <a:latin typeface="+mj-lt"/>
                          <a:ea typeface="Times New Roman" pitchFamily="18" charset="0"/>
                          <a:cs typeface="Arial" charset="0"/>
                        </a:rPr>
                        <a:t>Código</a:t>
                      </a:r>
                      <a:r>
                        <a:rPr kumimoji="0" lang="es-ES_tradnl" sz="1000" b="0" i="0" u="none" strike="noStrike" kern="1200" cap="none" normalizeH="0" baseline="0" dirty="0">
                          <a:ln>
                            <a:noFill/>
                          </a:ln>
                          <a:solidFill>
                            <a:schemeClr val="tx1"/>
                          </a:solidFill>
                          <a:effectLst/>
                          <a:latin typeface="+mj-lt"/>
                          <a:ea typeface="Times New Roman" pitchFamily="18" charset="0"/>
                          <a:cs typeface="Arial" charset="0"/>
                        </a:rPr>
                        <a:t>:</a:t>
                      </a:r>
                      <a:r>
                        <a:rPr kumimoji="0" lang="es-ES_tradnl" sz="900" b="0" i="0" u="none" strike="noStrike" kern="1200" cap="none" normalizeH="0" baseline="0" dirty="0">
                          <a:ln>
                            <a:noFill/>
                          </a:ln>
                          <a:solidFill>
                            <a:schemeClr val="tx1"/>
                          </a:solidFill>
                          <a:effectLst/>
                          <a:latin typeface="+mj-lt"/>
                          <a:ea typeface="Times New Roman" pitchFamily="18" charset="0"/>
                          <a:cs typeface="Arial" charset="0"/>
                        </a:rPr>
                        <a:t> </a:t>
                      </a:r>
                      <a:r>
                        <a:rPr kumimoji="0" lang="es-AR" sz="900" b="0" i="0" u="none" strike="noStrike" kern="1200" cap="none" normalizeH="0" baseline="0" dirty="0">
                          <a:ln>
                            <a:noFill/>
                          </a:ln>
                          <a:solidFill>
                            <a:srgbClr val="000000"/>
                          </a:solidFill>
                          <a:effectLst/>
                          <a:latin typeface="+mn-lt"/>
                          <a:ea typeface="+mn-ea"/>
                          <a:cs typeface="+mn-cs"/>
                        </a:rPr>
                        <a:t>OPL-PACK-ENCA-04</a:t>
                      </a:r>
                      <a:endParaRPr kumimoji="0" lang="es-ES" sz="900" b="0" i="0" u="none" strike="noStrike" kern="1200" cap="none" normalizeH="0" baseline="0" dirty="0">
                        <a:ln>
                          <a:noFill/>
                        </a:ln>
                        <a:solidFill>
                          <a:srgbClr val="000000"/>
                        </a:solidFill>
                        <a:effectLst/>
                        <a:latin typeface="+mn-lt"/>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lang="es-BO" sz="1000" b="0" i="0" u="none" strike="noStrike" kern="1200" dirty="0">
                          <a:solidFill>
                            <a:schemeClr val="tx1"/>
                          </a:solidFill>
                          <a:effectLst/>
                          <a:latin typeface="+mn-lt"/>
                          <a:ea typeface="+mn-ea"/>
                          <a:cs typeface="+mn-cs"/>
                        </a:rPr>
                        <a:t>Tema:</a:t>
                      </a:r>
                      <a:r>
                        <a:rPr lang="es-BO" sz="1000" b="0" i="0" u="none" strike="noStrike" kern="1200" baseline="0" dirty="0">
                          <a:solidFill>
                            <a:schemeClr val="tx1"/>
                          </a:solidFill>
                          <a:effectLst/>
                          <a:latin typeface="+mn-lt"/>
                          <a:ea typeface="+mn-ea"/>
                          <a:cs typeface="+mn-cs"/>
                        </a:rPr>
                        <a:t> Guía de transporte de cajas </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0" i="0" u="none" strike="noStrike" kern="1200" cap="none" normalizeH="0" baseline="0" dirty="0">
                          <a:ln>
                            <a:noFill/>
                          </a:ln>
                          <a:solidFill>
                            <a:schemeClr val="tx1"/>
                          </a:solidFill>
                          <a:effectLst/>
                          <a:latin typeface="+mn-lt"/>
                          <a:ea typeface="+mn-ea"/>
                          <a:cs typeface="Times New Roman" pitchFamily="18" charset="0"/>
                        </a:rPr>
                        <a:t>Fecha:</a:t>
                      </a:r>
                      <a:r>
                        <a:rPr kumimoji="0" lang="es-ES_tradnl" sz="1000" b="0" i="0" u="none" strike="noStrike" kern="1200" cap="none" normalizeH="0" baseline="0" dirty="0">
                          <a:ln>
                            <a:noFill/>
                          </a:ln>
                          <a:solidFill>
                            <a:schemeClr val="tx1"/>
                          </a:solidFill>
                          <a:effectLst/>
                          <a:latin typeface="+mn-lt"/>
                          <a:ea typeface="+mn-ea"/>
                          <a:cs typeface="+mn-cs"/>
                        </a:rPr>
                        <a:t>   01/02/2016   </a:t>
                      </a:r>
                      <a:endParaRPr kumimoji="0" lang="es-ES_tradnl" sz="1000" b="0"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37">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defRPr/>
                      </a:pPr>
                      <a:r>
                        <a:rPr kumimoji="0" lang="es-ES" sz="1000" b="1" i="0" u="none" strike="noStrike" kern="1200" cap="none" normalizeH="0" baseline="0" dirty="0">
                          <a:ln>
                            <a:noFill/>
                          </a:ln>
                          <a:solidFill>
                            <a:schemeClr val="tx1"/>
                          </a:solidFill>
                          <a:effectLst/>
                          <a:latin typeface="+mj-lt"/>
                          <a:ea typeface="+mn-ea"/>
                          <a:cs typeface="Times New Roman" pitchFamily="18" charset="0"/>
                        </a:rPr>
                        <a:t>Objetivo: Limpieza de las guías de transporte de cajas de la maquina </a:t>
                      </a:r>
                      <a:endParaRPr kumimoji="0" lang="es-ES" sz="1000" b="0" i="0" u="none" strike="noStrike" kern="1200" cap="none" normalizeH="0" baseline="0" dirty="0">
                        <a:ln>
                          <a:noFill/>
                        </a:ln>
                        <a:solidFill>
                          <a:schemeClr val="tx1"/>
                        </a:solidFill>
                        <a:effectLst/>
                        <a:latin typeface="Arial" charset="0"/>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BO"/>
                    </a:p>
                  </a:txBody>
                  <a:tcPr/>
                </a:tc>
                <a:extLst>
                  <a:ext uri="{0D108BD9-81ED-4DB2-BD59-A6C34878D82A}">
                    <a16:rowId xmlns:a16="http://schemas.microsoft.com/office/drawing/2014/main" val="10003"/>
                  </a:ext>
                </a:extLst>
              </a:tr>
            </a:tbl>
          </a:graphicData>
        </a:graphic>
      </p:graphicFrame>
      <p:graphicFrame>
        <p:nvGraphicFramePr>
          <p:cNvPr id="5" name="4 Tabla"/>
          <p:cNvGraphicFramePr>
            <a:graphicFrameLocks noGrp="1"/>
          </p:cNvGraphicFramePr>
          <p:nvPr>
            <p:extLst>
              <p:ext uri="{D42A27DB-BD31-4B8C-83A1-F6EECF244321}">
                <p14:modId xmlns:p14="http://schemas.microsoft.com/office/powerpoint/2010/main" val="912788878"/>
              </p:ext>
            </p:extLst>
          </p:nvPr>
        </p:nvGraphicFramePr>
        <p:xfrm>
          <a:off x="106555" y="6309320"/>
          <a:ext cx="8929941" cy="469596"/>
        </p:xfrm>
        <a:graphic>
          <a:graphicData uri="http://schemas.openxmlformats.org/drawingml/2006/table">
            <a:tbl>
              <a:tblPr/>
              <a:tblGrid>
                <a:gridCol w="3018989">
                  <a:extLst>
                    <a:ext uri="{9D8B030D-6E8A-4147-A177-3AD203B41FA5}">
                      <a16:colId xmlns:a16="http://schemas.microsoft.com/office/drawing/2014/main" val="20000"/>
                    </a:ext>
                  </a:extLst>
                </a:gridCol>
                <a:gridCol w="2954606">
                  <a:extLst>
                    <a:ext uri="{9D8B030D-6E8A-4147-A177-3AD203B41FA5}">
                      <a16:colId xmlns:a16="http://schemas.microsoft.com/office/drawing/2014/main" val="20001"/>
                    </a:ext>
                  </a:extLst>
                </a:gridCol>
                <a:gridCol w="2956346">
                  <a:extLst>
                    <a:ext uri="{9D8B030D-6E8A-4147-A177-3AD203B41FA5}">
                      <a16:colId xmlns:a16="http://schemas.microsoft.com/office/drawing/2014/main" val="20002"/>
                    </a:ext>
                  </a:extLst>
                </a:gridCol>
              </a:tblGrid>
              <a:tr h="241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Preparó: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Revisó: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Aprobó: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50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Carlos Córdova </a:t>
                      </a:r>
                      <a:endParaRPr kumimoji="0" lang="es-ES_tradnl" sz="900" b="0"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Ing. Cesar Brocel</a:t>
                      </a:r>
                      <a:endParaRPr kumimoji="0" lang="es-ES_tradnl" sz="900" b="1" i="0" u="none" strike="noStrike" kern="1200" cap="none" normalizeH="0" baseline="0" dirty="0">
                        <a:ln>
                          <a:noFill/>
                        </a:ln>
                        <a:solidFill>
                          <a:schemeClr val="tx1"/>
                        </a:solidFill>
                        <a:effectLst/>
                        <a:latin typeface="+mn-lt"/>
                        <a:ea typeface="+mn-ea"/>
                        <a:cs typeface="+mn-cs"/>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rPr>
                        <a:t>Ing. Cesar Brocel</a:t>
                      </a: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5 CuadroTexto"/>
          <p:cNvSpPr txBox="1"/>
          <p:nvPr/>
        </p:nvSpPr>
        <p:spPr>
          <a:xfrm>
            <a:off x="6804251" y="5733256"/>
            <a:ext cx="2096826"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Semanal</a:t>
            </a:r>
          </a:p>
        </p:txBody>
      </p:sp>
      <p:sp>
        <p:nvSpPr>
          <p:cNvPr id="7" name="6 CuadroTexto"/>
          <p:cNvSpPr txBox="1"/>
          <p:nvPr/>
        </p:nvSpPr>
        <p:spPr>
          <a:xfrm>
            <a:off x="5004047" y="5731282"/>
            <a:ext cx="1584178"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Frecuencia</a:t>
            </a:r>
          </a:p>
        </p:txBody>
      </p:sp>
      <p:pic>
        <p:nvPicPr>
          <p:cNvPr id="8"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576" y="3501008"/>
            <a:ext cx="1363118" cy="135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sp>
        <p:nvSpPr>
          <p:cNvPr id="9" name="8 CuadroTexto"/>
          <p:cNvSpPr txBox="1"/>
          <p:nvPr/>
        </p:nvSpPr>
        <p:spPr>
          <a:xfrm>
            <a:off x="5220072" y="1909447"/>
            <a:ext cx="1656184" cy="369332"/>
          </a:xfrm>
          <a:prstGeom prst="rect">
            <a:avLst/>
          </a:prstGeom>
          <a:noFill/>
        </p:spPr>
        <p:txBody>
          <a:bodyPr wrap="square" rtlCol="0">
            <a:spAutoFit/>
          </a:bodyPr>
          <a:lstStyle/>
          <a:p>
            <a:r>
              <a:rPr lang="es-EC" b="1" i="1" dirty="0">
                <a:effectLst>
                  <a:outerShdw blurRad="38100" dist="38100" dir="2700000" algn="tl">
                    <a:srgbClr val="000000">
                      <a:alpha val="43137"/>
                    </a:srgbClr>
                  </a:outerShdw>
                </a:effectLst>
              </a:rPr>
              <a:t>Materiales</a:t>
            </a:r>
          </a:p>
        </p:txBody>
      </p:sp>
      <p:sp>
        <p:nvSpPr>
          <p:cNvPr id="10" name="9 Rectángulo"/>
          <p:cNvSpPr/>
          <p:nvPr/>
        </p:nvSpPr>
        <p:spPr>
          <a:xfrm>
            <a:off x="5004047" y="1839347"/>
            <a:ext cx="1584177" cy="554230"/>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1" name="10 Rectángulo"/>
          <p:cNvSpPr/>
          <p:nvPr/>
        </p:nvSpPr>
        <p:spPr>
          <a:xfrm>
            <a:off x="5004047" y="2758143"/>
            <a:ext cx="1584177" cy="44841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b="1" i="1" dirty="0">
                <a:solidFill>
                  <a:schemeClr val="tx1"/>
                </a:solidFill>
                <a:effectLst>
                  <a:outerShdw blurRad="38100" dist="38100" dir="2700000" algn="tl">
                    <a:srgbClr val="000000">
                      <a:alpha val="43137"/>
                    </a:srgbClr>
                  </a:outerShdw>
                </a:effectLst>
              </a:rPr>
              <a:t>Trabajos a ejecutar</a:t>
            </a:r>
          </a:p>
        </p:txBody>
      </p:sp>
      <p:sp>
        <p:nvSpPr>
          <p:cNvPr id="12" name="11 Rectángulo"/>
          <p:cNvSpPr/>
          <p:nvPr/>
        </p:nvSpPr>
        <p:spPr>
          <a:xfrm>
            <a:off x="6804251" y="2758143"/>
            <a:ext cx="2096826" cy="268708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hangingPunct="0"/>
            <a:r>
              <a:rPr lang="es-MX" sz="1500" b="1" i="1" dirty="0">
                <a:solidFill>
                  <a:srgbClr val="000000"/>
                </a:solidFill>
                <a:effectLst>
                  <a:outerShdw blurRad="38100" dist="38100" dir="2700000" algn="tl">
                    <a:srgbClr val="000000">
                      <a:alpha val="43137"/>
                    </a:srgbClr>
                  </a:outerShdw>
                </a:effectLst>
                <a:cs typeface="Arial" charset="0"/>
              </a:rPr>
              <a:t>Realizar limpieza de las guías del transporte de cajas, retirando primero grasa que este incrustada, luego restregar con un scoth brite remojado con  detergente en las estructuras eliminando suciedad y dejando limpias todas las guías.</a:t>
            </a:r>
            <a:endParaRPr lang="es-EC" sz="1500" b="1" i="1" dirty="0">
              <a:solidFill>
                <a:schemeClr val="tx1"/>
              </a:solidFill>
              <a:effectLst>
                <a:outerShdw blurRad="38100" dist="38100" dir="2700000" algn="tl">
                  <a:srgbClr val="000000">
                    <a:alpha val="43137"/>
                  </a:srgbClr>
                </a:outerShdw>
              </a:effectLst>
            </a:endParaRPr>
          </a:p>
        </p:txBody>
      </p:sp>
      <p:sp>
        <p:nvSpPr>
          <p:cNvPr id="13" name="12 Rectángulo"/>
          <p:cNvSpPr/>
          <p:nvPr/>
        </p:nvSpPr>
        <p:spPr>
          <a:xfrm>
            <a:off x="6876258" y="1839347"/>
            <a:ext cx="1584177" cy="545536"/>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sz="2000"/>
          </a:p>
        </p:txBody>
      </p:sp>
      <p:sp>
        <p:nvSpPr>
          <p:cNvPr id="14" name="13 CuadroTexto"/>
          <p:cNvSpPr txBox="1"/>
          <p:nvPr/>
        </p:nvSpPr>
        <p:spPr>
          <a:xfrm>
            <a:off x="6804251" y="1892440"/>
            <a:ext cx="1656184" cy="492443"/>
          </a:xfrm>
          <a:prstGeom prst="rect">
            <a:avLst/>
          </a:prstGeom>
          <a:noFill/>
        </p:spPr>
        <p:txBody>
          <a:bodyPr wrap="square" rtlCol="0">
            <a:spAutoFit/>
          </a:bodyPr>
          <a:lstStyle/>
          <a:p>
            <a:pPr algn="ctr"/>
            <a:r>
              <a:rPr lang="es-EC" sz="1300" b="1" i="1" dirty="0">
                <a:effectLst>
                  <a:outerShdw blurRad="38100" dist="38100" dir="2700000" algn="tl">
                    <a:srgbClr val="000000">
                      <a:alpha val="43137"/>
                    </a:srgbClr>
                  </a:outerShdw>
                </a:effectLst>
              </a:rPr>
              <a:t>Agua, detergente y scocht brite</a:t>
            </a:r>
          </a:p>
        </p:txBody>
      </p:sp>
      <p:pic>
        <p:nvPicPr>
          <p:cNvPr id="2050" name="Picture 2" descr="C:\Users\ecccordova\AppData\Local\Microsoft\Windows\Temporary Internet Files\Content.Outlook\CIH1JWA1\20160122_135604_resiz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809941"/>
            <a:ext cx="4099383" cy="410600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cxnSp>
        <p:nvCxnSpPr>
          <p:cNvPr id="16" name="15 Conector recto de flecha"/>
          <p:cNvCxnSpPr/>
          <p:nvPr/>
        </p:nvCxnSpPr>
        <p:spPr>
          <a:xfrm flipH="1">
            <a:off x="2771800" y="1809941"/>
            <a:ext cx="1368152" cy="219512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3863591" y="1570893"/>
            <a:ext cx="1406672" cy="338554"/>
          </a:xfrm>
          <a:prstGeom prst="rect">
            <a:avLst/>
          </a:prstGeom>
          <a:noFill/>
        </p:spPr>
        <p:txBody>
          <a:bodyPr wrap="square" rtlCol="0">
            <a:spAutoFit/>
          </a:bodyPr>
          <a:lstStyle/>
          <a:p>
            <a:r>
              <a:rPr lang="es-EC" sz="1600" b="1" i="1" dirty="0">
                <a:effectLst>
                  <a:outerShdw blurRad="38100" dist="38100" dir="2700000" algn="tl">
                    <a:srgbClr val="000000">
                      <a:alpha val="43137"/>
                    </a:srgbClr>
                  </a:outerShdw>
                </a:effectLst>
              </a:rPr>
              <a:t>Guías</a:t>
            </a:r>
          </a:p>
        </p:txBody>
      </p:sp>
      <p:pic>
        <p:nvPicPr>
          <p:cNvPr id="18" name="Imagen 17">
            <a:extLst>
              <a:ext uri="{FF2B5EF4-FFF2-40B4-BE49-F238E27FC236}">
                <a16:creationId xmlns:a16="http://schemas.microsoft.com/office/drawing/2014/main" id="{29A7FFD9-FA80-4A91-A3D5-D8801D9AD29C}"/>
              </a:ext>
            </a:extLst>
          </p:cNvPr>
          <p:cNvPicPr>
            <a:picLocks noChangeAspect="1"/>
          </p:cNvPicPr>
          <p:nvPr/>
        </p:nvPicPr>
        <p:blipFill rotWithShape="1">
          <a:blip r:embed="rId4"/>
          <a:srcRect l="73875" t="80478" r="19170" b="14443"/>
          <a:stretch/>
        </p:blipFill>
        <p:spPr>
          <a:xfrm>
            <a:off x="117916" y="115050"/>
            <a:ext cx="2437860"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3 Imagen">
            <a:extLst>
              <a:ext uri="{FF2B5EF4-FFF2-40B4-BE49-F238E27FC236}">
                <a16:creationId xmlns:a16="http://schemas.microsoft.com/office/drawing/2014/main" id="{079279D6-28BE-416F-8985-C4D105752C58}"/>
              </a:ext>
            </a:extLst>
          </p:cNvPr>
          <p:cNvPicPr/>
          <p:nvPr/>
        </p:nvPicPr>
        <p:blipFill rotWithShape="1">
          <a:blip r:embed="rId5"/>
          <a:srcRect l="12940" r="12823" b="9145"/>
          <a:stretch/>
        </p:blipFill>
        <p:spPr>
          <a:xfrm>
            <a:off x="7205043" y="115050"/>
            <a:ext cx="1768041"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58826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extLst>
              <p:ext uri="{D42A27DB-BD31-4B8C-83A1-F6EECF244321}">
                <p14:modId xmlns:p14="http://schemas.microsoft.com/office/powerpoint/2010/main" val="2315949272"/>
              </p:ext>
            </p:extLst>
          </p:nvPr>
        </p:nvGraphicFramePr>
        <p:xfrm>
          <a:off x="107504" y="116632"/>
          <a:ext cx="8856984" cy="1326976"/>
        </p:xfrm>
        <a:graphic>
          <a:graphicData uri="http://schemas.openxmlformats.org/drawingml/2006/table">
            <a:tbl>
              <a:tblPr/>
              <a:tblGrid>
                <a:gridCol w="2429691">
                  <a:extLst>
                    <a:ext uri="{9D8B030D-6E8A-4147-A177-3AD203B41FA5}">
                      <a16:colId xmlns:a16="http://schemas.microsoft.com/office/drawing/2014/main" val="20000"/>
                    </a:ext>
                  </a:extLst>
                </a:gridCol>
                <a:gridCol w="4702747">
                  <a:extLst>
                    <a:ext uri="{9D8B030D-6E8A-4147-A177-3AD203B41FA5}">
                      <a16:colId xmlns:a16="http://schemas.microsoft.com/office/drawing/2014/main" val="20001"/>
                    </a:ext>
                  </a:extLst>
                </a:gridCol>
                <a:gridCol w="1724546">
                  <a:extLst>
                    <a:ext uri="{9D8B030D-6E8A-4147-A177-3AD203B41FA5}">
                      <a16:colId xmlns:a16="http://schemas.microsoft.com/office/drawing/2014/main" val="20002"/>
                    </a:ext>
                  </a:extLst>
                </a:gridCol>
              </a:tblGrid>
              <a:tr h="39467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s-BO" sz="1400" b="1" dirty="0">
                          <a:latin typeface="+mj-lt"/>
                        </a:rPr>
                        <a:t>OPL</a:t>
                      </a:r>
                      <a:r>
                        <a:rPr lang="es-BO" sz="1400" b="1" baseline="0" dirty="0">
                          <a:latin typeface="+mj-lt"/>
                        </a:rPr>
                        <a:t> – LECCION DE UN PUNTO</a:t>
                      </a:r>
                      <a:endParaRPr lang="es-BO" sz="1400" b="1" dirty="0">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300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pPr>
                      <a:r>
                        <a:rPr kumimoji="0" lang="es-ES_tradnl" sz="1000" b="1" i="0" u="none" strike="noStrike" cap="none" normalizeH="0" baseline="0" dirty="0">
                          <a:ln>
                            <a:noFill/>
                          </a:ln>
                          <a:solidFill>
                            <a:schemeClr val="tx1"/>
                          </a:solidFill>
                          <a:effectLst/>
                          <a:latin typeface="+mj-lt"/>
                          <a:ea typeface="Times New Roman" pitchFamily="18" charset="0"/>
                          <a:cs typeface="Arial" charset="0"/>
                        </a:rPr>
                        <a:t>Revisión</a:t>
                      </a:r>
                      <a:r>
                        <a:rPr kumimoji="0" lang="es-ES_tradnl" sz="1000" b="0" i="0" u="none" strike="noStrike" cap="none" normalizeH="0" baseline="0" dirty="0">
                          <a:ln>
                            <a:noFill/>
                          </a:ln>
                          <a:solidFill>
                            <a:schemeClr val="tx1"/>
                          </a:solidFill>
                          <a:effectLst/>
                          <a:latin typeface="+mj-lt"/>
                          <a:ea typeface="Times New Roman" pitchFamily="18" charset="0"/>
                          <a:cs typeface="Arial" charset="0"/>
                        </a:rPr>
                        <a:t>: 05</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1" i="0" u="none" strike="noStrike" cap="none" normalizeH="0" baseline="0" dirty="0">
                          <a:ln>
                            <a:noFill/>
                          </a:ln>
                          <a:solidFill>
                            <a:schemeClr val="tx1"/>
                          </a:solidFill>
                          <a:effectLst/>
                          <a:latin typeface="+mj-lt"/>
                          <a:cs typeface="Times New Roman" pitchFamily="18" charset="0"/>
                        </a:rPr>
                        <a:t>MANTENIMIENTO  AUTONOMO:</a:t>
                      </a:r>
                      <a:endParaRPr kumimoji="0" lang="es-ES_tradnl" sz="1000" b="1"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0" i="0" u="none" strike="noStrike" cap="none" normalizeH="0" baseline="0" dirty="0">
                          <a:ln>
                            <a:noFill/>
                          </a:ln>
                          <a:solidFill>
                            <a:schemeClr val="tx1"/>
                          </a:solidFill>
                          <a:effectLst/>
                          <a:latin typeface="+mj-lt"/>
                        </a:rPr>
                        <a:t>Condición Básica</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12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1" i="0" u="none" strike="noStrike" kern="1200" cap="none" normalizeH="0" baseline="0" dirty="0">
                          <a:ln>
                            <a:noFill/>
                          </a:ln>
                          <a:solidFill>
                            <a:schemeClr val="tx1"/>
                          </a:solidFill>
                          <a:effectLst/>
                          <a:latin typeface="+mj-lt"/>
                          <a:ea typeface="Times New Roman" pitchFamily="18" charset="0"/>
                          <a:cs typeface="Arial" charset="0"/>
                        </a:rPr>
                        <a:t>Código</a:t>
                      </a:r>
                      <a:r>
                        <a:rPr kumimoji="0" lang="es-ES_tradnl" sz="1000" b="0" i="0" u="none" strike="noStrike" kern="1200" cap="none" normalizeH="0" baseline="0" dirty="0">
                          <a:ln>
                            <a:noFill/>
                          </a:ln>
                          <a:solidFill>
                            <a:schemeClr val="tx1"/>
                          </a:solidFill>
                          <a:effectLst/>
                          <a:latin typeface="+mj-lt"/>
                          <a:ea typeface="Times New Roman" pitchFamily="18" charset="0"/>
                          <a:cs typeface="Arial" charset="0"/>
                        </a:rPr>
                        <a:t>:</a:t>
                      </a:r>
                      <a:r>
                        <a:rPr kumimoji="0" lang="es-ES_tradnl" sz="900" b="0" i="0" u="none" strike="noStrike" kern="1200" cap="none" normalizeH="0" baseline="0" dirty="0">
                          <a:ln>
                            <a:noFill/>
                          </a:ln>
                          <a:solidFill>
                            <a:schemeClr val="tx1"/>
                          </a:solidFill>
                          <a:effectLst/>
                          <a:latin typeface="+mj-lt"/>
                          <a:ea typeface="Times New Roman" pitchFamily="18" charset="0"/>
                          <a:cs typeface="Arial" charset="0"/>
                        </a:rPr>
                        <a:t> </a:t>
                      </a:r>
                      <a:r>
                        <a:rPr kumimoji="0" lang="es-AR" sz="900" b="0" i="0" u="none" strike="noStrike" kern="1200" cap="none" normalizeH="0" baseline="0" dirty="0">
                          <a:ln>
                            <a:noFill/>
                          </a:ln>
                          <a:solidFill>
                            <a:srgbClr val="000000"/>
                          </a:solidFill>
                          <a:effectLst/>
                          <a:latin typeface="+mn-lt"/>
                          <a:ea typeface="+mn-ea"/>
                          <a:cs typeface="+mn-cs"/>
                        </a:rPr>
                        <a:t>OPL-PACK-ENCA-05</a:t>
                      </a:r>
                      <a:endParaRPr kumimoji="0" lang="es-ES" sz="900" b="0" i="0" u="none" strike="noStrike" kern="1200" cap="none" normalizeH="0" baseline="0" dirty="0">
                        <a:ln>
                          <a:noFill/>
                        </a:ln>
                        <a:solidFill>
                          <a:srgbClr val="000000"/>
                        </a:solidFill>
                        <a:effectLst/>
                        <a:latin typeface="+mn-lt"/>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lang="es-BO" sz="1000" b="0" i="0" u="none" strike="noStrike" kern="1200" dirty="0">
                          <a:solidFill>
                            <a:schemeClr val="tx1"/>
                          </a:solidFill>
                          <a:effectLst/>
                          <a:latin typeface="+mn-lt"/>
                          <a:ea typeface="+mn-ea"/>
                          <a:cs typeface="+mn-cs"/>
                        </a:rPr>
                        <a:t>Tema:</a:t>
                      </a:r>
                      <a:r>
                        <a:rPr lang="es-BO" sz="1000" b="0" i="0" u="none" strike="noStrike" kern="1200" baseline="0" dirty="0">
                          <a:solidFill>
                            <a:schemeClr val="tx1"/>
                          </a:solidFill>
                          <a:effectLst/>
                          <a:latin typeface="+mn-lt"/>
                          <a:ea typeface="+mn-ea"/>
                          <a:cs typeface="+mn-cs"/>
                        </a:rPr>
                        <a:t> Inspecciones de los sensores  del  equipo.</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0" i="0" u="none" strike="noStrike" kern="1200" cap="none" normalizeH="0" baseline="0" dirty="0">
                          <a:ln>
                            <a:noFill/>
                          </a:ln>
                          <a:solidFill>
                            <a:schemeClr val="tx1"/>
                          </a:solidFill>
                          <a:effectLst/>
                          <a:latin typeface="+mn-lt"/>
                          <a:ea typeface="+mn-ea"/>
                          <a:cs typeface="Times New Roman" pitchFamily="18" charset="0"/>
                        </a:rPr>
                        <a:t>Fecha:</a:t>
                      </a:r>
                      <a:r>
                        <a:rPr kumimoji="0" lang="es-ES_tradnl" sz="1000" b="0" i="0" u="none" strike="noStrike" kern="1200" cap="none" normalizeH="0" baseline="0" dirty="0">
                          <a:ln>
                            <a:noFill/>
                          </a:ln>
                          <a:solidFill>
                            <a:schemeClr val="tx1"/>
                          </a:solidFill>
                          <a:effectLst/>
                          <a:latin typeface="+mn-lt"/>
                          <a:ea typeface="+mn-ea"/>
                          <a:cs typeface="+mn-cs"/>
                        </a:rPr>
                        <a:t>   01/02/2016   </a:t>
                      </a:r>
                      <a:endParaRPr kumimoji="0" lang="es-ES_tradnl" sz="1000" b="0"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37">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defRPr/>
                      </a:pPr>
                      <a:r>
                        <a:rPr kumimoji="0" lang="es-ES" sz="1000" b="1" i="0" u="none" strike="noStrike" kern="1200" cap="none" normalizeH="0" baseline="0" dirty="0">
                          <a:ln>
                            <a:noFill/>
                          </a:ln>
                          <a:solidFill>
                            <a:schemeClr val="tx1"/>
                          </a:solidFill>
                          <a:effectLst/>
                          <a:latin typeface="+mj-lt"/>
                          <a:ea typeface="+mn-ea"/>
                          <a:cs typeface="Times New Roman" pitchFamily="18" charset="0"/>
                        </a:rPr>
                        <a:t>Objetivo: Realizar una correcta limpieza y garantizar funcionamiento de los sensores.</a:t>
                      </a:r>
                      <a:endParaRPr kumimoji="0" lang="es-ES" sz="1000" b="0" i="0" u="none" strike="noStrike" kern="1200" cap="none" normalizeH="0" baseline="0" dirty="0">
                        <a:ln>
                          <a:noFill/>
                        </a:ln>
                        <a:solidFill>
                          <a:schemeClr val="tx1"/>
                        </a:solidFill>
                        <a:effectLst/>
                        <a:latin typeface="Arial" charset="0"/>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BO"/>
                    </a:p>
                  </a:txBody>
                  <a:tcPr/>
                </a:tc>
                <a:extLst>
                  <a:ext uri="{0D108BD9-81ED-4DB2-BD59-A6C34878D82A}">
                    <a16:rowId xmlns:a16="http://schemas.microsoft.com/office/drawing/2014/main" val="10003"/>
                  </a:ext>
                </a:extLst>
              </a:tr>
            </a:tbl>
          </a:graphicData>
        </a:graphic>
      </p:graphicFrame>
      <p:graphicFrame>
        <p:nvGraphicFramePr>
          <p:cNvPr id="5" name="4 Tabla"/>
          <p:cNvGraphicFramePr>
            <a:graphicFrameLocks noGrp="1"/>
          </p:cNvGraphicFramePr>
          <p:nvPr>
            <p:extLst>
              <p:ext uri="{D42A27DB-BD31-4B8C-83A1-F6EECF244321}">
                <p14:modId xmlns:p14="http://schemas.microsoft.com/office/powerpoint/2010/main" val="1420351144"/>
              </p:ext>
            </p:extLst>
          </p:nvPr>
        </p:nvGraphicFramePr>
        <p:xfrm>
          <a:off x="106555" y="6309320"/>
          <a:ext cx="8929941" cy="469596"/>
        </p:xfrm>
        <a:graphic>
          <a:graphicData uri="http://schemas.openxmlformats.org/drawingml/2006/table">
            <a:tbl>
              <a:tblPr/>
              <a:tblGrid>
                <a:gridCol w="3018989">
                  <a:extLst>
                    <a:ext uri="{9D8B030D-6E8A-4147-A177-3AD203B41FA5}">
                      <a16:colId xmlns:a16="http://schemas.microsoft.com/office/drawing/2014/main" val="20000"/>
                    </a:ext>
                  </a:extLst>
                </a:gridCol>
                <a:gridCol w="2954606">
                  <a:extLst>
                    <a:ext uri="{9D8B030D-6E8A-4147-A177-3AD203B41FA5}">
                      <a16:colId xmlns:a16="http://schemas.microsoft.com/office/drawing/2014/main" val="20001"/>
                    </a:ext>
                  </a:extLst>
                </a:gridCol>
                <a:gridCol w="2956346">
                  <a:extLst>
                    <a:ext uri="{9D8B030D-6E8A-4147-A177-3AD203B41FA5}">
                      <a16:colId xmlns:a16="http://schemas.microsoft.com/office/drawing/2014/main" val="20002"/>
                    </a:ext>
                  </a:extLst>
                </a:gridCol>
              </a:tblGrid>
              <a:tr h="241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Preparó: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Revisó: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Aprobó: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50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Carlos Córdova </a:t>
                      </a:r>
                      <a:endParaRPr kumimoji="0" lang="es-ES_tradnl" sz="900" b="0"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Ing. Cesar Brocel</a:t>
                      </a:r>
                      <a:endParaRPr kumimoji="0" lang="es-ES_tradnl" sz="900" b="1" i="0" u="none" strike="noStrike" kern="1200" cap="none" normalizeH="0" baseline="0" dirty="0">
                        <a:ln>
                          <a:noFill/>
                        </a:ln>
                        <a:solidFill>
                          <a:schemeClr val="tx1"/>
                        </a:solidFill>
                        <a:effectLst/>
                        <a:latin typeface="+mn-lt"/>
                        <a:ea typeface="+mn-ea"/>
                        <a:cs typeface="+mn-cs"/>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rPr>
                        <a:t>Ing. Cesar Brocel</a:t>
                      </a: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5 CuadroTexto"/>
          <p:cNvSpPr txBox="1"/>
          <p:nvPr/>
        </p:nvSpPr>
        <p:spPr>
          <a:xfrm>
            <a:off x="6804251" y="5733256"/>
            <a:ext cx="2096826"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Semanal</a:t>
            </a:r>
          </a:p>
        </p:txBody>
      </p:sp>
      <p:sp>
        <p:nvSpPr>
          <p:cNvPr id="7" name="6 CuadroTexto"/>
          <p:cNvSpPr txBox="1"/>
          <p:nvPr/>
        </p:nvSpPr>
        <p:spPr>
          <a:xfrm>
            <a:off x="5004047" y="5731282"/>
            <a:ext cx="1584178"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Frecuencia</a:t>
            </a:r>
          </a:p>
        </p:txBody>
      </p:sp>
      <p:pic>
        <p:nvPicPr>
          <p:cNvPr id="8"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576" y="3501008"/>
            <a:ext cx="1363118" cy="135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sp>
        <p:nvSpPr>
          <p:cNvPr id="9" name="8 CuadroTexto"/>
          <p:cNvSpPr txBox="1"/>
          <p:nvPr/>
        </p:nvSpPr>
        <p:spPr>
          <a:xfrm>
            <a:off x="5220072" y="1909447"/>
            <a:ext cx="1656184" cy="369332"/>
          </a:xfrm>
          <a:prstGeom prst="rect">
            <a:avLst/>
          </a:prstGeom>
          <a:noFill/>
        </p:spPr>
        <p:txBody>
          <a:bodyPr wrap="square" rtlCol="0">
            <a:spAutoFit/>
          </a:bodyPr>
          <a:lstStyle/>
          <a:p>
            <a:r>
              <a:rPr lang="es-EC" b="1" i="1" dirty="0">
                <a:effectLst>
                  <a:outerShdw blurRad="38100" dist="38100" dir="2700000" algn="tl">
                    <a:srgbClr val="000000">
                      <a:alpha val="43137"/>
                    </a:srgbClr>
                  </a:outerShdw>
                </a:effectLst>
              </a:rPr>
              <a:t>Materiales</a:t>
            </a:r>
          </a:p>
        </p:txBody>
      </p:sp>
      <p:sp>
        <p:nvSpPr>
          <p:cNvPr id="10" name="9 Rectángulo"/>
          <p:cNvSpPr/>
          <p:nvPr/>
        </p:nvSpPr>
        <p:spPr>
          <a:xfrm>
            <a:off x="5004047" y="1839347"/>
            <a:ext cx="1584177" cy="554230"/>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1" name="10 Rectángulo"/>
          <p:cNvSpPr/>
          <p:nvPr/>
        </p:nvSpPr>
        <p:spPr>
          <a:xfrm>
            <a:off x="5004047" y="2758143"/>
            <a:ext cx="1584177" cy="44841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b="1" i="1" dirty="0">
                <a:solidFill>
                  <a:schemeClr val="tx1"/>
                </a:solidFill>
                <a:effectLst>
                  <a:outerShdw blurRad="38100" dist="38100" dir="2700000" algn="tl">
                    <a:srgbClr val="000000">
                      <a:alpha val="43137"/>
                    </a:srgbClr>
                  </a:outerShdw>
                </a:effectLst>
              </a:rPr>
              <a:t>Trabajos a ejecutar</a:t>
            </a:r>
          </a:p>
        </p:txBody>
      </p:sp>
      <p:sp>
        <p:nvSpPr>
          <p:cNvPr id="12" name="11 Rectángulo"/>
          <p:cNvSpPr/>
          <p:nvPr/>
        </p:nvSpPr>
        <p:spPr>
          <a:xfrm>
            <a:off x="6804251" y="2758143"/>
            <a:ext cx="2096826" cy="268708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hangingPunct="0"/>
            <a:r>
              <a:rPr lang="es-MX" sz="2000" b="1" i="1" dirty="0">
                <a:solidFill>
                  <a:srgbClr val="000000"/>
                </a:solidFill>
                <a:effectLst>
                  <a:outerShdw blurRad="38100" dist="38100" dir="2700000" algn="tl">
                    <a:srgbClr val="000000">
                      <a:alpha val="43137"/>
                    </a:srgbClr>
                  </a:outerShdw>
                </a:effectLst>
                <a:cs typeface="Arial" charset="0"/>
              </a:rPr>
              <a:t>Realizar limpieza de los sensores del equipo y verificar su correcto funcionamiento, probando el equipo.</a:t>
            </a:r>
            <a:endParaRPr lang="es-EC" sz="2000" b="1" i="1" dirty="0">
              <a:solidFill>
                <a:schemeClr val="tx1"/>
              </a:solidFill>
              <a:effectLst>
                <a:outerShdw blurRad="38100" dist="38100" dir="2700000" algn="tl">
                  <a:srgbClr val="000000">
                    <a:alpha val="43137"/>
                  </a:srgbClr>
                </a:outerShdw>
              </a:effectLst>
            </a:endParaRPr>
          </a:p>
        </p:txBody>
      </p:sp>
      <p:sp>
        <p:nvSpPr>
          <p:cNvPr id="13" name="12 Rectángulo"/>
          <p:cNvSpPr/>
          <p:nvPr/>
        </p:nvSpPr>
        <p:spPr>
          <a:xfrm>
            <a:off x="6876258" y="1839347"/>
            <a:ext cx="1584177" cy="545536"/>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sz="2000"/>
          </a:p>
        </p:txBody>
      </p:sp>
      <p:sp>
        <p:nvSpPr>
          <p:cNvPr id="14" name="13 CuadroTexto"/>
          <p:cNvSpPr txBox="1"/>
          <p:nvPr/>
        </p:nvSpPr>
        <p:spPr>
          <a:xfrm>
            <a:off x="6804251" y="1892440"/>
            <a:ext cx="1656184" cy="492443"/>
          </a:xfrm>
          <a:prstGeom prst="rect">
            <a:avLst/>
          </a:prstGeom>
          <a:noFill/>
        </p:spPr>
        <p:txBody>
          <a:bodyPr wrap="square" rtlCol="0">
            <a:spAutoFit/>
          </a:bodyPr>
          <a:lstStyle/>
          <a:p>
            <a:pPr algn="ctr"/>
            <a:r>
              <a:rPr lang="es-EC" sz="1300" b="1" i="1" dirty="0">
                <a:effectLst>
                  <a:outerShdw blurRad="38100" dist="38100" dir="2700000" algn="tl">
                    <a:srgbClr val="000000">
                      <a:alpha val="43137"/>
                    </a:srgbClr>
                  </a:outerShdw>
                </a:effectLst>
              </a:rPr>
              <a:t>Visual, probar equipo.</a:t>
            </a:r>
          </a:p>
        </p:txBody>
      </p:sp>
      <p:pic>
        <p:nvPicPr>
          <p:cNvPr id="15" name="Imagen 14">
            <a:extLst>
              <a:ext uri="{FF2B5EF4-FFF2-40B4-BE49-F238E27FC236}">
                <a16:creationId xmlns:a16="http://schemas.microsoft.com/office/drawing/2014/main" id="{2600ABA6-B116-44AC-8782-131EA14DEB25}"/>
              </a:ext>
            </a:extLst>
          </p:cNvPr>
          <p:cNvPicPr>
            <a:picLocks noChangeAspect="1"/>
          </p:cNvPicPr>
          <p:nvPr/>
        </p:nvPicPr>
        <p:blipFill rotWithShape="1">
          <a:blip r:embed="rId3"/>
          <a:srcRect l="73875" t="80478" r="19170" b="14443"/>
          <a:stretch/>
        </p:blipFill>
        <p:spPr>
          <a:xfrm>
            <a:off x="117916" y="115050"/>
            <a:ext cx="2437860"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3 Imagen">
            <a:extLst>
              <a:ext uri="{FF2B5EF4-FFF2-40B4-BE49-F238E27FC236}">
                <a16:creationId xmlns:a16="http://schemas.microsoft.com/office/drawing/2014/main" id="{48060ED2-4032-44C1-930F-B8CA69519EF2}"/>
              </a:ext>
            </a:extLst>
          </p:cNvPr>
          <p:cNvPicPr/>
          <p:nvPr/>
        </p:nvPicPr>
        <p:blipFill rotWithShape="1">
          <a:blip r:embed="rId4"/>
          <a:srcRect l="12940" r="12823" b="9145"/>
          <a:stretch/>
        </p:blipFill>
        <p:spPr>
          <a:xfrm>
            <a:off x="7205043" y="115050"/>
            <a:ext cx="1768041"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52064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extLst>
              <p:ext uri="{D42A27DB-BD31-4B8C-83A1-F6EECF244321}">
                <p14:modId xmlns:p14="http://schemas.microsoft.com/office/powerpoint/2010/main" val="1334370888"/>
              </p:ext>
            </p:extLst>
          </p:nvPr>
        </p:nvGraphicFramePr>
        <p:xfrm>
          <a:off x="107504" y="116632"/>
          <a:ext cx="8856984" cy="1326976"/>
        </p:xfrm>
        <a:graphic>
          <a:graphicData uri="http://schemas.openxmlformats.org/drawingml/2006/table">
            <a:tbl>
              <a:tblPr/>
              <a:tblGrid>
                <a:gridCol w="2429691">
                  <a:extLst>
                    <a:ext uri="{9D8B030D-6E8A-4147-A177-3AD203B41FA5}">
                      <a16:colId xmlns:a16="http://schemas.microsoft.com/office/drawing/2014/main" val="20000"/>
                    </a:ext>
                  </a:extLst>
                </a:gridCol>
                <a:gridCol w="4702747">
                  <a:extLst>
                    <a:ext uri="{9D8B030D-6E8A-4147-A177-3AD203B41FA5}">
                      <a16:colId xmlns:a16="http://schemas.microsoft.com/office/drawing/2014/main" val="20001"/>
                    </a:ext>
                  </a:extLst>
                </a:gridCol>
                <a:gridCol w="1724546">
                  <a:extLst>
                    <a:ext uri="{9D8B030D-6E8A-4147-A177-3AD203B41FA5}">
                      <a16:colId xmlns:a16="http://schemas.microsoft.com/office/drawing/2014/main" val="20002"/>
                    </a:ext>
                  </a:extLst>
                </a:gridCol>
              </a:tblGrid>
              <a:tr h="39467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s-BO" sz="1400" b="1" dirty="0">
                          <a:latin typeface="+mj-lt"/>
                        </a:rPr>
                        <a:t>OPL</a:t>
                      </a:r>
                      <a:r>
                        <a:rPr lang="es-BO" sz="1400" b="1" baseline="0" dirty="0">
                          <a:latin typeface="+mj-lt"/>
                        </a:rPr>
                        <a:t> – LECCION DE UN PUNTO</a:t>
                      </a:r>
                      <a:endParaRPr lang="es-BO" sz="1400" b="1" dirty="0">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300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pPr>
                      <a:r>
                        <a:rPr kumimoji="0" lang="es-ES_tradnl" sz="1000" b="1" i="0" u="none" strike="noStrike" cap="none" normalizeH="0" baseline="0" dirty="0">
                          <a:ln>
                            <a:noFill/>
                          </a:ln>
                          <a:solidFill>
                            <a:schemeClr val="tx1"/>
                          </a:solidFill>
                          <a:effectLst/>
                          <a:latin typeface="+mj-lt"/>
                          <a:ea typeface="Times New Roman" pitchFamily="18" charset="0"/>
                          <a:cs typeface="Arial" charset="0"/>
                        </a:rPr>
                        <a:t>Revisión</a:t>
                      </a:r>
                      <a:r>
                        <a:rPr kumimoji="0" lang="es-ES_tradnl" sz="1000" b="0" i="0" u="none" strike="noStrike" cap="none" normalizeH="0" baseline="0" dirty="0">
                          <a:ln>
                            <a:noFill/>
                          </a:ln>
                          <a:solidFill>
                            <a:schemeClr val="tx1"/>
                          </a:solidFill>
                          <a:effectLst/>
                          <a:latin typeface="+mj-lt"/>
                          <a:ea typeface="Times New Roman" pitchFamily="18" charset="0"/>
                          <a:cs typeface="Arial" charset="0"/>
                        </a:rPr>
                        <a:t>: 06</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1" i="0" u="none" strike="noStrike" cap="none" normalizeH="0" baseline="0" dirty="0">
                          <a:ln>
                            <a:noFill/>
                          </a:ln>
                          <a:solidFill>
                            <a:schemeClr val="tx1"/>
                          </a:solidFill>
                          <a:effectLst/>
                          <a:latin typeface="+mj-lt"/>
                          <a:cs typeface="Times New Roman" pitchFamily="18" charset="0"/>
                        </a:rPr>
                        <a:t>MANTENIMIENTO  AUTONOMO:</a:t>
                      </a:r>
                      <a:endParaRPr kumimoji="0" lang="es-ES_tradnl" sz="1000" b="1"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0" i="0" u="none" strike="noStrike" cap="none" normalizeH="0" baseline="0" dirty="0">
                          <a:ln>
                            <a:noFill/>
                          </a:ln>
                          <a:solidFill>
                            <a:schemeClr val="tx1"/>
                          </a:solidFill>
                          <a:effectLst/>
                          <a:latin typeface="+mj-lt"/>
                        </a:rPr>
                        <a:t>Condición Básica</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12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1" i="0" u="none" strike="noStrike" kern="1200" cap="none" normalizeH="0" baseline="0" dirty="0">
                          <a:ln>
                            <a:noFill/>
                          </a:ln>
                          <a:solidFill>
                            <a:schemeClr val="tx1"/>
                          </a:solidFill>
                          <a:effectLst/>
                          <a:latin typeface="+mj-lt"/>
                          <a:ea typeface="Times New Roman" pitchFamily="18" charset="0"/>
                          <a:cs typeface="Arial" charset="0"/>
                        </a:rPr>
                        <a:t>Código</a:t>
                      </a:r>
                      <a:r>
                        <a:rPr kumimoji="0" lang="es-ES_tradnl" sz="1000" b="0" i="0" u="none" strike="noStrike" kern="1200" cap="none" normalizeH="0" baseline="0" dirty="0">
                          <a:ln>
                            <a:noFill/>
                          </a:ln>
                          <a:solidFill>
                            <a:schemeClr val="tx1"/>
                          </a:solidFill>
                          <a:effectLst/>
                          <a:latin typeface="+mj-lt"/>
                          <a:ea typeface="Times New Roman" pitchFamily="18" charset="0"/>
                          <a:cs typeface="Arial" charset="0"/>
                        </a:rPr>
                        <a:t>:</a:t>
                      </a:r>
                      <a:r>
                        <a:rPr kumimoji="0" lang="es-ES_tradnl" sz="900" b="0" i="0" u="none" strike="noStrike" kern="1200" cap="none" normalizeH="0" baseline="0" dirty="0">
                          <a:ln>
                            <a:noFill/>
                          </a:ln>
                          <a:solidFill>
                            <a:schemeClr val="tx1"/>
                          </a:solidFill>
                          <a:effectLst/>
                          <a:latin typeface="+mj-lt"/>
                          <a:ea typeface="Times New Roman" pitchFamily="18" charset="0"/>
                          <a:cs typeface="Arial" charset="0"/>
                        </a:rPr>
                        <a:t> </a:t>
                      </a:r>
                      <a:r>
                        <a:rPr kumimoji="0" lang="es-AR" sz="900" b="0" i="0" u="none" strike="noStrike" kern="1200" cap="none" normalizeH="0" baseline="0" dirty="0">
                          <a:ln>
                            <a:noFill/>
                          </a:ln>
                          <a:solidFill>
                            <a:srgbClr val="000000"/>
                          </a:solidFill>
                          <a:effectLst/>
                          <a:latin typeface="+mn-lt"/>
                          <a:ea typeface="+mn-ea"/>
                          <a:cs typeface="+mn-cs"/>
                        </a:rPr>
                        <a:t>OPL-PACK-ENCA-06</a:t>
                      </a:r>
                      <a:endParaRPr kumimoji="0" lang="es-ES" sz="900" b="0" i="0" u="none" strike="noStrike" kern="1200" cap="none" normalizeH="0" baseline="0" dirty="0">
                        <a:ln>
                          <a:noFill/>
                        </a:ln>
                        <a:solidFill>
                          <a:srgbClr val="000000"/>
                        </a:solidFill>
                        <a:effectLst/>
                        <a:latin typeface="+mn-lt"/>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lang="es-BO" sz="1000" b="0" i="0" u="none" strike="noStrike" kern="1200" dirty="0">
                          <a:solidFill>
                            <a:schemeClr val="tx1"/>
                          </a:solidFill>
                          <a:effectLst/>
                          <a:latin typeface="+mn-lt"/>
                          <a:ea typeface="+mn-ea"/>
                          <a:cs typeface="+mn-cs"/>
                        </a:rPr>
                        <a:t>Tema:</a:t>
                      </a:r>
                      <a:r>
                        <a:rPr lang="es-BO" sz="1000" b="0" i="0" u="none" strike="noStrike" kern="1200" baseline="0" dirty="0">
                          <a:solidFill>
                            <a:schemeClr val="tx1"/>
                          </a:solidFill>
                          <a:effectLst/>
                          <a:latin typeface="+mn-lt"/>
                          <a:ea typeface="+mn-ea"/>
                          <a:cs typeface="+mn-cs"/>
                        </a:rPr>
                        <a:t> Limpieza de los rodillos del checkmat</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0" i="0" u="none" strike="noStrike" kern="1200" cap="none" normalizeH="0" baseline="0" dirty="0">
                          <a:ln>
                            <a:noFill/>
                          </a:ln>
                          <a:solidFill>
                            <a:schemeClr val="tx1"/>
                          </a:solidFill>
                          <a:effectLst/>
                          <a:latin typeface="+mn-lt"/>
                          <a:ea typeface="+mn-ea"/>
                          <a:cs typeface="Times New Roman" pitchFamily="18" charset="0"/>
                        </a:rPr>
                        <a:t>Fecha:</a:t>
                      </a:r>
                      <a:r>
                        <a:rPr kumimoji="0" lang="es-ES_tradnl" sz="1000" b="0" i="0" u="none" strike="noStrike" kern="1200" cap="none" normalizeH="0" baseline="0" dirty="0">
                          <a:ln>
                            <a:noFill/>
                          </a:ln>
                          <a:solidFill>
                            <a:schemeClr val="tx1"/>
                          </a:solidFill>
                          <a:effectLst/>
                          <a:latin typeface="+mn-lt"/>
                          <a:ea typeface="+mn-ea"/>
                          <a:cs typeface="+mn-cs"/>
                        </a:rPr>
                        <a:t>   01/02/2016   </a:t>
                      </a:r>
                      <a:endParaRPr kumimoji="0" lang="es-ES_tradnl" sz="1000" b="0"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37">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defRPr/>
                      </a:pPr>
                      <a:r>
                        <a:rPr kumimoji="0" lang="es-ES" sz="1000" b="1" i="0" u="none" strike="noStrike" kern="1200" cap="none" normalizeH="0" baseline="0" dirty="0">
                          <a:ln>
                            <a:noFill/>
                          </a:ln>
                          <a:solidFill>
                            <a:schemeClr val="tx1"/>
                          </a:solidFill>
                          <a:effectLst/>
                          <a:latin typeface="+mj-lt"/>
                          <a:ea typeface="+mn-ea"/>
                          <a:cs typeface="Times New Roman" pitchFamily="18" charset="0"/>
                        </a:rPr>
                        <a:t>Objetivo: Aprender a realizar la limpieza de los rodillos del checkmat </a:t>
                      </a:r>
                      <a:endParaRPr kumimoji="0" lang="es-ES" sz="1000" b="0" i="0" u="none" strike="noStrike" kern="1200" cap="none" normalizeH="0" baseline="0" dirty="0">
                        <a:ln>
                          <a:noFill/>
                        </a:ln>
                        <a:solidFill>
                          <a:schemeClr val="tx1"/>
                        </a:solidFill>
                        <a:effectLst/>
                        <a:latin typeface="Arial" charset="0"/>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BO"/>
                    </a:p>
                  </a:txBody>
                  <a:tcPr/>
                </a:tc>
                <a:extLst>
                  <a:ext uri="{0D108BD9-81ED-4DB2-BD59-A6C34878D82A}">
                    <a16:rowId xmlns:a16="http://schemas.microsoft.com/office/drawing/2014/main" val="10003"/>
                  </a:ext>
                </a:extLst>
              </a:tr>
            </a:tbl>
          </a:graphicData>
        </a:graphic>
      </p:graphicFrame>
      <p:graphicFrame>
        <p:nvGraphicFramePr>
          <p:cNvPr id="3" name="2 Tabla"/>
          <p:cNvGraphicFramePr>
            <a:graphicFrameLocks noGrp="1"/>
          </p:cNvGraphicFramePr>
          <p:nvPr>
            <p:extLst>
              <p:ext uri="{D42A27DB-BD31-4B8C-83A1-F6EECF244321}">
                <p14:modId xmlns:p14="http://schemas.microsoft.com/office/powerpoint/2010/main" val="1980117208"/>
              </p:ext>
            </p:extLst>
          </p:nvPr>
        </p:nvGraphicFramePr>
        <p:xfrm>
          <a:off x="106555" y="6309320"/>
          <a:ext cx="8929941" cy="469596"/>
        </p:xfrm>
        <a:graphic>
          <a:graphicData uri="http://schemas.openxmlformats.org/drawingml/2006/table">
            <a:tbl>
              <a:tblPr/>
              <a:tblGrid>
                <a:gridCol w="3018989">
                  <a:extLst>
                    <a:ext uri="{9D8B030D-6E8A-4147-A177-3AD203B41FA5}">
                      <a16:colId xmlns:a16="http://schemas.microsoft.com/office/drawing/2014/main" val="20000"/>
                    </a:ext>
                  </a:extLst>
                </a:gridCol>
                <a:gridCol w="2954606">
                  <a:extLst>
                    <a:ext uri="{9D8B030D-6E8A-4147-A177-3AD203B41FA5}">
                      <a16:colId xmlns:a16="http://schemas.microsoft.com/office/drawing/2014/main" val="20001"/>
                    </a:ext>
                  </a:extLst>
                </a:gridCol>
                <a:gridCol w="2956346">
                  <a:extLst>
                    <a:ext uri="{9D8B030D-6E8A-4147-A177-3AD203B41FA5}">
                      <a16:colId xmlns:a16="http://schemas.microsoft.com/office/drawing/2014/main" val="20002"/>
                    </a:ext>
                  </a:extLst>
                </a:gridCol>
              </a:tblGrid>
              <a:tr h="241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Preparó: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Revisó: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Aprobó: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50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Carlos Córdova </a:t>
                      </a:r>
                      <a:endParaRPr kumimoji="0" lang="es-ES_tradnl" sz="900" b="0"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Ing. Cesar Brocel</a:t>
                      </a:r>
                      <a:endParaRPr kumimoji="0" lang="es-ES_tradnl" sz="900" b="1" i="0" u="none" strike="noStrike" kern="1200" cap="none" normalizeH="0" baseline="0" dirty="0">
                        <a:ln>
                          <a:noFill/>
                        </a:ln>
                        <a:solidFill>
                          <a:schemeClr val="tx1"/>
                        </a:solidFill>
                        <a:effectLst/>
                        <a:latin typeface="+mn-lt"/>
                        <a:ea typeface="+mn-ea"/>
                        <a:cs typeface="+mn-cs"/>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rPr>
                        <a:t>Ing. Cesar Brocel</a:t>
                      </a: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5 CuadroTexto"/>
          <p:cNvSpPr txBox="1"/>
          <p:nvPr/>
        </p:nvSpPr>
        <p:spPr>
          <a:xfrm>
            <a:off x="6804251" y="5733256"/>
            <a:ext cx="2096826"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Semanal</a:t>
            </a:r>
          </a:p>
        </p:txBody>
      </p:sp>
      <p:sp>
        <p:nvSpPr>
          <p:cNvPr id="7" name="6 CuadroTexto"/>
          <p:cNvSpPr txBox="1"/>
          <p:nvPr/>
        </p:nvSpPr>
        <p:spPr>
          <a:xfrm>
            <a:off x="5004047" y="5731282"/>
            <a:ext cx="1584178"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Frecuencia</a:t>
            </a:r>
          </a:p>
        </p:txBody>
      </p:sp>
      <p:pic>
        <p:nvPicPr>
          <p:cNvPr id="8"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576" y="3501008"/>
            <a:ext cx="1363118" cy="135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sp>
        <p:nvSpPr>
          <p:cNvPr id="9" name="8 CuadroTexto"/>
          <p:cNvSpPr txBox="1"/>
          <p:nvPr/>
        </p:nvSpPr>
        <p:spPr>
          <a:xfrm>
            <a:off x="5220072" y="1909447"/>
            <a:ext cx="1656184" cy="369332"/>
          </a:xfrm>
          <a:prstGeom prst="rect">
            <a:avLst/>
          </a:prstGeom>
          <a:noFill/>
        </p:spPr>
        <p:txBody>
          <a:bodyPr wrap="square" rtlCol="0">
            <a:spAutoFit/>
          </a:bodyPr>
          <a:lstStyle/>
          <a:p>
            <a:r>
              <a:rPr lang="es-EC" b="1" i="1" dirty="0">
                <a:effectLst>
                  <a:outerShdw blurRad="38100" dist="38100" dir="2700000" algn="tl">
                    <a:srgbClr val="000000">
                      <a:alpha val="43137"/>
                    </a:srgbClr>
                  </a:outerShdw>
                </a:effectLst>
              </a:rPr>
              <a:t>Materiales</a:t>
            </a:r>
          </a:p>
        </p:txBody>
      </p:sp>
      <p:sp>
        <p:nvSpPr>
          <p:cNvPr id="10" name="9 Rectángulo"/>
          <p:cNvSpPr/>
          <p:nvPr/>
        </p:nvSpPr>
        <p:spPr>
          <a:xfrm>
            <a:off x="5004047" y="1839347"/>
            <a:ext cx="1584177" cy="554230"/>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1" name="10 Rectángulo"/>
          <p:cNvSpPr/>
          <p:nvPr/>
        </p:nvSpPr>
        <p:spPr>
          <a:xfrm>
            <a:off x="5004047" y="2758143"/>
            <a:ext cx="1584177" cy="44841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b="1" i="1" dirty="0">
                <a:solidFill>
                  <a:schemeClr val="tx1"/>
                </a:solidFill>
                <a:effectLst>
                  <a:outerShdw blurRad="38100" dist="38100" dir="2700000" algn="tl">
                    <a:srgbClr val="000000">
                      <a:alpha val="43137"/>
                    </a:srgbClr>
                  </a:outerShdw>
                </a:effectLst>
              </a:rPr>
              <a:t>Trabajos a ejecutar</a:t>
            </a:r>
          </a:p>
        </p:txBody>
      </p:sp>
      <p:sp>
        <p:nvSpPr>
          <p:cNvPr id="12" name="11 Rectángulo"/>
          <p:cNvSpPr/>
          <p:nvPr/>
        </p:nvSpPr>
        <p:spPr>
          <a:xfrm>
            <a:off x="6804251" y="2758143"/>
            <a:ext cx="2096826" cy="268708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0" hangingPunct="0"/>
            <a:r>
              <a:rPr lang="es-MX" sz="2000" b="1" i="1" dirty="0">
                <a:solidFill>
                  <a:srgbClr val="000000"/>
                </a:solidFill>
                <a:effectLst>
                  <a:outerShdw blurRad="38100" dist="38100" dir="2700000" algn="tl">
                    <a:srgbClr val="000000">
                      <a:alpha val="43137"/>
                    </a:srgbClr>
                  </a:outerShdw>
                </a:effectLst>
                <a:cs typeface="Arial" charset="0"/>
              </a:rPr>
              <a:t>Realizar limpieza de los rodillos, utilizando una manguera a presión para quitar la suciedad que tenga incrustada.</a:t>
            </a:r>
            <a:endParaRPr lang="es-EC" sz="2000" b="1" i="1" dirty="0">
              <a:solidFill>
                <a:schemeClr val="tx1"/>
              </a:solidFill>
              <a:effectLst>
                <a:outerShdw blurRad="38100" dist="38100" dir="2700000" algn="tl">
                  <a:srgbClr val="000000">
                    <a:alpha val="43137"/>
                  </a:srgbClr>
                </a:outerShdw>
              </a:effectLst>
            </a:endParaRPr>
          </a:p>
        </p:txBody>
      </p:sp>
      <p:sp>
        <p:nvSpPr>
          <p:cNvPr id="13" name="12 Rectángulo"/>
          <p:cNvSpPr/>
          <p:nvPr/>
        </p:nvSpPr>
        <p:spPr>
          <a:xfrm>
            <a:off x="6876258" y="1839347"/>
            <a:ext cx="1584177" cy="545536"/>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sz="2800"/>
          </a:p>
        </p:txBody>
      </p:sp>
      <p:sp>
        <p:nvSpPr>
          <p:cNvPr id="14" name="13 CuadroTexto"/>
          <p:cNvSpPr txBox="1"/>
          <p:nvPr/>
        </p:nvSpPr>
        <p:spPr>
          <a:xfrm>
            <a:off x="6804251" y="1892440"/>
            <a:ext cx="1656184" cy="400110"/>
          </a:xfrm>
          <a:prstGeom prst="rect">
            <a:avLst/>
          </a:prstGeom>
          <a:noFill/>
        </p:spPr>
        <p:txBody>
          <a:bodyPr wrap="square" rtlCol="0">
            <a:spAutoFit/>
          </a:bodyPr>
          <a:lstStyle/>
          <a:p>
            <a:pPr algn="ctr"/>
            <a:r>
              <a:rPr lang="es-EC" sz="2000" b="1" i="1" dirty="0">
                <a:effectLst>
                  <a:outerShdw blurRad="38100" dist="38100" dir="2700000" algn="tl">
                    <a:srgbClr val="000000">
                      <a:alpha val="43137"/>
                    </a:srgbClr>
                  </a:outerShdw>
                </a:effectLst>
              </a:rPr>
              <a:t>Agua</a:t>
            </a:r>
          </a:p>
        </p:txBody>
      </p:sp>
      <p:pic>
        <p:nvPicPr>
          <p:cNvPr id="1026" name="Picture 2" descr="C:\Users\ecccordova\AppData\Local\Microsoft\Windows\Temporary Internet Files\Content.Outlook\CIH1JWA1\20160125_144531_resized.jpg"/>
          <p:cNvPicPr>
            <a:picLocks noChangeAspect="1" noChangeArrowheads="1"/>
          </p:cNvPicPr>
          <p:nvPr/>
        </p:nvPicPr>
        <p:blipFill rotWithShape="1">
          <a:blip r:embed="rId3">
            <a:extLst>
              <a:ext uri="{28A0092B-C50C-407E-A947-70E740481C1C}">
                <a14:useLocalDpi xmlns:a14="http://schemas.microsoft.com/office/drawing/2010/main" val="0"/>
              </a:ext>
            </a:extLst>
          </a:blip>
          <a:srcRect l="7968" t="3416" r="8339" b="14120"/>
          <a:stretch/>
        </p:blipFill>
        <p:spPr bwMode="auto">
          <a:xfrm>
            <a:off x="539552" y="1839347"/>
            <a:ext cx="4032448" cy="38408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6" name="Imagen 15">
            <a:extLst>
              <a:ext uri="{FF2B5EF4-FFF2-40B4-BE49-F238E27FC236}">
                <a16:creationId xmlns:a16="http://schemas.microsoft.com/office/drawing/2014/main" id="{1CCA15A7-D445-43BF-A94B-DFD0B9B9661D}"/>
              </a:ext>
            </a:extLst>
          </p:cNvPr>
          <p:cNvPicPr>
            <a:picLocks noChangeAspect="1"/>
          </p:cNvPicPr>
          <p:nvPr/>
        </p:nvPicPr>
        <p:blipFill rotWithShape="1">
          <a:blip r:embed="rId4"/>
          <a:srcRect l="73875" t="80478" r="19170" b="14443"/>
          <a:stretch/>
        </p:blipFill>
        <p:spPr>
          <a:xfrm>
            <a:off x="117916" y="115050"/>
            <a:ext cx="2437860"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3 Imagen">
            <a:extLst>
              <a:ext uri="{FF2B5EF4-FFF2-40B4-BE49-F238E27FC236}">
                <a16:creationId xmlns:a16="http://schemas.microsoft.com/office/drawing/2014/main" id="{81045F81-75F5-4EA5-AA37-E87BE28C5654}"/>
              </a:ext>
            </a:extLst>
          </p:cNvPr>
          <p:cNvPicPr/>
          <p:nvPr/>
        </p:nvPicPr>
        <p:blipFill rotWithShape="1">
          <a:blip r:embed="rId5"/>
          <a:srcRect l="12940" r="12823" b="9145"/>
          <a:stretch/>
        </p:blipFill>
        <p:spPr>
          <a:xfrm>
            <a:off x="7205043" y="115050"/>
            <a:ext cx="1768041"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51311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extLst>
              <p:ext uri="{D42A27DB-BD31-4B8C-83A1-F6EECF244321}">
                <p14:modId xmlns:p14="http://schemas.microsoft.com/office/powerpoint/2010/main" val="857395298"/>
              </p:ext>
            </p:extLst>
          </p:nvPr>
        </p:nvGraphicFramePr>
        <p:xfrm>
          <a:off x="107504" y="116632"/>
          <a:ext cx="8856984" cy="1326976"/>
        </p:xfrm>
        <a:graphic>
          <a:graphicData uri="http://schemas.openxmlformats.org/drawingml/2006/table">
            <a:tbl>
              <a:tblPr/>
              <a:tblGrid>
                <a:gridCol w="2429691">
                  <a:extLst>
                    <a:ext uri="{9D8B030D-6E8A-4147-A177-3AD203B41FA5}">
                      <a16:colId xmlns:a16="http://schemas.microsoft.com/office/drawing/2014/main" val="20000"/>
                    </a:ext>
                  </a:extLst>
                </a:gridCol>
                <a:gridCol w="4702747">
                  <a:extLst>
                    <a:ext uri="{9D8B030D-6E8A-4147-A177-3AD203B41FA5}">
                      <a16:colId xmlns:a16="http://schemas.microsoft.com/office/drawing/2014/main" val="20001"/>
                    </a:ext>
                  </a:extLst>
                </a:gridCol>
                <a:gridCol w="1724546">
                  <a:extLst>
                    <a:ext uri="{9D8B030D-6E8A-4147-A177-3AD203B41FA5}">
                      <a16:colId xmlns:a16="http://schemas.microsoft.com/office/drawing/2014/main" val="20002"/>
                    </a:ext>
                  </a:extLst>
                </a:gridCol>
              </a:tblGrid>
              <a:tr h="39467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s-BO" sz="1400" b="1" dirty="0">
                          <a:latin typeface="+mj-lt"/>
                        </a:rPr>
                        <a:t>OPL</a:t>
                      </a:r>
                      <a:r>
                        <a:rPr lang="es-BO" sz="1400" b="1" baseline="0" dirty="0">
                          <a:latin typeface="+mj-lt"/>
                        </a:rPr>
                        <a:t> – LECCION DE UN PUNTO</a:t>
                      </a:r>
                      <a:endParaRPr lang="es-BO" sz="1400" b="1" dirty="0">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300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pPr>
                      <a:r>
                        <a:rPr kumimoji="0" lang="es-ES_tradnl" sz="1000" b="1" i="0" u="none" strike="noStrike" cap="none" normalizeH="0" baseline="0" dirty="0">
                          <a:ln>
                            <a:noFill/>
                          </a:ln>
                          <a:solidFill>
                            <a:schemeClr val="tx1"/>
                          </a:solidFill>
                          <a:effectLst/>
                          <a:latin typeface="+mj-lt"/>
                          <a:ea typeface="Times New Roman" pitchFamily="18" charset="0"/>
                          <a:cs typeface="Arial" charset="0"/>
                        </a:rPr>
                        <a:t>Revisión</a:t>
                      </a:r>
                      <a:r>
                        <a:rPr kumimoji="0" lang="es-ES_tradnl" sz="1000" b="0" i="0" u="none" strike="noStrike" cap="none" normalizeH="0" baseline="0" dirty="0">
                          <a:ln>
                            <a:noFill/>
                          </a:ln>
                          <a:solidFill>
                            <a:schemeClr val="tx1"/>
                          </a:solidFill>
                          <a:effectLst/>
                          <a:latin typeface="+mj-lt"/>
                          <a:ea typeface="Times New Roman" pitchFamily="18" charset="0"/>
                          <a:cs typeface="Arial" charset="0"/>
                        </a:rPr>
                        <a:t>: 07</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1" i="0" u="none" strike="noStrike" cap="none" normalizeH="0" baseline="0" dirty="0">
                          <a:ln>
                            <a:noFill/>
                          </a:ln>
                          <a:solidFill>
                            <a:schemeClr val="tx1"/>
                          </a:solidFill>
                          <a:effectLst/>
                          <a:latin typeface="+mj-lt"/>
                          <a:cs typeface="Times New Roman" pitchFamily="18" charset="0"/>
                        </a:rPr>
                        <a:t>MANTENIMIENTO  AUTONOMO:</a:t>
                      </a:r>
                      <a:endParaRPr kumimoji="0" lang="es-ES_tradnl" sz="1000" b="1"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0" i="0" u="none" strike="noStrike" cap="none" normalizeH="0" baseline="0" dirty="0">
                          <a:ln>
                            <a:noFill/>
                          </a:ln>
                          <a:solidFill>
                            <a:schemeClr val="tx1"/>
                          </a:solidFill>
                          <a:effectLst/>
                          <a:latin typeface="+mj-lt"/>
                        </a:rPr>
                        <a:t>Condición Básica</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12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1" i="0" u="none" strike="noStrike" kern="1200" cap="none" normalizeH="0" baseline="0" dirty="0">
                          <a:ln>
                            <a:noFill/>
                          </a:ln>
                          <a:solidFill>
                            <a:schemeClr val="tx1"/>
                          </a:solidFill>
                          <a:effectLst/>
                          <a:latin typeface="+mj-lt"/>
                          <a:ea typeface="Times New Roman" pitchFamily="18" charset="0"/>
                          <a:cs typeface="Arial" charset="0"/>
                        </a:rPr>
                        <a:t>Código</a:t>
                      </a:r>
                      <a:r>
                        <a:rPr kumimoji="0" lang="es-ES_tradnl" sz="1000" b="0" i="0" u="none" strike="noStrike" kern="1200" cap="none" normalizeH="0" baseline="0" dirty="0">
                          <a:ln>
                            <a:noFill/>
                          </a:ln>
                          <a:solidFill>
                            <a:schemeClr val="tx1"/>
                          </a:solidFill>
                          <a:effectLst/>
                          <a:latin typeface="+mj-lt"/>
                          <a:ea typeface="Times New Roman" pitchFamily="18" charset="0"/>
                          <a:cs typeface="Arial" charset="0"/>
                        </a:rPr>
                        <a:t>:</a:t>
                      </a:r>
                      <a:r>
                        <a:rPr kumimoji="0" lang="es-ES_tradnl" sz="900" b="0" i="0" u="none" strike="noStrike" kern="1200" cap="none" normalizeH="0" baseline="0" dirty="0">
                          <a:ln>
                            <a:noFill/>
                          </a:ln>
                          <a:solidFill>
                            <a:schemeClr val="tx1"/>
                          </a:solidFill>
                          <a:effectLst/>
                          <a:latin typeface="+mj-lt"/>
                          <a:ea typeface="Times New Roman" pitchFamily="18" charset="0"/>
                          <a:cs typeface="Arial" charset="0"/>
                        </a:rPr>
                        <a:t> </a:t>
                      </a:r>
                      <a:r>
                        <a:rPr kumimoji="0" lang="es-AR" sz="900" b="0" i="0" u="none" strike="noStrike" kern="1200" cap="none" normalizeH="0" baseline="0" dirty="0">
                          <a:ln>
                            <a:noFill/>
                          </a:ln>
                          <a:solidFill>
                            <a:srgbClr val="000000"/>
                          </a:solidFill>
                          <a:effectLst/>
                          <a:latin typeface="+mn-lt"/>
                          <a:ea typeface="+mn-ea"/>
                          <a:cs typeface="+mn-cs"/>
                        </a:rPr>
                        <a:t>OPL-PACK-ENCA-07</a:t>
                      </a:r>
                      <a:endParaRPr kumimoji="0" lang="es-ES" sz="900" b="0" i="0" u="none" strike="noStrike" kern="1200" cap="none" normalizeH="0" baseline="0" dirty="0">
                        <a:ln>
                          <a:noFill/>
                        </a:ln>
                        <a:solidFill>
                          <a:srgbClr val="000000"/>
                        </a:solidFill>
                        <a:effectLst/>
                        <a:latin typeface="+mn-lt"/>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lang="es-BO" sz="1000" b="0" i="0" u="none" strike="noStrike" kern="1200" dirty="0">
                          <a:solidFill>
                            <a:schemeClr val="tx1"/>
                          </a:solidFill>
                          <a:effectLst/>
                          <a:latin typeface="+mn-lt"/>
                          <a:ea typeface="+mn-ea"/>
                          <a:cs typeface="+mn-cs"/>
                        </a:rPr>
                        <a:t>Tema:</a:t>
                      </a:r>
                      <a:r>
                        <a:rPr lang="es-BO" sz="1000" b="0" i="0" u="none" strike="noStrike" kern="1200" baseline="0" dirty="0">
                          <a:solidFill>
                            <a:schemeClr val="tx1"/>
                          </a:solidFill>
                          <a:effectLst/>
                          <a:latin typeface="+mn-lt"/>
                          <a:ea typeface="+mn-ea"/>
                          <a:cs typeface="+mn-cs"/>
                        </a:rPr>
                        <a:t> Limpieza de canaletas</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0" i="0" u="none" strike="noStrike" kern="1200" cap="none" normalizeH="0" baseline="0" dirty="0">
                          <a:ln>
                            <a:noFill/>
                          </a:ln>
                          <a:solidFill>
                            <a:schemeClr val="tx1"/>
                          </a:solidFill>
                          <a:effectLst/>
                          <a:latin typeface="+mn-lt"/>
                          <a:ea typeface="+mn-ea"/>
                          <a:cs typeface="Times New Roman" pitchFamily="18" charset="0"/>
                        </a:rPr>
                        <a:t>Fecha:</a:t>
                      </a:r>
                      <a:r>
                        <a:rPr kumimoji="0" lang="es-ES_tradnl" sz="1000" b="0" i="0" u="none" strike="noStrike" kern="1200" cap="none" normalizeH="0" baseline="0" dirty="0">
                          <a:ln>
                            <a:noFill/>
                          </a:ln>
                          <a:solidFill>
                            <a:schemeClr val="tx1"/>
                          </a:solidFill>
                          <a:effectLst/>
                          <a:latin typeface="+mn-lt"/>
                          <a:ea typeface="+mn-ea"/>
                          <a:cs typeface="+mn-cs"/>
                        </a:rPr>
                        <a:t>   01/02/2016   </a:t>
                      </a:r>
                      <a:endParaRPr kumimoji="0" lang="es-ES_tradnl" sz="1000" b="0"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37">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defRPr/>
                      </a:pPr>
                      <a:r>
                        <a:rPr kumimoji="0" lang="es-ES" sz="1000" b="1" i="0" u="none" strike="noStrike" kern="1200" cap="none" normalizeH="0" baseline="0" dirty="0">
                          <a:ln>
                            <a:noFill/>
                          </a:ln>
                          <a:solidFill>
                            <a:schemeClr val="tx1"/>
                          </a:solidFill>
                          <a:effectLst/>
                          <a:latin typeface="+mj-lt"/>
                          <a:ea typeface="+mn-ea"/>
                          <a:cs typeface="Times New Roman" pitchFamily="18" charset="0"/>
                        </a:rPr>
                        <a:t>Objetivo: Aprender a realizar la limpieza de las canaletas.</a:t>
                      </a:r>
                      <a:endParaRPr kumimoji="0" lang="es-ES" sz="1000" b="0" i="0" u="none" strike="noStrike" kern="1200" cap="none" normalizeH="0" baseline="0" dirty="0">
                        <a:ln>
                          <a:noFill/>
                        </a:ln>
                        <a:solidFill>
                          <a:schemeClr val="tx1"/>
                        </a:solidFill>
                        <a:effectLst/>
                        <a:latin typeface="Arial" charset="0"/>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BO"/>
                    </a:p>
                  </a:txBody>
                  <a:tcPr/>
                </a:tc>
                <a:extLst>
                  <a:ext uri="{0D108BD9-81ED-4DB2-BD59-A6C34878D82A}">
                    <a16:rowId xmlns:a16="http://schemas.microsoft.com/office/drawing/2014/main" val="10003"/>
                  </a:ext>
                </a:extLst>
              </a:tr>
            </a:tbl>
          </a:graphicData>
        </a:graphic>
      </p:graphicFrame>
      <p:sp>
        <p:nvSpPr>
          <p:cNvPr id="5" name="4 CuadroTexto"/>
          <p:cNvSpPr txBox="1"/>
          <p:nvPr/>
        </p:nvSpPr>
        <p:spPr>
          <a:xfrm>
            <a:off x="6804251" y="5733256"/>
            <a:ext cx="2096826"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Quincenal</a:t>
            </a:r>
          </a:p>
        </p:txBody>
      </p:sp>
      <p:sp>
        <p:nvSpPr>
          <p:cNvPr id="6" name="5 CuadroTexto"/>
          <p:cNvSpPr txBox="1"/>
          <p:nvPr/>
        </p:nvSpPr>
        <p:spPr>
          <a:xfrm>
            <a:off x="5004047" y="5731282"/>
            <a:ext cx="1584178"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Frecuencia</a:t>
            </a:r>
          </a:p>
        </p:txBody>
      </p:sp>
      <p:pic>
        <p:nvPicPr>
          <p:cNvPr id="7"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576" y="3501008"/>
            <a:ext cx="1363118" cy="135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sp>
        <p:nvSpPr>
          <p:cNvPr id="8" name="7 CuadroTexto"/>
          <p:cNvSpPr txBox="1"/>
          <p:nvPr/>
        </p:nvSpPr>
        <p:spPr>
          <a:xfrm>
            <a:off x="5220072" y="1909447"/>
            <a:ext cx="1656184" cy="369332"/>
          </a:xfrm>
          <a:prstGeom prst="rect">
            <a:avLst/>
          </a:prstGeom>
          <a:noFill/>
        </p:spPr>
        <p:txBody>
          <a:bodyPr wrap="square" rtlCol="0">
            <a:spAutoFit/>
          </a:bodyPr>
          <a:lstStyle/>
          <a:p>
            <a:r>
              <a:rPr lang="es-EC" b="1" i="1" dirty="0">
                <a:effectLst>
                  <a:outerShdw blurRad="38100" dist="38100" dir="2700000" algn="tl">
                    <a:srgbClr val="000000">
                      <a:alpha val="43137"/>
                    </a:srgbClr>
                  </a:outerShdw>
                </a:effectLst>
              </a:rPr>
              <a:t>Materiales</a:t>
            </a:r>
          </a:p>
        </p:txBody>
      </p:sp>
      <p:sp>
        <p:nvSpPr>
          <p:cNvPr id="9" name="8 Rectángulo"/>
          <p:cNvSpPr/>
          <p:nvPr/>
        </p:nvSpPr>
        <p:spPr>
          <a:xfrm>
            <a:off x="5004047" y="1839347"/>
            <a:ext cx="1584177" cy="554230"/>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0" name="9 Rectángulo"/>
          <p:cNvSpPr/>
          <p:nvPr/>
        </p:nvSpPr>
        <p:spPr>
          <a:xfrm>
            <a:off x="5004047" y="2828460"/>
            <a:ext cx="1584177" cy="44841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b="1" i="1" dirty="0">
                <a:solidFill>
                  <a:schemeClr val="tx1"/>
                </a:solidFill>
                <a:effectLst>
                  <a:outerShdw blurRad="38100" dist="38100" dir="2700000" algn="tl">
                    <a:srgbClr val="000000">
                      <a:alpha val="43137"/>
                    </a:srgbClr>
                  </a:outerShdw>
                </a:effectLst>
              </a:rPr>
              <a:t>Trabajos a ejecutar</a:t>
            </a:r>
          </a:p>
        </p:txBody>
      </p:sp>
      <p:sp>
        <p:nvSpPr>
          <p:cNvPr id="12" name="11 Rectángulo"/>
          <p:cNvSpPr/>
          <p:nvPr/>
        </p:nvSpPr>
        <p:spPr>
          <a:xfrm>
            <a:off x="6876258" y="1839347"/>
            <a:ext cx="1584177" cy="545536"/>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sz="2800"/>
          </a:p>
        </p:txBody>
      </p:sp>
      <p:sp>
        <p:nvSpPr>
          <p:cNvPr id="13" name="12 CuadroTexto"/>
          <p:cNvSpPr txBox="1"/>
          <p:nvPr/>
        </p:nvSpPr>
        <p:spPr>
          <a:xfrm>
            <a:off x="6804251" y="1892440"/>
            <a:ext cx="1656184" cy="430887"/>
          </a:xfrm>
          <a:prstGeom prst="rect">
            <a:avLst/>
          </a:prstGeom>
          <a:noFill/>
        </p:spPr>
        <p:txBody>
          <a:bodyPr wrap="square" rtlCol="0">
            <a:spAutoFit/>
          </a:bodyPr>
          <a:lstStyle/>
          <a:p>
            <a:pPr algn="ctr"/>
            <a:r>
              <a:rPr lang="es-EC" sz="1100" b="1" i="1" dirty="0">
                <a:effectLst>
                  <a:outerShdw blurRad="38100" dist="38100" dir="2700000" algn="tl">
                    <a:srgbClr val="000000">
                      <a:alpha val="43137"/>
                    </a:srgbClr>
                  </a:outerShdw>
                </a:effectLst>
              </a:rPr>
              <a:t>Agua, scocht brite, detergente, yellow pine</a:t>
            </a:r>
          </a:p>
        </p:txBody>
      </p:sp>
      <p:sp>
        <p:nvSpPr>
          <p:cNvPr id="14" name="13 CuadroTexto"/>
          <p:cNvSpPr txBox="1"/>
          <p:nvPr/>
        </p:nvSpPr>
        <p:spPr>
          <a:xfrm>
            <a:off x="6948264" y="2828460"/>
            <a:ext cx="1872208" cy="2462213"/>
          </a:xfrm>
          <a:prstGeom prst="rect">
            <a:avLst/>
          </a:prstGeom>
          <a:noFill/>
          <a:ln w="28575">
            <a:solidFill>
              <a:schemeClr val="accent3">
                <a:lumMod val="50000"/>
              </a:schemeClr>
            </a:solidFill>
          </a:ln>
        </p:spPr>
        <p:txBody>
          <a:bodyPr wrap="square" rtlCol="0">
            <a:spAutoFit/>
          </a:bodyPr>
          <a:lstStyle/>
          <a:p>
            <a:r>
              <a:rPr lang="es-EC" sz="1400" b="1" i="1" dirty="0">
                <a:effectLst>
                  <a:outerShdw blurRad="38100" dist="38100" dir="2700000" algn="tl">
                    <a:srgbClr val="000000">
                      <a:alpha val="43137"/>
                    </a:srgbClr>
                  </a:outerShdw>
                </a:effectLst>
              </a:rPr>
              <a:t>Realizar la limpieza de las estructuras de las canaletas ,utilizando un trapo humedecido y un poco de detergente o yellow pine en caso de tener grasa, evitar que exista humedad dentro de las canaletas.</a:t>
            </a:r>
          </a:p>
        </p:txBody>
      </p:sp>
      <p:graphicFrame>
        <p:nvGraphicFramePr>
          <p:cNvPr id="15" name="14 Tabla"/>
          <p:cNvGraphicFramePr>
            <a:graphicFrameLocks noGrp="1"/>
          </p:cNvGraphicFramePr>
          <p:nvPr>
            <p:extLst>
              <p:ext uri="{D42A27DB-BD31-4B8C-83A1-F6EECF244321}">
                <p14:modId xmlns:p14="http://schemas.microsoft.com/office/powerpoint/2010/main" val="2182904214"/>
              </p:ext>
            </p:extLst>
          </p:nvPr>
        </p:nvGraphicFramePr>
        <p:xfrm>
          <a:off x="106555" y="6309320"/>
          <a:ext cx="8929941" cy="469596"/>
        </p:xfrm>
        <a:graphic>
          <a:graphicData uri="http://schemas.openxmlformats.org/drawingml/2006/table">
            <a:tbl>
              <a:tblPr/>
              <a:tblGrid>
                <a:gridCol w="3018989">
                  <a:extLst>
                    <a:ext uri="{9D8B030D-6E8A-4147-A177-3AD203B41FA5}">
                      <a16:colId xmlns:a16="http://schemas.microsoft.com/office/drawing/2014/main" val="20000"/>
                    </a:ext>
                  </a:extLst>
                </a:gridCol>
                <a:gridCol w="2954606">
                  <a:extLst>
                    <a:ext uri="{9D8B030D-6E8A-4147-A177-3AD203B41FA5}">
                      <a16:colId xmlns:a16="http://schemas.microsoft.com/office/drawing/2014/main" val="20001"/>
                    </a:ext>
                  </a:extLst>
                </a:gridCol>
                <a:gridCol w="2956346">
                  <a:extLst>
                    <a:ext uri="{9D8B030D-6E8A-4147-A177-3AD203B41FA5}">
                      <a16:colId xmlns:a16="http://schemas.microsoft.com/office/drawing/2014/main" val="20002"/>
                    </a:ext>
                  </a:extLst>
                </a:gridCol>
              </a:tblGrid>
              <a:tr h="241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Preparó: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Revisó: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Aprobó: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50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Carlos Córdova </a:t>
                      </a:r>
                      <a:endParaRPr kumimoji="0" lang="es-ES_tradnl" sz="900" b="0"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Ing. Cesar Brocel</a:t>
                      </a:r>
                      <a:endParaRPr kumimoji="0" lang="es-ES_tradnl" sz="900" b="1" i="0" u="none" strike="noStrike" kern="1200" cap="none" normalizeH="0" baseline="0" dirty="0">
                        <a:ln>
                          <a:noFill/>
                        </a:ln>
                        <a:solidFill>
                          <a:schemeClr val="tx1"/>
                        </a:solidFill>
                        <a:effectLst/>
                        <a:latin typeface="+mn-lt"/>
                        <a:ea typeface="+mn-ea"/>
                        <a:cs typeface="+mn-cs"/>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rPr>
                        <a:t>Ing. Cesar Brocel</a:t>
                      </a: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4098" name="Picture 2" descr="C:\Users\ecccordova\AppData\Local\Microsoft\Windows\Temporary Internet Files\Content.Outlook\CIH1JWA1\20160122_135949_resiz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888230"/>
            <a:ext cx="4353435" cy="37482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cxnSp>
        <p:nvCxnSpPr>
          <p:cNvPr id="16" name="15 Conector recto de flecha"/>
          <p:cNvCxnSpPr/>
          <p:nvPr/>
        </p:nvCxnSpPr>
        <p:spPr>
          <a:xfrm flipH="1">
            <a:off x="2195736" y="1892440"/>
            <a:ext cx="1296144" cy="186990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3347864" y="1570893"/>
            <a:ext cx="1406672" cy="338554"/>
          </a:xfrm>
          <a:prstGeom prst="rect">
            <a:avLst/>
          </a:prstGeom>
          <a:noFill/>
        </p:spPr>
        <p:txBody>
          <a:bodyPr wrap="square" rtlCol="0">
            <a:spAutoFit/>
          </a:bodyPr>
          <a:lstStyle/>
          <a:p>
            <a:r>
              <a:rPr lang="es-EC" sz="1600" b="1" i="1" dirty="0">
                <a:effectLst>
                  <a:outerShdw blurRad="38100" dist="38100" dir="2700000" algn="tl">
                    <a:srgbClr val="000000">
                      <a:alpha val="43137"/>
                    </a:srgbClr>
                  </a:outerShdw>
                </a:effectLst>
              </a:rPr>
              <a:t>Canaletas</a:t>
            </a:r>
          </a:p>
        </p:txBody>
      </p:sp>
      <p:pic>
        <p:nvPicPr>
          <p:cNvPr id="18" name="Imagen 17">
            <a:extLst>
              <a:ext uri="{FF2B5EF4-FFF2-40B4-BE49-F238E27FC236}">
                <a16:creationId xmlns:a16="http://schemas.microsoft.com/office/drawing/2014/main" id="{80EA96CD-5EB0-4ABB-9196-E094E27BADE2}"/>
              </a:ext>
            </a:extLst>
          </p:cNvPr>
          <p:cNvPicPr>
            <a:picLocks noChangeAspect="1"/>
          </p:cNvPicPr>
          <p:nvPr/>
        </p:nvPicPr>
        <p:blipFill rotWithShape="1">
          <a:blip r:embed="rId4"/>
          <a:srcRect l="73875" t="80478" r="19170" b="14443"/>
          <a:stretch/>
        </p:blipFill>
        <p:spPr>
          <a:xfrm>
            <a:off x="117916" y="115050"/>
            <a:ext cx="2437860"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 name="3 Imagen">
            <a:extLst>
              <a:ext uri="{FF2B5EF4-FFF2-40B4-BE49-F238E27FC236}">
                <a16:creationId xmlns:a16="http://schemas.microsoft.com/office/drawing/2014/main" id="{D9C3889D-F6C5-4CF4-B072-435D98FBAD16}"/>
              </a:ext>
            </a:extLst>
          </p:cNvPr>
          <p:cNvPicPr/>
          <p:nvPr/>
        </p:nvPicPr>
        <p:blipFill rotWithShape="1">
          <a:blip r:embed="rId5"/>
          <a:srcRect l="12940" r="12823" b="9145"/>
          <a:stretch/>
        </p:blipFill>
        <p:spPr>
          <a:xfrm>
            <a:off x="7205043" y="115050"/>
            <a:ext cx="1768041"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19902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extLst>
              <p:ext uri="{D42A27DB-BD31-4B8C-83A1-F6EECF244321}">
                <p14:modId xmlns:p14="http://schemas.microsoft.com/office/powerpoint/2010/main" val="141985505"/>
              </p:ext>
            </p:extLst>
          </p:nvPr>
        </p:nvGraphicFramePr>
        <p:xfrm>
          <a:off x="107504" y="116632"/>
          <a:ext cx="8856984" cy="1326976"/>
        </p:xfrm>
        <a:graphic>
          <a:graphicData uri="http://schemas.openxmlformats.org/drawingml/2006/table">
            <a:tbl>
              <a:tblPr/>
              <a:tblGrid>
                <a:gridCol w="2429691">
                  <a:extLst>
                    <a:ext uri="{9D8B030D-6E8A-4147-A177-3AD203B41FA5}">
                      <a16:colId xmlns:a16="http://schemas.microsoft.com/office/drawing/2014/main" val="20000"/>
                    </a:ext>
                  </a:extLst>
                </a:gridCol>
                <a:gridCol w="4702747">
                  <a:extLst>
                    <a:ext uri="{9D8B030D-6E8A-4147-A177-3AD203B41FA5}">
                      <a16:colId xmlns:a16="http://schemas.microsoft.com/office/drawing/2014/main" val="20001"/>
                    </a:ext>
                  </a:extLst>
                </a:gridCol>
                <a:gridCol w="1724546">
                  <a:extLst>
                    <a:ext uri="{9D8B030D-6E8A-4147-A177-3AD203B41FA5}">
                      <a16:colId xmlns:a16="http://schemas.microsoft.com/office/drawing/2014/main" val="20002"/>
                    </a:ext>
                  </a:extLst>
                </a:gridCol>
              </a:tblGrid>
              <a:tr h="39467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s-BO" sz="1400" b="1" dirty="0">
                          <a:latin typeface="+mj-lt"/>
                        </a:rPr>
                        <a:t>OPL</a:t>
                      </a:r>
                      <a:r>
                        <a:rPr lang="es-BO" sz="1400" b="1" baseline="0" dirty="0">
                          <a:latin typeface="+mj-lt"/>
                        </a:rPr>
                        <a:t> – LECCION DE UN PUNTO</a:t>
                      </a:r>
                      <a:endParaRPr lang="es-BO" sz="1400" b="1" dirty="0">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cs typeface="Times New Roman" pitchFamily="18" charset="0"/>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300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pPr>
                      <a:r>
                        <a:rPr kumimoji="0" lang="es-ES_tradnl" sz="1000" b="1" i="0" u="none" strike="noStrike" cap="none" normalizeH="0" baseline="0" dirty="0">
                          <a:ln>
                            <a:noFill/>
                          </a:ln>
                          <a:solidFill>
                            <a:schemeClr val="tx1"/>
                          </a:solidFill>
                          <a:effectLst/>
                          <a:latin typeface="+mj-lt"/>
                          <a:ea typeface="Times New Roman" pitchFamily="18" charset="0"/>
                          <a:cs typeface="Arial" charset="0"/>
                        </a:rPr>
                        <a:t>Revisión</a:t>
                      </a:r>
                      <a:r>
                        <a:rPr kumimoji="0" lang="es-ES_tradnl" sz="1000" b="0" i="0" u="none" strike="noStrike" cap="none" normalizeH="0" baseline="0" dirty="0">
                          <a:ln>
                            <a:noFill/>
                          </a:ln>
                          <a:solidFill>
                            <a:schemeClr val="tx1"/>
                          </a:solidFill>
                          <a:effectLst/>
                          <a:latin typeface="+mj-lt"/>
                          <a:ea typeface="Times New Roman" pitchFamily="18" charset="0"/>
                          <a:cs typeface="Arial" charset="0"/>
                        </a:rPr>
                        <a:t>: 08</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1" i="0" u="none" strike="noStrike" cap="none" normalizeH="0" baseline="0" dirty="0">
                          <a:ln>
                            <a:noFill/>
                          </a:ln>
                          <a:solidFill>
                            <a:schemeClr val="tx1"/>
                          </a:solidFill>
                          <a:effectLst/>
                          <a:latin typeface="+mj-lt"/>
                          <a:cs typeface="Times New Roman" pitchFamily="18" charset="0"/>
                        </a:rPr>
                        <a:t>MANTENIMIENTO  AUTONOMO:</a:t>
                      </a:r>
                      <a:endParaRPr kumimoji="0" lang="es-ES_tradnl" sz="1000" b="1"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_tradnl" sz="1000" b="0" i="0" u="none" strike="noStrike" cap="none" normalizeH="0" baseline="0" dirty="0">
                          <a:ln>
                            <a:noFill/>
                          </a:ln>
                          <a:solidFill>
                            <a:schemeClr val="tx1"/>
                          </a:solidFill>
                          <a:effectLst/>
                          <a:latin typeface="+mj-lt"/>
                        </a:rPr>
                        <a:t>Condición Básica</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312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1" i="0" u="none" strike="noStrike" kern="1200" cap="none" normalizeH="0" baseline="0" dirty="0">
                          <a:ln>
                            <a:noFill/>
                          </a:ln>
                          <a:solidFill>
                            <a:schemeClr val="tx1"/>
                          </a:solidFill>
                          <a:effectLst/>
                          <a:latin typeface="+mj-lt"/>
                          <a:ea typeface="Times New Roman" pitchFamily="18" charset="0"/>
                          <a:cs typeface="Arial" charset="0"/>
                        </a:rPr>
                        <a:t>Código</a:t>
                      </a:r>
                      <a:r>
                        <a:rPr kumimoji="0" lang="es-ES_tradnl" sz="1000" b="0" i="0" u="none" strike="noStrike" kern="1200" cap="none" normalizeH="0" baseline="0" dirty="0">
                          <a:ln>
                            <a:noFill/>
                          </a:ln>
                          <a:solidFill>
                            <a:schemeClr val="tx1"/>
                          </a:solidFill>
                          <a:effectLst/>
                          <a:latin typeface="+mj-lt"/>
                          <a:ea typeface="Times New Roman" pitchFamily="18" charset="0"/>
                          <a:cs typeface="Arial" charset="0"/>
                        </a:rPr>
                        <a:t>:</a:t>
                      </a:r>
                      <a:r>
                        <a:rPr kumimoji="0" lang="es-ES_tradnl" sz="900" b="0" i="0" u="none" strike="noStrike" kern="1200" cap="none" normalizeH="0" baseline="0" dirty="0">
                          <a:ln>
                            <a:noFill/>
                          </a:ln>
                          <a:solidFill>
                            <a:schemeClr val="tx1"/>
                          </a:solidFill>
                          <a:effectLst/>
                          <a:latin typeface="+mj-lt"/>
                          <a:ea typeface="Times New Roman" pitchFamily="18" charset="0"/>
                          <a:cs typeface="Arial" charset="0"/>
                        </a:rPr>
                        <a:t> </a:t>
                      </a:r>
                      <a:r>
                        <a:rPr kumimoji="0" lang="es-AR" sz="900" b="0" i="0" u="none" strike="noStrike" kern="1200" cap="none" normalizeH="0" baseline="0" dirty="0">
                          <a:ln>
                            <a:noFill/>
                          </a:ln>
                          <a:solidFill>
                            <a:srgbClr val="000000"/>
                          </a:solidFill>
                          <a:effectLst/>
                          <a:latin typeface="+mn-lt"/>
                          <a:ea typeface="+mn-ea"/>
                          <a:cs typeface="+mn-cs"/>
                        </a:rPr>
                        <a:t>OPL-PACK-ENCA-08</a:t>
                      </a:r>
                      <a:endParaRPr kumimoji="0" lang="es-ES" sz="900" b="0" i="0" u="none" strike="noStrike" kern="1200" cap="none" normalizeH="0" baseline="0" dirty="0">
                        <a:ln>
                          <a:noFill/>
                        </a:ln>
                        <a:solidFill>
                          <a:srgbClr val="000000"/>
                        </a:solidFill>
                        <a:effectLst/>
                        <a:latin typeface="+mn-lt"/>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defRPr/>
                      </a:pPr>
                      <a:r>
                        <a:rPr lang="es-BO" sz="1000" b="0" i="0" u="none" strike="noStrike" kern="1200" dirty="0">
                          <a:solidFill>
                            <a:schemeClr val="tx1"/>
                          </a:solidFill>
                          <a:effectLst/>
                          <a:latin typeface="+mn-lt"/>
                          <a:ea typeface="+mn-ea"/>
                          <a:cs typeface="+mn-cs"/>
                        </a:rPr>
                        <a:t>Tema:</a:t>
                      </a:r>
                      <a:r>
                        <a:rPr lang="es-BO" sz="1000" b="0" i="0" u="none" strike="noStrike" kern="1200" baseline="0" dirty="0">
                          <a:solidFill>
                            <a:schemeClr val="tx1"/>
                          </a:solidFill>
                          <a:effectLst/>
                          <a:latin typeface="+mn-lt"/>
                          <a:ea typeface="+mn-ea"/>
                          <a:cs typeface="+mn-cs"/>
                        </a:rPr>
                        <a:t> Limpieza de los cabezales</a:t>
                      </a: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s-ES_tradnl" sz="1000" b="0" i="0" u="none" strike="noStrike" kern="1200" cap="none" normalizeH="0" baseline="0" dirty="0">
                          <a:ln>
                            <a:noFill/>
                          </a:ln>
                          <a:solidFill>
                            <a:schemeClr val="tx1"/>
                          </a:solidFill>
                          <a:effectLst/>
                          <a:latin typeface="+mn-lt"/>
                          <a:ea typeface="+mn-ea"/>
                          <a:cs typeface="Times New Roman" pitchFamily="18" charset="0"/>
                        </a:rPr>
                        <a:t>Fecha:</a:t>
                      </a:r>
                      <a:r>
                        <a:rPr kumimoji="0" lang="es-ES_tradnl" sz="1000" b="0" i="0" u="none" strike="noStrike" kern="1200" cap="none" normalizeH="0" baseline="0" dirty="0">
                          <a:ln>
                            <a:noFill/>
                          </a:ln>
                          <a:solidFill>
                            <a:schemeClr val="tx1"/>
                          </a:solidFill>
                          <a:effectLst/>
                          <a:latin typeface="+mn-lt"/>
                          <a:ea typeface="+mn-ea"/>
                          <a:cs typeface="+mn-cs"/>
                        </a:rPr>
                        <a:t>   01/02/2016   </a:t>
                      </a:r>
                      <a:endParaRPr kumimoji="0" lang="es-ES_tradnl" sz="1000" b="0" i="0" u="none" strike="noStrike" cap="none" normalizeH="0" baseline="0" dirty="0">
                        <a:ln>
                          <a:noFill/>
                        </a:ln>
                        <a:solidFill>
                          <a:schemeClr val="tx1"/>
                        </a:solidFill>
                        <a:effectLst/>
                        <a:latin typeface="+mj-lt"/>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37">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tab pos="2700338" algn="ctr"/>
                          <a:tab pos="5400675" algn="r"/>
                        </a:tabLst>
                        <a:defRPr/>
                      </a:pPr>
                      <a:r>
                        <a:rPr kumimoji="0" lang="es-ES" sz="1000" b="1" i="0" u="none" strike="noStrike" kern="1200" cap="none" normalizeH="0" baseline="0" dirty="0">
                          <a:ln>
                            <a:noFill/>
                          </a:ln>
                          <a:solidFill>
                            <a:schemeClr val="tx1"/>
                          </a:solidFill>
                          <a:effectLst/>
                          <a:latin typeface="+mj-lt"/>
                          <a:ea typeface="+mn-ea"/>
                          <a:cs typeface="Times New Roman" pitchFamily="18" charset="0"/>
                        </a:rPr>
                        <a:t>Objetivo: Aprender a realizar la limpieza en los cabezales de todos los formatos.</a:t>
                      </a:r>
                      <a:endParaRPr kumimoji="0" lang="es-ES" sz="1000" b="0" i="0" u="none" strike="noStrike" kern="1200" cap="none" normalizeH="0" baseline="0" dirty="0">
                        <a:ln>
                          <a:noFill/>
                        </a:ln>
                        <a:solidFill>
                          <a:schemeClr val="tx1"/>
                        </a:solidFill>
                        <a:effectLst/>
                        <a:latin typeface="Arial" charset="0"/>
                        <a:ea typeface="+mn-ea"/>
                        <a:cs typeface="+mn-cs"/>
                      </a:endParaRPr>
                    </a:p>
                  </a:txBody>
                  <a:tcPr marL="99060" marR="990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es-ES" sz="1000" b="0" i="0" u="none" strike="noStrike" cap="none" normalizeH="0" baseline="0" dirty="0">
                        <a:ln>
                          <a:noFill/>
                        </a:ln>
                        <a:solidFill>
                          <a:schemeClr val="tx1"/>
                        </a:solidFill>
                        <a:effectLst/>
                        <a:latin typeface="+mj-l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BO"/>
                    </a:p>
                  </a:txBody>
                  <a:tcPr/>
                </a:tc>
                <a:extLst>
                  <a:ext uri="{0D108BD9-81ED-4DB2-BD59-A6C34878D82A}">
                    <a16:rowId xmlns:a16="http://schemas.microsoft.com/office/drawing/2014/main" val="10003"/>
                  </a:ext>
                </a:extLst>
              </a:tr>
            </a:tbl>
          </a:graphicData>
        </a:graphic>
      </p:graphicFrame>
      <p:graphicFrame>
        <p:nvGraphicFramePr>
          <p:cNvPr id="5" name="4 Tabla"/>
          <p:cNvGraphicFramePr>
            <a:graphicFrameLocks noGrp="1"/>
          </p:cNvGraphicFramePr>
          <p:nvPr>
            <p:extLst>
              <p:ext uri="{D42A27DB-BD31-4B8C-83A1-F6EECF244321}">
                <p14:modId xmlns:p14="http://schemas.microsoft.com/office/powerpoint/2010/main" val="1011310926"/>
              </p:ext>
            </p:extLst>
          </p:nvPr>
        </p:nvGraphicFramePr>
        <p:xfrm>
          <a:off x="106555" y="6309320"/>
          <a:ext cx="8929941" cy="469596"/>
        </p:xfrm>
        <a:graphic>
          <a:graphicData uri="http://schemas.openxmlformats.org/drawingml/2006/table">
            <a:tbl>
              <a:tblPr/>
              <a:tblGrid>
                <a:gridCol w="3018989">
                  <a:extLst>
                    <a:ext uri="{9D8B030D-6E8A-4147-A177-3AD203B41FA5}">
                      <a16:colId xmlns:a16="http://schemas.microsoft.com/office/drawing/2014/main" val="20000"/>
                    </a:ext>
                  </a:extLst>
                </a:gridCol>
                <a:gridCol w="2954606">
                  <a:extLst>
                    <a:ext uri="{9D8B030D-6E8A-4147-A177-3AD203B41FA5}">
                      <a16:colId xmlns:a16="http://schemas.microsoft.com/office/drawing/2014/main" val="20001"/>
                    </a:ext>
                  </a:extLst>
                </a:gridCol>
                <a:gridCol w="2956346">
                  <a:extLst>
                    <a:ext uri="{9D8B030D-6E8A-4147-A177-3AD203B41FA5}">
                      <a16:colId xmlns:a16="http://schemas.microsoft.com/office/drawing/2014/main" val="20002"/>
                    </a:ext>
                  </a:extLst>
                </a:gridCol>
              </a:tblGrid>
              <a:tr h="24105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Preparó: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Revisó: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cs typeface="Times New Roman" pitchFamily="18" charset="0"/>
                        </a:rPr>
                        <a:t>Aprobó:</a:t>
                      </a:r>
                      <a:endParaRPr kumimoji="0" lang="es-ES_tradnl" sz="900" b="1"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50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Carlos Córdova </a:t>
                      </a:r>
                      <a:endParaRPr kumimoji="0" lang="es-ES_tradnl" sz="900" b="0" i="0" u="none" strike="noStrike" cap="none" normalizeH="0" baseline="0" dirty="0">
                        <a:ln>
                          <a:noFill/>
                        </a:ln>
                        <a:solidFill>
                          <a:schemeClr val="tx1"/>
                        </a:solidFill>
                        <a:effectLst/>
                        <a:latin typeface="+mj-lt"/>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_tradnl" sz="900" b="1" i="0" u="none" strike="noStrike" kern="1200" cap="none" normalizeH="0" baseline="0" dirty="0">
                          <a:ln>
                            <a:noFill/>
                          </a:ln>
                          <a:solidFill>
                            <a:schemeClr val="tx1"/>
                          </a:solidFill>
                          <a:effectLst/>
                          <a:latin typeface="+mn-lt"/>
                          <a:ea typeface="+mn-ea"/>
                          <a:cs typeface="Times New Roman" pitchFamily="18" charset="0"/>
                        </a:rPr>
                        <a:t>Ing. Cesar Brocel</a:t>
                      </a:r>
                      <a:endParaRPr kumimoji="0" lang="es-ES_tradnl" sz="900" b="1" i="0" u="none" strike="noStrike" kern="1200" cap="none" normalizeH="0" baseline="0" dirty="0">
                        <a:ln>
                          <a:noFill/>
                        </a:ln>
                        <a:solidFill>
                          <a:schemeClr val="tx1"/>
                        </a:solidFill>
                        <a:effectLst/>
                        <a:latin typeface="+mn-lt"/>
                        <a:ea typeface="+mn-ea"/>
                        <a:cs typeface="+mn-cs"/>
                      </a:endParaRP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_tradnl" sz="900" b="1" i="0" u="none" strike="noStrike" cap="none" normalizeH="0" baseline="0" dirty="0">
                          <a:ln>
                            <a:noFill/>
                          </a:ln>
                          <a:solidFill>
                            <a:schemeClr val="tx1"/>
                          </a:solidFill>
                          <a:effectLst/>
                          <a:latin typeface="+mj-lt"/>
                        </a:rPr>
                        <a:t>Ing. Cesar Brocel</a:t>
                      </a:r>
                    </a:p>
                  </a:txBody>
                  <a:tcPr marL="99060" marR="99060" marT="45690" marB="456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5 CuadroTexto"/>
          <p:cNvSpPr txBox="1"/>
          <p:nvPr/>
        </p:nvSpPr>
        <p:spPr>
          <a:xfrm>
            <a:off x="6804251" y="5733256"/>
            <a:ext cx="2096826"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Mensual</a:t>
            </a:r>
          </a:p>
        </p:txBody>
      </p:sp>
      <p:sp>
        <p:nvSpPr>
          <p:cNvPr id="7" name="6 CuadroTexto"/>
          <p:cNvSpPr txBox="1"/>
          <p:nvPr/>
        </p:nvSpPr>
        <p:spPr>
          <a:xfrm>
            <a:off x="5004047" y="5731282"/>
            <a:ext cx="1584178" cy="369332"/>
          </a:xfrm>
          <a:prstGeom prst="rect">
            <a:avLst/>
          </a:prstGeom>
          <a:noFill/>
          <a:ln w="19050">
            <a:solidFill>
              <a:schemeClr val="accent3">
                <a:lumMod val="50000"/>
              </a:schemeClr>
            </a:solidFill>
          </a:ln>
        </p:spPr>
        <p:txBody>
          <a:bodyPr wrap="square" rtlCol="0">
            <a:spAutoFit/>
          </a:bodyPr>
          <a:lstStyle/>
          <a:p>
            <a:pPr algn="ctr"/>
            <a:r>
              <a:rPr lang="es-EC" b="1" i="1" dirty="0">
                <a:effectLst>
                  <a:outerShdw blurRad="38100" dist="38100" dir="2700000" algn="tl">
                    <a:srgbClr val="000000">
                      <a:alpha val="43137"/>
                    </a:srgbClr>
                  </a:outerShdw>
                </a:effectLst>
              </a:rPr>
              <a:t>Frecuencia</a:t>
            </a:r>
          </a:p>
        </p:txBody>
      </p:sp>
      <p:pic>
        <p:nvPicPr>
          <p:cNvPr id="8"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576" y="3501008"/>
            <a:ext cx="1363118" cy="135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sp>
        <p:nvSpPr>
          <p:cNvPr id="9" name="8 CuadroTexto"/>
          <p:cNvSpPr txBox="1"/>
          <p:nvPr/>
        </p:nvSpPr>
        <p:spPr>
          <a:xfrm>
            <a:off x="5220072" y="1909447"/>
            <a:ext cx="1656184" cy="369332"/>
          </a:xfrm>
          <a:prstGeom prst="rect">
            <a:avLst/>
          </a:prstGeom>
          <a:noFill/>
        </p:spPr>
        <p:txBody>
          <a:bodyPr wrap="square" rtlCol="0">
            <a:spAutoFit/>
          </a:bodyPr>
          <a:lstStyle/>
          <a:p>
            <a:r>
              <a:rPr lang="es-EC" b="1" i="1" dirty="0">
                <a:effectLst>
                  <a:outerShdw blurRad="38100" dist="38100" dir="2700000" algn="tl">
                    <a:srgbClr val="000000">
                      <a:alpha val="43137"/>
                    </a:srgbClr>
                  </a:outerShdw>
                </a:effectLst>
              </a:rPr>
              <a:t>Materiales</a:t>
            </a:r>
          </a:p>
        </p:txBody>
      </p:sp>
      <p:sp>
        <p:nvSpPr>
          <p:cNvPr id="10" name="9 Rectángulo"/>
          <p:cNvSpPr/>
          <p:nvPr/>
        </p:nvSpPr>
        <p:spPr>
          <a:xfrm>
            <a:off x="5004047" y="1839347"/>
            <a:ext cx="1584177" cy="554230"/>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1" name="10 Rectángulo"/>
          <p:cNvSpPr/>
          <p:nvPr/>
        </p:nvSpPr>
        <p:spPr>
          <a:xfrm>
            <a:off x="5004047" y="2828460"/>
            <a:ext cx="1584177" cy="448412"/>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C" b="1" i="1" dirty="0">
                <a:solidFill>
                  <a:schemeClr val="tx1"/>
                </a:solidFill>
                <a:effectLst>
                  <a:outerShdw blurRad="38100" dist="38100" dir="2700000" algn="tl">
                    <a:srgbClr val="000000">
                      <a:alpha val="43137"/>
                    </a:srgbClr>
                  </a:outerShdw>
                </a:effectLst>
              </a:rPr>
              <a:t>Trabajos a ejecutar</a:t>
            </a:r>
          </a:p>
        </p:txBody>
      </p:sp>
      <p:sp>
        <p:nvSpPr>
          <p:cNvPr id="12" name="11 Rectángulo"/>
          <p:cNvSpPr/>
          <p:nvPr/>
        </p:nvSpPr>
        <p:spPr>
          <a:xfrm>
            <a:off x="6876258" y="1839347"/>
            <a:ext cx="1584177" cy="545536"/>
          </a:xfrm>
          <a:prstGeom prst="rect">
            <a:avLst/>
          </a:prstGeom>
          <a:no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sz="2800"/>
          </a:p>
        </p:txBody>
      </p:sp>
      <p:sp>
        <p:nvSpPr>
          <p:cNvPr id="13" name="12 CuadroTexto"/>
          <p:cNvSpPr txBox="1"/>
          <p:nvPr/>
        </p:nvSpPr>
        <p:spPr>
          <a:xfrm>
            <a:off x="6804251" y="1892440"/>
            <a:ext cx="1656184" cy="400110"/>
          </a:xfrm>
          <a:prstGeom prst="rect">
            <a:avLst/>
          </a:prstGeom>
          <a:noFill/>
        </p:spPr>
        <p:txBody>
          <a:bodyPr wrap="square" rtlCol="0">
            <a:spAutoFit/>
          </a:bodyPr>
          <a:lstStyle/>
          <a:p>
            <a:pPr algn="ctr"/>
            <a:r>
              <a:rPr lang="es-EC" sz="2000" b="1" i="1" dirty="0">
                <a:effectLst>
                  <a:outerShdw blurRad="38100" dist="38100" dir="2700000" algn="tl">
                    <a:srgbClr val="000000">
                      <a:alpha val="43137"/>
                    </a:srgbClr>
                  </a:outerShdw>
                </a:effectLst>
              </a:rPr>
              <a:t>Agua</a:t>
            </a:r>
          </a:p>
        </p:txBody>
      </p:sp>
      <p:sp>
        <p:nvSpPr>
          <p:cNvPr id="15" name="14 CuadroTexto"/>
          <p:cNvSpPr txBox="1"/>
          <p:nvPr/>
        </p:nvSpPr>
        <p:spPr>
          <a:xfrm>
            <a:off x="6876256" y="2828460"/>
            <a:ext cx="1800198" cy="1815882"/>
          </a:xfrm>
          <a:prstGeom prst="rect">
            <a:avLst/>
          </a:prstGeom>
          <a:noFill/>
          <a:ln w="28575">
            <a:solidFill>
              <a:schemeClr val="accent3">
                <a:lumMod val="50000"/>
              </a:schemeClr>
            </a:solidFill>
          </a:ln>
        </p:spPr>
        <p:txBody>
          <a:bodyPr wrap="square" rtlCol="0">
            <a:spAutoFit/>
          </a:bodyPr>
          <a:lstStyle/>
          <a:p>
            <a:r>
              <a:rPr lang="es-EC" sz="1400" b="1" i="1" dirty="0">
                <a:effectLst>
                  <a:outerShdw blurRad="38100" dist="38100" dir="2700000" algn="tl">
                    <a:srgbClr val="000000">
                      <a:alpha val="43137"/>
                    </a:srgbClr>
                  </a:outerShdw>
                </a:effectLst>
              </a:rPr>
              <a:t>Ejecutar la revisión y limpieza de los cabezales , utilizando cepillos, detergente y agua restregar en las bases del cabeza, eliminado suciedad, grasa etc.</a:t>
            </a:r>
          </a:p>
        </p:txBody>
      </p:sp>
      <p:pic>
        <p:nvPicPr>
          <p:cNvPr id="5122" name="Picture 2" descr="C:\Users\ecccordova\AppData\Local\Microsoft\Windows\Temporary Internet Files\Content.Outlook\CIH1JWA1\20160122_135643_resiz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197" y="2056509"/>
            <a:ext cx="4104618" cy="378384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6" name="Imagen 15">
            <a:extLst>
              <a:ext uri="{FF2B5EF4-FFF2-40B4-BE49-F238E27FC236}">
                <a16:creationId xmlns:a16="http://schemas.microsoft.com/office/drawing/2014/main" id="{FCBF7840-2B7C-4508-9D53-5B3101AA6AE4}"/>
              </a:ext>
            </a:extLst>
          </p:cNvPr>
          <p:cNvPicPr>
            <a:picLocks noChangeAspect="1"/>
          </p:cNvPicPr>
          <p:nvPr/>
        </p:nvPicPr>
        <p:blipFill rotWithShape="1">
          <a:blip r:embed="rId4"/>
          <a:srcRect l="73875" t="80478" r="19170" b="14443"/>
          <a:stretch/>
        </p:blipFill>
        <p:spPr>
          <a:xfrm>
            <a:off x="117916" y="115050"/>
            <a:ext cx="2437860"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3 Imagen">
            <a:extLst>
              <a:ext uri="{FF2B5EF4-FFF2-40B4-BE49-F238E27FC236}">
                <a16:creationId xmlns:a16="http://schemas.microsoft.com/office/drawing/2014/main" id="{722D0A8B-2B23-440B-A476-6FCF4BEAB288}"/>
              </a:ext>
            </a:extLst>
          </p:cNvPr>
          <p:cNvPicPr/>
          <p:nvPr/>
        </p:nvPicPr>
        <p:blipFill rotWithShape="1">
          <a:blip r:embed="rId5"/>
          <a:srcRect l="12940" r="12823" b="9145"/>
          <a:stretch/>
        </p:blipFill>
        <p:spPr>
          <a:xfrm>
            <a:off x="7205043" y="115050"/>
            <a:ext cx="1768041" cy="3968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516250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ABE4F0146DB64EBC5498D9D22CB75D" ma:contentTypeVersion="7" ma:contentTypeDescription="Create a new document." ma:contentTypeScope="" ma:versionID="598cedf63f4b5bed115f25281745efb7">
  <xsd:schema xmlns:xsd="http://www.w3.org/2001/XMLSchema" xmlns:xs="http://www.w3.org/2001/XMLSchema" xmlns:p="http://schemas.microsoft.com/office/2006/metadata/properties" xmlns:ns2="a4f75dbb-4df3-481c-a5f5-80a559f112dd" xmlns:ns3="f323b21d-0708-442e-b7c2-520a641cc472" targetNamespace="http://schemas.microsoft.com/office/2006/metadata/properties" ma:root="true" ma:fieldsID="d557ff70e1b9f5af795f8cafcdacd585" ns2:_="" ns3:_="">
    <xsd:import namespace="a4f75dbb-4df3-481c-a5f5-80a559f112dd"/>
    <xsd:import namespace="f323b21d-0708-442e-b7c2-520a641cc472"/>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75dbb-4df3-481c-a5f5-80a559f112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23b21d-0708-442e-b7c2-520a641cc47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50B25D-7490-48DD-B4B6-236DA62AAA4B}"/>
</file>

<file path=customXml/itemProps2.xml><?xml version="1.0" encoding="utf-8"?>
<ds:datastoreItem xmlns:ds="http://schemas.openxmlformats.org/officeDocument/2006/customXml" ds:itemID="{34151F10-2628-4C9E-B313-C9C7A863EE76}"/>
</file>

<file path=customXml/itemProps3.xml><?xml version="1.0" encoding="utf-8"?>
<ds:datastoreItem xmlns:ds="http://schemas.openxmlformats.org/officeDocument/2006/customXml" ds:itemID="{62D9E7CA-088F-4193-A217-370F5D89F9B2}"/>
</file>

<file path=docProps/app.xml><?xml version="1.0" encoding="utf-8"?>
<Properties xmlns="http://schemas.openxmlformats.org/officeDocument/2006/extended-properties" xmlns:vt="http://schemas.openxmlformats.org/officeDocument/2006/docPropsVTypes">
  <TotalTime>4547</TotalTime>
  <Words>752</Words>
  <Application>Microsoft Office PowerPoint</Application>
  <PresentationFormat>Presentación en pantalla (4:3)</PresentationFormat>
  <Paragraphs>167</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Cordova Espinal, Carlos</dc:creator>
  <cp:lastModifiedBy>Cordova Espinal, Carlos</cp:lastModifiedBy>
  <cp:revision>26</cp:revision>
  <dcterms:created xsi:type="dcterms:W3CDTF">2016-01-22T15:46:59Z</dcterms:created>
  <dcterms:modified xsi:type="dcterms:W3CDTF">2018-06-06T15:22:08Z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0x01010071ABE4F0146DB64EBC5498D9D22CB75D</vt:lpwstr>
  </property>
  <property fmtid="{D5CDD505-2E9C-101B-9397-08002B2CF9AE}" pid="3" name="Order">
    <vt:r8>411200</vt:r8>
  </property>
</Properties>
</file>