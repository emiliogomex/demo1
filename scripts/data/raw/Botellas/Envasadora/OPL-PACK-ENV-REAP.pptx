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4"/>
    <p:sldMasterId id="2147483715" r:id="rId5"/>
  </p:sldMasterIdLst>
  <p:sldIdLst>
    <p:sldId id="270" r:id="rId6"/>
    <p:sldId id="267" r:id="rId7"/>
    <p:sldId id="268" r:id="rId8"/>
    <p:sldId id="257" r:id="rId9"/>
    <p:sldId id="258" r:id="rId10"/>
    <p:sldId id="259" r:id="rId11"/>
    <p:sldId id="260" r:id="rId12"/>
    <p:sldId id="262" r:id="rId13"/>
    <p:sldId id="264" r:id="rId14"/>
    <p:sldId id="266" r:id="rId15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5527"/>
    <a:srgbClr val="008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15BF13-FA3A-47DA-8C64-BE3B284D97C8}" v="8" dt="2021-04-14T21:51:57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000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mara Estefania Moreno Almeida" userId="8f5f879b-ba11-4cdd-a50b-076bd238b4cd" providerId="ADAL" clId="{8A15BF13-FA3A-47DA-8C64-BE3B284D97C8}"/>
    <pc:docChg chg="undo custSel modSld">
      <pc:chgData name="Tamara Estefania Moreno Almeida" userId="8f5f879b-ba11-4cdd-a50b-076bd238b4cd" providerId="ADAL" clId="{8A15BF13-FA3A-47DA-8C64-BE3B284D97C8}" dt="2021-04-14T21:52:23.661" v="458" actId="20577"/>
      <pc:docMkLst>
        <pc:docMk/>
      </pc:docMkLst>
      <pc:sldChg chg="addSp delSp modSp mod">
        <pc:chgData name="Tamara Estefania Moreno Almeida" userId="8f5f879b-ba11-4cdd-a50b-076bd238b4cd" providerId="ADAL" clId="{8A15BF13-FA3A-47DA-8C64-BE3B284D97C8}" dt="2021-04-14T21:52:23.661" v="458" actId="20577"/>
        <pc:sldMkLst>
          <pc:docMk/>
          <pc:sldMk cId="1808436735" sldId="270"/>
        </pc:sldMkLst>
        <pc:spChg chg="mod">
          <ac:chgData name="Tamara Estefania Moreno Almeida" userId="8f5f879b-ba11-4cdd-a50b-076bd238b4cd" providerId="ADAL" clId="{8A15BF13-FA3A-47DA-8C64-BE3B284D97C8}" dt="2021-04-14T21:52:12.472" v="439" actId="14100"/>
          <ac:spMkLst>
            <pc:docMk/>
            <pc:sldMk cId="1808436735" sldId="270"/>
            <ac:spMk id="13" creationId="{00000000-0000-0000-0000-000000000000}"/>
          </ac:spMkLst>
        </pc:spChg>
        <pc:spChg chg="mod">
          <ac:chgData name="Tamara Estefania Moreno Almeida" userId="8f5f879b-ba11-4cdd-a50b-076bd238b4cd" providerId="ADAL" clId="{8A15BF13-FA3A-47DA-8C64-BE3B284D97C8}" dt="2021-04-14T21:52:23.661" v="458" actId="20577"/>
          <ac:spMkLst>
            <pc:docMk/>
            <pc:sldMk cId="1808436735" sldId="270"/>
            <ac:spMk id="14" creationId="{00000000-0000-0000-0000-000000000000}"/>
          </ac:spMkLst>
        </pc:spChg>
        <pc:picChg chg="mod">
          <ac:chgData name="Tamara Estefania Moreno Almeida" userId="8f5f879b-ba11-4cdd-a50b-076bd238b4cd" providerId="ADAL" clId="{8A15BF13-FA3A-47DA-8C64-BE3B284D97C8}" dt="2021-04-14T17:15:16.079" v="48" actId="1076"/>
          <ac:picMkLst>
            <pc:docMk/>
            <pc:sldMk cId="1808436735" sldId="270"/>
            <ac:picMk id="4" creationId="{00000000-0000-0000-0000-000000000000}"/>
          </ac:picMkLst>
        </pc:picChg>
        <pc:picChg chg="add del mod">
          <ac:chgData name="Tamara Estefania Moreno Almeida" userId="8f5f879b-ba11-4cdd-a50b-076bd238b4cd" providerId="ADAL" clId="{8A15BF13-FA3A-47DA-8C64-BE3B284D97C8}" dt="2021-04-14T17:14:24.378" v="31" actId="478"/>
          <ac:picMkLst>
            <pc:docMk/>
            <pc:sldMk cId="1808436735" sldId="270"/>
            <ac:picMk id="6" creationId="{00000000-0008-0000-0100-000022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423289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0297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22575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6437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38172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923222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256293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08917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53921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06013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5613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s-EC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982192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0784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2822104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703646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7286964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127048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6557203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90230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EC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1333411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6441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575159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di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1123200"/>
            <a:ext cx="5395050" cy="2079232"/>
          </a:xfrm>
        </p:spPr>
        <p:txBody>
          <a:bodyPr anchor="ctr"/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nl-NL" dirty="0"/>
              <a:t>Klikken om de 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AEE99-20B6-481B-BC35-A963E8F38A29}" type="datetime1">
              <a:rPr lang="en-US" smtClean="0"/>
              <a:t>04/14/2021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4B5B4"/>
                </a:solidFill>
              </a:defRPr>
            </a:lvl1pPr>
          </a:lstStyle>
          <a:p>
            <a:fld id="{FDE62486-12B0-5E43-83B1-5C8D03995A27}" type="slidenum">
              <a:rPr lang="tr-TR"/>
              <a:pPr/>
              <a:t>‹#›</a:t>
            </a:fld>
            <a:endParaRPr lang="tr-TR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" y="0"/>
            <a:ext cx="91332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386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1EDED-47D2-4452-A56D-252E9FF0E441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644D3-931F-4939-8FAC-A5962B316DBA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06676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C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C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0D8FD-C456-49BF-A1E5-C365CB87D379}" type="datetimeFigureOut">
              <a:rPr lang="es-EC" smtClean="0"/>
              <a:t>14/4/2021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EEEDE-FFCC-4A14-81CF-882C059A3124}" type="slidenum">
              <a:rPr lang="es-EC" smtClean="0"/>
              <a:t>‹#›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85705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jpe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jpe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2332" y="1122218"/>
            <a:ext cx="2060190" cy="4956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/>
            <a:endParaRPr lang="es-EC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310243" y="1484784"/>
            <a:ext cx="3829709" cy="109439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67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685800">
              <a:lnSpc>
                <a:spcPct val="110000"/>
              </a:lnSpc>
              <a:defRPr/>
            </a:pPr>
            <a:r>
              <a:rPr lang="es-ES" sz="3200" b="1" dirty="0">
                <a:solidFill>
                  <a:srgbClr val="205527"/>
                </a:solidFill>
                <a:latin typeface="HEINEKEN Core" panose="02000503050000020004" pitchFamily="2" charset="0"/>
              </a:rPr>
              <a:t>ESTANDARES CILT</a:t>
            </a:r>
          </a:p>
          <a:p>
            <a:pPr algn="ctr" defTabSz="685800">
              <a:lnSpc>
                <a:spcPct val="110000"/>
              </a:lnSpc>
              <a:defRPr/>
            </a:pPr>
            <a:r>
              <a:rPr lang="es-ES" sz="3200" b="1" dirty="0">
                <a:solidFill>
                  <a:srgbClr val="205527"/>
                </a:solidFill>
                <a:latin typeface="HEINEKEN Core" panose="02000503050000020004" pitchFamily="2" charset="0"/>
              </a:rPr>
              <a:t>ENVASADO - L501</a:t>
            </a:r>
          </a:p>
          <a:p>
            <a:pPr algn="ctr" defTabSz="685800">
              <a:lnSpc>
                <a:spcPct val="110000"/>
              </a:lnSpc>
              <a:defRPr/>
            </a:pPr>
            <a:r>
              <a:rPr lang="es-ES" sz="3200" b="1" dirty="0">
                <a:solidFill>
                  <a:srgbClr val="205527"/>
                </a:solidFill>
                <a:latin typeface="HEINEKEN Core" panose="02000503050000020004" pitchFamily="2" charset="0"/>
              </a:rPr>
              <a:t>LLENADORA</a:t>
            </a: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289166" y="3130802"/>
            <a:ext cx="2669378" cy="596396"/>
          </a:xfrm>
          <a:prstGeom prst="rect">
            <a:avLst/>
          </a:prstGeom>
        </p:spPr>
        <p:txBody>
          <a:bodyPr/>
          <a:lstStyle>
            <a:lvl1pPr marL="1728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1pPr>
            <a:lvl2pPr marL="3456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2pPr>
            <a:lvl3pPr marL="5184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3pPr>
            <a:lvl4pPr marL="6912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4pPr>
            <a:lvl5pPr marL="864000" indent="-17145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tx2"/>
              </a:buClr>
              <a:buFont typeface="Wingdings" charset="2"/>
              <a:buChar char="§"/>
              <a:defRPr sz="1400" b="0" i="0" kern="500" baseline="0">
                <a:solidFill>
                  <a:schemeClr val="bg2">
                    <a:lumMod val="10000"/>
                  </a:schemeClr>
                </a:solidFill>
                <a:latin typeface="HEINEKEN Core" charset="0"/>
                <a:ea typeface="HEINEKEN Core" charset="0"/>
                <a:cs typeface="HEINEKEN Core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50" indent="0" algn="ctr" defTabSz="514350">
              <a:spcBef>
                <a:spcPts val="225"/>
              </a:spcBef>
              <a:buClr>
                <a:srgbClr val="44546A"/>
              </a:buClr>
              <a:buNone/>
              <a:defRPr/>
            </a:pPr>
            <a:r>
              <a:rPr lang="en-GB" sz="2800" u="sng">
                <a:solidFill>
                  <a:srgbClr val="205527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REAPRIETE</a:t>
            </a:r>
            <a:endParaRPr lang="en-GB" sz="2800" u="sng" dirty="0">
              <a:solidFill>
                <a:srgbClr val="205527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0"/>
            <a:ext cx="2078916" cy="1079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43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7242" y="1"/>
            <a:ext cx="9136757" cy="6863679"/>
            <a:chOff x="7242" y="1"/>
            <a:chExt cx="9136757" cy="6863679"/>
          </a:xfrm>
        </p:grpSpPr>
        <p:graphicFrame>
          <p:nvGraphicFramePr>
            <p:cNvPr id="2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034632332"/>
                </p:ext>
              </p:extLst>
            </p:nvPr>
          </p:nvGraphicFramePr>
          <p:xfrm>
            <a:off x="7242" y="22186"/>
            <a:ext cx="9136757" cy="6841494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Verificación de HACCP envasadora (PCC)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OPL-PACK-ENV-REAP-01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400600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18" name="Picture 17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" name="Text Box 29"/>
          <p:cNvSpPr txBox="1">
            <a:spLocks noChangeArrowheads="1"/>
          </p:cNvSpPr>
          <p:nvPr/>
        </p:nvSpPr>
        <p:spPr bwMode="auto">
          <a:xfrm>
            <a:off x="5362189" y="2060847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5" name="Text Box 35"/>
          <p:cNvSpPr txBox="1">
            <a:spLocks noChangeArrowheads="1"/>
          </p:cNvSpPr>
          <p:nvPr/>
        </p:nvSpPr>
        <p:spPr bwMode="auto">
          <a:xfrm>
            <a:off x="5376706" y="3468234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7040902" y="2825818"/>
            <a:ext cx="176006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>
                <a:latin typeface="HEINEKEN Core" panose="02000503050000020004" pitchFamily="2" charset="0"/>
              </a:rPr>
              <a:t>Visual, y EPP completos</a:t>
            </a:r>
          </a:p>
        </p:txBody>
      </p:sp>
      <p:sp>
        <p:nvSpPr>
          <p:cNvPr id="7" name="Text Box 30"/>
          <p:cNvSpPr txBox="1">
            <a:spLocks noChangeArrowheads="1"/>
          </p:cNvSpPr>
          <p:nvPr/>
        </p:nvSpPr>
        <p:spPr bwMode="auto">
          <a:xfrm>
            <a:off x="5362189" y="2825818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8" name="7 CuadroTexto"/>
          <p:cNvSpPr txBox="1"/>
          <p:nvPr/>
        </p:nvSpPr>
        <p:spPr>
          <a:xfrm>
            <a:off x="7040902" y="3468234"/>
            <a:ext cx="1944216" cy="73866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fontAlgn="b"/>
            <a:r>
              <a:rPr lang="es-EC" sz="1400" b="1" i="1" dirty="0">
                <a:solidFill>
                  <a:srgbClr val="000000"/>
                </a:solidFill>
                <a:latin typeface="HEINEKEN Core" panose="02000503050000020004" pitchFamily="2" charset="0"/>
              </a:rPr>
              <a:t>Analiza el ph del extracto que ingresa a la línea de cerveza.</a:t>
            </a:r>
          </a:p>
        </p:txBody>
      </p:sp>
      <p:pic>
        <p:nvPicPr>
          <p:cNvPr id="9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489089"/>
            <a:ext cx="2016224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7040902" y="2060847"/>
            <a:ext cx="158417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b="1" i="1" dirty="0">
                <a:latin typeface="HEINEKEN Core" panose="02000503050000020004" pitchFamily="2" charset="0"/>
              </a:rPr>
              <a:t>Diaria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47" y="2060847"/>
            <a:ext cx="4713349" cy="326792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Rectangle 10"/>
          <p:cNvSpPr/>
          <p:nvPr/>
        </p:nvSpPr>
        <p:spPr>
          <a:xfrm>
            <a:off x="2843808" y="2420887"/>
            <a:ext cx="720080" cy="13159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3275856" y="1700808"/>
            <a:ext cx="792088" cy="72007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93773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7242" y="1"/>
            <a:ext cx="9136757" cy="6863679"/>
            <a:chOff x="7242" y="1"/>
            <a:chExt cx="9136757" cy="6863679"/>
          </a:xfrm>
        </p:grpSpPr>
        <p:graphicFrame>
          <p:nvGraphicFramePr>
            <p:cNvPr id="20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82822295"/>
                </p:ext>
              </p:extLst>
            </p:nvPr>
          </p:nvGraphicFramePr>
          <p:xfrm>
            <a:off x="7242" y="22186"/>
            <a:ext cx="9136757" cy="6841494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Verificación de HACCP IRC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OPL-PACK-ENV-REAP-02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400600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21" name="Picture 2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" name="5 CuadroTexto"/>
          <p:cNvSpPr txBox="1"/>
          <p:nvPr/>
        </p:nvSpPr>
        <p:spPr>
          <a:xfrm>
            <a:off x="7082600" y="2825817"/>
            <a:ext cx="176006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Visual, EPP completos </a:t>
            </a:r>
          </a:p>
        </p:txBody>
      </p:sp>
      <p:sp>
        <p:nvSpPr>
          <p:cNvPr id="8" name="7 CuadroTexto"/>
          <p:cNvSpPr txBox="1"/>
          <p:nvPr/>
        </p:nvSpPr>
        <p:spPr>
          <a:xfrm>
            <a:off x="7074626" y="3468234"/>
            <a:ext cx="1776017" cy="95410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Verificar  cumplimieto del procedimiento según padrón </a:t>
            </a:r>
          </a:p>
        </p:txBody>
      </p:sp>
      <p:pic>
        <p:nvPicPr>
          <p:cNvPr id="9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813" y="4601423"/>
            <a:ext cx="2016224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9 CuadroTexto"/>
          <p:cNvSpPr txBox="1"/>
          <p:nvPr/>
        </p:nvSpPr>
        <p:spPr>
          <a:xfrm>
            <a:off x="7074626" y="2060847"/>
            <a:ext cx="1584176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b="1" i="1" dirty="0"/>
              <a:t>Diaria</a:t>
            </a:r>
          </a:p>
        </p:txBody>
      </p:sp>
      <p:pic>
        <p:nvPicPr>
          <p:cNvPr id="4098" name="Picture 2" descr="C:\Users\ecccordova\AppData\Local\Microsoft\Windows\Temporary Internet Files\Content.Outlook\QD335UFA\20151123_140023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00847" y="1729457"/>
            <a:ext cx="3203848" cy="37642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5362189" y="2060847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5376706" y="3468234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8" name="Text Box 30"/>
          <p:cNvSpPr txBox="1">
            <a:spLocks noChangeArrowheads="1"/>
          </p:cNvSpPr>
          <p:nvPr/>
        </p:nvSpPr>
        <p:spPr bwMode="auto">
          <a:xfrm>
            <a:off x="5362189" y="2825818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6489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7242" y="1"/>
            <a:ext cx="9136757" cy="6863679"/>
            <a:chOff x="7242" y="1"/>
            <a:chExt cx="9136757" cy="6863679"/>
          </a:xfrm>
        </p:grpSpPr>
        <p:graphicFrame>
          <p:nvGraphicFramePr>
            <p:cNvPr id="26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403558095"/>
                </p:ext>
              </p:extLst>
            </p:nvPr>
          </p:nvGraphicFramePr>
          <p:xfrm>
            <a:off x="7242" y="22186"/>
            <a:ext cx="9136757" cy="6841494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Cambio de coronadores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OPL-PACK-ENV-REAP-03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400600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27" name="Picture 2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7 CuadroTexto"/>
          <p:cNvSpPr txBox="1"/>
          <p:nvPr/>
        </p:nvSpPr>
        <p:spPr>
          <a:xfrm>
            <a:off x="7034826" y="2826395"/>
            <a:ext cx="1760067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Llave 13, llave pico de loro y tubos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7034826" y="3468811"/>
            <a:ext cx="1776017" cy="2246769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1.- Se afloja tuerca de sujeción del coronador.</a:t>
            </a:r>
          </a:p>
          <a:p>
            <a:r>
              <a:rPr lang="es-EC" sz="1400" b="1" i="1" dirty="0"/>
              <a:t>2.- Se retira coronador, sosteniendo el expulsador.</a:t>
            </a:r>
          </a:p>
          <a:p>
            <a:r>
              <a:rPr lang="es-EC" sz="1400" b="1" i="1" dirty="0"/>
              <a:t>3.-  Colocar coronadores según Sku a producir.</a:t>
            </a:r>
          </a:p>
        </p:txBody>
      </p:sp>
      <p:pic>
        <p:nvPicPr>
          <p:cNvPr id="11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5696" y="4886542"/>
            <a:ext cx="2016224" cy="108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7034826" y="2061424"/>
            <a:ext cx="1950000" cy="52322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Cada cambio de sku´s (twist Off- Pry Off)</a:t>
            </a:r>
          </a:p>
        </p:txBody>
      </p:sp>
      <p:pic>
        <p:nvPicPr>
          <p:cNvPr id="1026" name="Picture 2" descr="C:\Users\eclmoreno\AppData\Local\Microsoft\Windows\Temporary Internet Files\Content.Outlook\OXX1ET7T\20151123_14024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097976"/>
            <a:ext cx="4355976" cy="377929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14" name="13 Conector recto de flecha"/>
          <p:cNvCxnSpPr/>
          <p:nvPr/>
        </p:nvCxnSpPr>
        <p:spPr>
          <a:xfrm flipH="1">
            <a:off x="2573524" y="2724448"/>
            <a:ext cx="270284" cy="85786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16 CuadroTexto"/>
          <p:cNvSpPr txBox="1"/>
          <p:nvPr/>
        </p:nvSpPr>
        <p:spPr>
          <a:xfrm>
            <a:off x="2708666" y="2420888"/>
            <a:ext cx="63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1</a:t>
            </a:r>
          </a:p>
        </p:txBody>
      </p:sp>
      <p:cxnSp>
        <p:nvCxnSpPr>
          <p:cNvPr id="19" name="18 Conector recto de flecha"/>
          <p:cNvCxnSpPr/>
          <p:nvPr/>
        </p:nvCxnSpPr>
        <p:spPr>
          <a:xfrm flipH="1" flipV="1">
            <a:off x="2708666" y="4690432"/>
            <a:ext cx="567190" cy="102514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22 CuadroTexto"/>
          <p:cNvSpPr txBox="1"/>
          <p:nvPr/>
        </p:nvSpPr>
        <p:spPr>
          <a:xfrm>
            <a:off x="3283890" y="5764922"/>
            <a:ext cx="6391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dirty="0"/>
              <a:t>2</a:t>
            </a:r>
          </a:p>
        </p:txBody>
      </p:sp>
      <p:sp>
        <p:nvSpPr>
          <p:cNvPr id="21" name="Text Box 29"/>
          <p:cNvSpPr txBox="1">
            <a:spLocks noChangeArrowheads="1"/>
          </p:cNvSpPr>
          <p:nvPr/>
        </p:nvSpPr>
        <p:spPr bwMode="auto">
          <a:xfrm>
            <a:off x="5362189" y="2060847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22" name="Text Box 35"/>
          <p:cNvSpPr txBox="1">
            <a:spLocks noChangeArrowheads="1"/>
          </p:cNvSpPr>
          <p:nvPr/>
        </p:nvSpPr>
        <p:spPr bwMode="auto">
          <a:xfrm>
            <a:off x="5376706" y="3468234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24" name="Text Box 30"/>
          <p:cNvSpPr txBox="1">
            <a:spLocks noChangeArrowheads="1"/>
          </p:cNvSpPr>
          <p:nvPr/>
        </p:nvSpPr>
        <p:spPr bwMode="auto">
          <a:xfrm>
            <a:off x="5362189" y="2825818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501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7242" y="1"/>
            <a:ext cx="9136757" cy="6863679"/>
            <a:chOff x="7242" y="1"/>
            <a:chExt cx="9136757" cy="6863679"/>
          </a:xfrm>
        </p:grpSpPr>
        <p:graphicFrame>
          <p:nvGraphicFramePr>
            <p:cNvPr id="20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63192543"/>
                </p:ext>
              </p:extLst>
            </p:nvPr>
          </p:nvGraphicFramePr>
          <p:xfrm>
            <a:off x="7242" y="22186"/>
            <a:ext cx="9136757" cy="6841494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Ajuste de barandas entrada a Llenadora (BT3)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OPL-PACK-ENV-REAP-04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400600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21" name="Picture 2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" name="4 CuadroTexto"/>
          <p:cNvSpPr txBox="1"/>
          <p:nvPr/>
        </p:nvSpPr>
        <p:spPr>
          <a:xfrm>
            <a:off x="7021712" y="2825818"/>
            <a:ext cx="176006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Manualmente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7021712" y="3468234"/>
            <a:ext cx="1776017" cy="138499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Ajustar barandas  abriendo y cerrando las manijas de ajuste , para libre paso de las botellas según formato a producir.</a:t>
            </a:r>
          </a:p>
        </p:txBody>
      </p:sp>
      <p:pic>
        <p:nvPicPr>
          <p:cNvPr id="8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815" y="5044499"/>
            <a:ext cx="2016224" cy="108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8 CuadroTexto"/>
          <p:cNvSpPr txBox="1"/>
          <p:nvPr/>
        </p:nvSpPr>
        <p:spPr>
          <a:xfrm>
            <a:off x="7021712" y="2060847"/>
            <a:ext cx="1584176" cy="5847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600" b="1" i="1" dirty="0"/>
              <a:t>Cada cambio de sku´s</a:t>
            </a:r>
          </a:p>
        </p:txBody>
      </p:sp>
      <p:pic>
        <p:nvPicPr>
          <p:cNvPr id="2050" name="Picture 2" descr="C:\Users\eclmoreno\AppData\Local\Microsoft\Windows\Temporary Internet Files\Content.Outlook\OXX1ET7T\20151123_140301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53" y="1988840"/>
            <a:ext cx="4306485" cy="38884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Text Box 29"/>
          <p:cNvSpPr txBox="1">
            <a:spLocks noChangeArrowheads="1"/>
          </p:cNvSpPr>
          <p:nvPr/>
        </p:nvSpPr>
        <p:spPr bwMode="auto">
          <a:xfrm>
            <a:off x="5362189" y="2060847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7" name="Text Box 35"/>
          <p:cNvSpPr txBox="1">
            <a:spLocks noChangeArrowheads="1"/>
          </p:cNvSpPr>
          <p:nvPr/>
        </p:nvSpPr>
        <p:spPr bwMode="auto">
          <a:xfrm>
            <a:off x="5376706" y="3468234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8" name="Text Box 30"/>
          <p:cNvSpPr txBox="1">
            <a:spLocks noChangeArrowheads="1"/>
          </p:cNvSpPr>
          <p:nvPr/>
        </p:nvSpPr>
        <p:spPr bwMode="auto">
          <a:xfrm>
            <a:off x="5362189" y="2825818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61244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7242" y="1"/>
            <a:ext cx="9136757" cy="6863679"/>
            <a:chOff x="7242" y="1"/>
            <a:chExt cx="9136757" cy="6863679"/>
          </a:xfrm>
        </p:grpSpPr>
        <p:graphicFrame>
          <p:nvGraphicFramePr>
            <p:cNvPr id="20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832574"/>
                </p:ext>
              </p:extLst>
            </p:nvPr>
          </p:nvGraphicFramePr>
          <p:xfrm>
            <a:off x="7242" y="22186"/>
            <a:ext cx="9136757" cy="6841494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Sistema de ajuste de </a:t>
                        </a:r>
                        <a:r>
                          <a:rPr kumimoji="0" lang="es-ES_tradnl" sz="1400" b="1" i="0" u="none" strike="noStrike" cap="none" normalizeH="0" baseline="0" dirty="0" err="1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calderin</a:t>
                        </a: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 y coronador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OPL-PACK-ENV-REAP-05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400600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21" name="Picture 2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7 CuadroTexto"/>
          <p:cNvSpPr txBox="1"/>
          <p:nvPr/>
        </p:nvSpPr>
        <p:spPr>
          <a:xfrm>
            <a:off x="6948264" y="2570560"/>
            <a:ext cx="176006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Llave de boca 24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6804248" y="3212976"/>
            <a:ext cx="2195736" cy="330859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100" b="1" i="1" dirty="0"/>
              <a:t>Ajustar calderin al tamaño de la altura de la botella.</a:t>
            </a:r>
          </a:p>
          <a:p>
            <a:r>
              <a:rPr lang="es-EC" sz="1100" b="1" i="1" dirty="0"/>
              <a:t>1.- Inducir la llave en el botón del tablero de mando para ajustes de alturas.</a:t>
            </a:r>
          </a:p>
          <a:p>
            <a:r>
              <a:rPr lang="es-EC" sz="1100" b="1" i="1" dirty="0"/>
              <a:t>2.- Aflojar los pernos de cada una de las torres (6) </a:t>
            </a:r>
          </a:p>
          <a:p>
            <a:r>
              <a:rPr lang="es-EC" sz="1100" b="1" i="1" dirty="0"/>
              <a:t>3.- Ajustar altura del calderin desde el selector ubicado en el panel sobre el coronador.</a:t>
            </a:r>
          </a:p>
          <a:p>
            <a:r>
              <a:rPr lang="es-EC" sz="1100" b="1" i="1" dirty="0"/>
              <a:t>4.- Una vez alcanzada la altura deseada apretar los pernos de cada una de las torres.</a:t>
            </a:r>
          </a:p>
          <a:p>
            <a:r>
              <a:rPr lang="es-EC" sz="1100" b="1" i="1" dirty="0"/>
              <a:t>5.- Ajustar altura del coronador en el mismo panel donde esta ubicado ele selector de altura del calderin (Automaticamente).</a:t>
            </a:r>
          </a:p>
          <a:p>
            <a:endParaRPr lang="es-EC" sz="1100" b="1" i="1" dirty="0"/>
          </a:p>
          <a:p>
            <a:endParaRPr lang="es-EC" sz="1100" b="1" i="1" dirty="0"/>
          </a:p>
        </p:txBody>
      </p:sp>
      <p:pic>
        <p:nvPicPr>
          <p:cNvPr id="11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376" y="5161700"/>
            <a:ext cx="2016224" cy="108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6948264" y="1805589"/>
            <a:ext cx="1584176" cy="5847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600" b="1" i="1" dirty="0"/>
              <a:t>Cada cambio de sku´s</a:t>
            </a:r>
          </a:p>
        </p:txBody>
      </p:sp>
      <p:pic>
        <p:nvPicPr>
          <p:cNvPr id="3074" name="Picture 2" descr="C:\Users\eclmoreno\AppData\Local\Microsoft\Windows\Temporary Internet Files\Content.Outlook\OXX1ET7T\20151123_140428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4" y="1937970"/>
            <a:ext cx="4489580" cy="359776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5240216" y="1805589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7" name="Text Box 35"/>
          <p:cNvSpPr txBox="1">
            <a:spLocks noChangeArrowheads="1"/>
          </p:cNvSpPr>
          <p:nvPr/>
        </p:nvSpPr>
        <p:spPr bwMode="auto">
          <a:xfrm>
            <a:off x="5254733" y="3212976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8" name="Text Box 30"/>
          <p:cNvSpPr txBox="1">
            <a:spLocks noChangeArrowheads="1"/>
          </p:cNvSpPr>
          <p:nvPr/>
        </p:nvSpPr>
        <p:spPr bwMode="auto">
          <a:xfrm>
            <a:off x="5240216" y="2570560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96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7242" y="1"/>
            <a:ext cx="9136757" cy="6863679"/>
            <a:chOff x="7242" y="1"/>
            <a:chExt cx="9136757" cy="6863679"/>
          </a:xfrm>
        </p:grpSpPr>
        <p:graphicFrame>
          <p:nvGraphicFramePr>
            <p:cNvPr id="20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735127153"/>
                </p:ext>
              </p:extLst>
            </p:nvPr>
          </p:nvGraphicFramePr>
          <p:xfrm>
            <a:off x="7242" y="22186"/>
            <a:ext cx="9136757" cy="6841494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Alineación correcta de duchas de salida llenadora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OPL-PACK-ENV-REAP-06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400600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21" name="Picture 2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7 CuadroTexto"/>
          <p:cNvSpPr txBox="1"/>
          <p:nvPr/>
        </p:nvSpPr>
        <p:spPr>
          <a:xfrm>
            <a:off x="7076330" y="2828598"/>
            <a:ext cx="176006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Actividad manual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7076330" y="3471014"/>
            <a:ext cx="1776017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Ajustar las duchas de salida de la Llenadora aflojando las manijas de ajuste ubicada en la salida de botellas, buscando que chorro de agua impacte en pico de las botellas. </a:t>
            </a:r>
          </a:p>
        </p:txBody>
      </p:sp>
      <p:pic>
        <p:nvPicPr>
          <p:cNvPr id="11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102" y="5243441"/>
            <a:ext cx="2016224" cy="108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7076330" y="2063627"/>
            <a:ext cx="1584176" cy="5847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600" b="1" i="1" dirty="0"/>
              <a:t>Cada cambio de sku´s</a:t>
            </a:r>
          </a:p>
        </p:txBody>
      </p:sp>
      <p:pic>
        <p:nvPicPr>
          <p:cNvPr id="4098" name="Picture 2" descr="C:\Users\eclmoreno\AppData\Local\Microsoft\Windows\Temporary Internet Files\Content.Outlook\OXX1ET7T\20151123_140614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58284"/>
            <a:ext cx="4198219" cy="36440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6" name="Text Box 29"/>
          <p:cNvSpPr txBox="1">
            <a:spLocks noChangeArrowheads="1"/>
          </p:cNvSpPr>
          <p:nvPr/>
        </p:nvSpPr>
        <p:spPr bwMode="auto">
          <a:xfrm>
            <a:off x="5362189" y="2060847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7" name="Text Box 35"/>
          <p:cNvSpPr txBox="1">
            <a:spLocks noChangeArrowheads="1"/>
          </p:cNvSpPr>
          <p:nvPr/>
        </p:nvSpPr>
        <p:spPr bwMode="auto">
          <a:xfrm>
            <a:off x="5376706" y="3468234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8" name="Text Box 30"/>
          <p:cNvSpPr txBox="1">
            <a:spLocks noChangeArrowheads="1"/>
          </p:cNvSpPr>
          <p:nvPr/>
        </p:nvSpPr>
        <p:spPr bwMode="auto">
          <a:xfrm>
            <a:off x="5362189" y="2825818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790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7242" y="1"/>
            <a:ext cx="9136757" cy="6863679"/>
            <a:chOff x="7242" y="1"/>
            <a:chExt cx="9136757" cy="6863679"/>
          </a:xfrm>
        </p:grpSpPr>
        <p:graphicFrame>
          <p:nvGraphicFramePr>
            <p:cNvPr id="21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87248354"/>
                </p:ext>
              </p:extLst>
            </p:nvPr>
          </p:nvGraphicFramePr>
          <p:xfrm>
            <a:off x="7242" y="22186"/>
            <a:ext cx="9136757" cy="6841494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Alineación Fotocelda presencia de botellas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OPL-PACK-ENV-REAP-07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400600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22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7 CuadroTexto"/>
          <p:cNvSpPr txBox="1"/>
          <p:nvPr/>
        </p:nvSpPr>
        <p:spPr>
          <a:xfrm>
            <a:off x="7000683" y="2900880"/>
            <a:ext cx="176006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 err="1"/>
              <a:t>LLave</a:t>
            </a:r>
            <a:r>
              <a:rPr lang="es-EC" sz="1400" b="1" i="1" dirty="0"/>
              <a:t> 13 Y Llave 17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7000683" y="3543296"/>
            <a:ext cx="1776017" cy="20313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Se Ajusta el sensor de presencia de botellas con la llave 13 la que le da movimiento a la fotocelda y el espejo ubicado en la parte frontal con l llave 17 según la altura del sku.</a:t>
            </a:r>
          </a:p>
        </p:txBody>
      </p:sp>
      <p:pic>
        <p:nvPicPr>
          <p:cNvPr id="11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1949" y="5379443"/>
            <a:ext cx="2016224" cy="108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1 CuadroTexto"/>
          <p:cNvSpPr txBox="1"/>
          <p:nvPr/>
        </p:nvSpPr>
        <p:spPr>
          <a:xfrm>
            <a:off x="7000683" y="2080980"/>
            <a:ext cx="1584176" cy="5847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600" b="1" i="1" dirty="0"/>
              <a:t>Cada cambio de sku´s</a:t>
            </a:r>
          </a:p>
        </p:txBody>
      </p:sp>
      <p:pic>
        <p:nvPicPr>
          <p:cNvPr id="13" name="Picture 2" descr="C:\Users\ecccordova\AppData\Local\Microsoft\Windows\Temporary Internet Files\Content.Outlook\QD335UFA\20151123_154352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737828" y="2028481"/>
            <a:ext cx="3419872" cy="36724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Text Box 29"/>
          <p:cNvSpPr txBox="1">
            <a:spLocks noChangeArrowheads="1"/>
          </p:cNvSpPr>
          <p:nvPr/>
        </p:nvSpPr>
        <p:spPr bwMode="auto">
          <a:xfrm>
            <a:off x="5329982" y="2117050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8" name="Text Box 35"/>
          <p:cNvSpPr txBox="1">
            <a:spLocks noChangeArrowheads="1"/>
          </p:cNvSpPr>
          <p:nvPr/>
        </p:nvSpPr>
        <p:spPr bwMode="auto">
          <a:xfrm>
            <a:off x="5344499" y="3562323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5329982" y="2919907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945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7242" y="1"/>
            <a:ext cx="9136757" cy="6863679"/>
            <a:chOff x="7242" y="1"/>
            <a:chExt cx="9136757" cy="6863679"/>
          </a:xfrm>
        </p:grpSpPr>
        <p:graphicFrame>
          <p:nvGraphicFramePr>
            <p:cNvPr id="27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16338047"/>
                </p:ext>
              </p:extLst>
            </p:nvPr>
          </p:nvGraphicFramePr>
          <p:xfrm>
            <a:off x="7242" y="22186"/>
            <a:ext cx="9136757" cy="6841494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Perno de sujeción tornillo sin fin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OPL-PACK-ENV-REAP-08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400600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31" name="Picture 30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3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8 CuadroTexto"/>
          <p:cNvSpPr txBox="1"/>
          <p:nvPr/>
        </p:nvSpPr>
        <p:spPr>
          <a:xfrm>
            <a:off x="7092280" y="2570560"/>
            <a:ext cx="176006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Llave 17 y Llave 19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7092280" y="3212976"/>
            <a:ext cx="1950000" cy="28931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1.- Al realizar cambio de Sku ( tornillo sin fin ) se lo retira teniendo precaución de la cuña ubicado en el eje de la caja reductora.</a:t>
            </a:r>
          </a:p>
          <a:p>
            <a:r>
              <a:rPr lang="es-EC" sz="1400" b="1" i="1" dirty="0"/>
              <a:t>2.- Retiramos los pernos de sujeción de ajuste del eje del tornillo sin fin con la llave 17  y la seguridad del transporte con la llave 19.</a:t>
            </a:r>
          </a:p>
        </p:txBody>
      </p:sp>
      <p:pic>
        <p:nvPicPr>
          <p:cNvPr id="12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149080"/>
            <a:ext cx="2016224" cy="108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12 CuadroTexto"/>
          <p:cNvSpPr txBox="1"/>
          <p:nvPr/>
        </p:nvSpPr>
        <p:spPr>
          <a:xfrm>
            <a:off x="7092280" y="1805589"/>
            <a:ext cx="1584176" cy="58477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600" b="1" i="1" dirty="0"/>
              <a:t>Cada cambio de sku´s</a:t>
            </a:r>
          </a:p>
        </p:txBody>
      </p:sp>
      <p:pic>
        <p:nvPicPr>
          <p:cNvPr id="1026" name="Picture 2" descr="C:\Users\ecccordova\AppData\Local\Microsoft\Windows\Temporary Internet Files\Content.Outlook\QD335UFA\20151123_140707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78" b="25726"/>
          <a:stretch/>
        </p:blipFill>
        <p:spPr bwMode="auto">
          <a:xfrm>
            <a:off x="395536" y="2204865"/>
            <a:ext cx="3917732" cy="31683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14" name="13 Conector recto de flecha"/>
          <p:cNvCxnSpPr/>
          <p:nvPr/>
        </p:nvCxnSpPr>
        <p:spPr>
          <a:xfrm flipH="1" flipV="1">
            <a:off x="4161423" y="3861049"/>
            <a:ext cx="698609" cy="32403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35"/>
          <p:cNvSpPr txBox="1">
            <a:spLocks noChangeArrowheads="1"/>
          </p:cNvSpPr>
          <p:nvPr/>
        </p:nvSpPr>
        <p:spPr bwMode="auto">
          <a:xfrm>
            <a:off x="4319431" y="4185083"/>
            <a:ext cx="756625" cy="307777"/>
          </a:xfrm>
          <a:prstGeom prst="rect">
            <a:avLst/>
          </a:prstGeom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ES" b="1" i="1" dirty="0">
                <a:solidFill>
                  <a:srgbClr val="000000"/>
                </a:solidFill>
              </a:rPr>
              <a:t>Cuña</a:t>
            </a:r>
          </a:p>
        </p:txBody>
      </p:sp>
      <p:cxnSp>
        <p:nvCxnSpPr>
          <p:cNvPr id="18" name="17 Conector recto de flecha"/>
          <p:cNvCxnSpPr/>
          <p:nvPr/>
        </p:nvCxnSpPr>
        <p:spPr>
          <a:xfrm flipV="1">
            <a:off x="827584" y="4023066"/>
            <a:ext cx="112004" cy="1494167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 de flecha"/>
          <p:cNvCxnSpPr/>
          <p:nvPr/>
        </p:nvCxnSpPr>
        <p:spPr>
          <a:xfrm flipV="1">
            <a:off x="483686" y="4625888"/>
            <a:ext cx="559922" cy="1030952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Box 35"/>
          <p:cNvSpPr txBox="1">
            <a:spLocks noChangeArrowheads="1"/>
          </p:cNvSpPr>
          <p:nvPr/>
        </p:nvSpPr>
        <p:spPr bwMode="auto">
          <a:xfrm>
            <a:off x="473958" y="5642551"/>
            <a:ext cx="828819" cy="307777"/>
          </a:xfrm>
          <a:prstGeom prst="rect">
            <a:avLst/>
          </a:prstGeom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ES" b="1" i="1" dirty="0">
                <a:solidFill>
                  <a:srgbClr val="000000"/>
                </a:solidFill>
              </a:rPr>
              <a:t>Llave 17</a:t>
            </a:r>
          </a:p>
        </p:txBody>
      </p:sp>
      <p:sp>
        <p:nvSpPr>
          <p:cNvPr id="29" name="Text Box 35"/>
          <p:cNvSpPr txBox="1">
            <a:spLocks noChangeArrowheads="1"/>
          </p:cNvSpPr>
          <p:nvPr/>
        </p:nvSpPr>
        <p:spPr bwMode="auto">
          <a:xfrm>
            <a:off x="1333198" y="5373217"/>
            <a:ext cx="828819" cy="307777"/>
          </a:xfrm>
          <a:prstGeom prst="rect">
            <a:avLst/>
          </a:prstGeom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ES" b="1" i="1" dirty="0">
                <a:solidFill>
                  <a:srgbClr val="000000"/>
                </a:solidFill>
              </a:rPr>
              <a:t>Llave 19</a:t>
            </a:r>
          </a:p>
        </p:txBody>
      </p:sp>
      <p:cxnSp>
        <p:nvCxnSpPr>
          <p:cNvPr id="30" name="29 Conector recto de flecha"/>
          <p:cNvCxnSpPr/>
          <p:nvPr/>
        </p:nvCxnSpPr>
        <p:spPr>
          <a:xfrm flipH="1" flipV="1">
            <a:off x="1196008" y="4941168"/>
            <a:ext cx="423664" cy="4320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Box 29"/>
          <p:cNvSpPr txBox="1">
            <a:spLocks noChangeArrowheads="1"/>
          </p:cNvSpPr>
          <p:nvPr/>
        </p:nvSpPr>
        <p:spPr bwMode="auto">
          <a:xfrm>
            <a:off x="5421579" y="1810754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24" name="Text Box 35"/>
          <p:cNvSpPr txBox="1">
            <a:spLocks noChangeArrowheads="1"/>
          </p:cNvSpPr>
          <p:nvPr/>
        </p:nvSpPr>
        <p:spPr bwMode="auto">
          <a:xfrm>
            <a:off x="5436096" y="3218141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25" name="Text Box 30"/>
          <p:cNvSpPr txBox="1">
            <a:spLocks noChangeArrowheads="1"/>
          </p:cNvSpPr>
          <p:nvPr/>
        </p:nvSpPr>
        <p:spPr bwMode="auto">
          <a:xfrm>
            <a:off x="5421579" y="2575725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0595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7242" y="1"/>
            <a:ext cx="9136757" cy="6863679"/>
            <a:chOff x="7242" y="1"/>
            <a:chExt cx="9136757" cy="6863679"/>
          </a:xfrm>
        </p:grpSpPr>
        <p:graphicFrame>
          <p:nvGraphicFramePr>
            <p:cNvPr id="21" name="Group 17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686326429"/>
                </p:ext>
              </p:extLst>
            </p:nvPr>
          </p:nvGraphicFramePr>
          <p:xfrm>
            <a:off x="7242" y="22186"/>
            <a:ext cx="9136757" cy="6841494"/>
          </p:xfrm>
          <a:graphic>
            <a:graphicData uri="http://schemas.openxmlformats.org/drawingml/2006/table">
              <a:tbl>
                <a:tblPr/>
                <a:tblGrid>
                  <a:gridCol w="2506440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4851296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779021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526494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s-BO" sz="2000" b="1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OPL</a:t>
                        </a:r>
                        <a:r>
                          <a:rPr lang="es-BO" sz="2000" b="1" baseline="0" dirty="0">
                            <a:solidFill>
                              <a:srgbClr val="00820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HEINEKEN Core" panose="02000503050000020004" pitchFamily="2" charset="0"/>
                          </a:rPr>
                          <a:t> – LECCION DE UN PUNTO</a:t>
                        </a:r>
                        <a:endParaRPr lang="es-BO" sz="2000" b="1" dirty="0">
                          <a:solidFill>
                            <a:srgbClr val="0082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</a:pPr>
                        <a:endParaRPr kumimoji="0" lang="es-E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88513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</a:rPr>
                          <a:t>Condición Básica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MANTENIMIENTO  AUTONOMO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8200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Revisión: </a:t>
                        </a:r>
                        <a:r>
                          <a:rPr kumimoji="0" lang="es-ES_tradnl" sz="12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04</a:t>
                        </a: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71745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Área: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Envasado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Tema: </a:t>
                        </a:r>
                        <a:r>
                          <a:rPr kumimoji="0" lang="es-ES" sz="1400" b="1" i="0" u="none" strike="noStrike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cs typeface="Times New Roman" pitchFamily="18" charset="0"/>
                          </a:rPr>
                          <a:t>Revisión soportes tulipa centradora</a:t>
                        </a:r>
                        <a:endParaRPr kumimoji="0" lang="es-ES_tradnl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cs typeface="Times New Roman" pitchFamily="18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Fecha: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22/06/2020</a:t>
                        </a:r>
                        <a:endParaRPr kumimoji="0" lang="es-ES_tradnl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770010582"/>
                    </a:ext>
                  </a:extLst>
                </a:tr>
                <a:tr h="254977"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Máquina: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Llenadora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4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Código: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Times New Roman" pitchFamily="18" charset="0"/>
                            <a:cs typeface="Arial" charset="0"/>
                          </a:rPr>
                          <a:t> </a:t>
                        </a:r>
                        <a:r>
                          <a:rPr kumimoji="0" lang="es-AR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OPL-PACK-ENV-REAP-09</a:t>
                        </a: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Times New Roman" pitchFamily="18" charset="0"/>
                          </a:rPr>
                          <a:t>Edición:</a:t>
                        </a:r>
                        <a:r>
                          <a:rPr kumimoji="0" lang="es-ES_tradnl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rgbClr val="008200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      </a:t>
                        </a:r>
                        <a:r>
                          <a:rPr kumimoji="0" lang="es-EC" sz="1200" b="1" i="0" u="none" strike="noStrike" kern="1200" cap="none" normalizeH="0" baseline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HEINEKEN Core" panose="02000503050000020004" pitchFamily="2" charset="0"/>
                            <a:ea typeface="+mn-ea"/>
                            <a:cs typeface="+mn-cs"/>
                          </a:rPr>
                          <a:t>T Moreno</a:t>
                        </a: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997840126"/>
                    </a:ext>
                  </a:extLst>
                </a:tr>
                <a:tr h="5400600">
                  <a:tc gridSpan="3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ctr" defTabSz="914400" rtl="0" eaLnBrk="0" fontAlgn="base" latinLnBrk="0" hangingPunct="0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tc hMerge="1">
                    <a:txBody>
                      <a:bodyPr/>
                      <a:lstStyle/>
                      <a:p>
                        <a:pPr marL="342900" marR="0" lvl="0" indent="-342900" algn="l" defTabSz="914400" rtl="0" eaLnBrk="1" fontAlgn="base" latinLnBrk="0" hangingPunct="1">
                          <a:lnSpc>
                            <a:spcPct val="100000"/>
                          </a:lnSpc>
                          <a:spcBef>
                            <a:spcPct val="0"/>
                          </a:spcBef>
                          <a:spcAft>
                            <a:spcPct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s-ES_tradnl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EINEKEN Core" panose="02000503050000020004" pitchFamily="2" charset="0"/>
                          <a:ea typeface="+mn-ea"/>
                          <a:cs typeface="+mn-cs"/>
                        </a:endParaRPr>
                      </a:p>
                    </a:txBody>
                    <a:tcPr marL="99060" marR="99060" anchor="ctr" horzOverflow="overflow">
                      <a:lnL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000000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>
                        <a:noFill/>
                      </a:lnTlToBr>
                      <a:lnBlToTr>
                        <a:noFill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277966859"/>
                    </a:ext>
                  </a:extLst>
                </a:tr>
              </a:tbl>
            </a:graphicData>
          </a:graphic>
        </p:graphicFrame>
        <p:pic>
          <p:nvPicPr>
            <p:cNvPr id="22" name="Picture 2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544" y="1"/>
              <a:ext cx="1440160" cy="5259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48049" y="44624"/>
              <a:ext cx="1104298" cy="4833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" name="8 CuadroTexto"/>
          <p:cNvSpPr txBox="1"/>
          <p:nvPr/>
        </p:nvSpPr>
        <p:spPr>
          <a:xfrm>
            <a:off x="7092280" y="2570560"/>
            <a:ext cx="1760067" cy="307777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400" b="1" i="1" dirty="0"/>
              <a:t>Llave 10 y 13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7092280" y="3212976"/>
            <a:ext cx="1950000" cy="3046988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200" i="1" dirty="0"/>
              <a:t>1.- Verificar correcto ajuste de tornillos ubicados en el puente superior  utilizando la llave 10 y colocándola en la punta del tornillo con loctite azul.</a:t>
            </a:r>
          </a:p>
          <a:p>
            <a:r>
              <a:rPr lang="es-EC" sz="1200" i="1" dirty="0"/>
              <a:t>2.- Verificar correcto ajuste de perno ubicado en la válvula de llenado con la llave 13.</a:t>
            </a:r>
          </a:p>
          <a:p>
            <a:r>
              <a:rPr lang="es-EC" sz="1200" i="1" dirty="0"/>
              <a:t>3.- Verificar el correcto centrado de la tulipa, que la vincha tenga un correcto agarre, soportes no deben estar torcidos.</a:t>
            </a:r>
          </a:p>
          <a:p>
            <a:endParaRPr lang="es-EC" sz="1200" i="1" dirty="0"/>
          </a:p>
        </p:txBody>
      </p:sp>
      <p:pic>
        <p:nvPicPr>
          <p:cNvPr id="12" name="Picture 2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149080"/>
            <a:ext cx="2016224" cy="1082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12 CuadroTexto"/>
          <p:cNvSpPr txBox="1"/>
          <p:nvPr/>
        </p:nvSpPr>
        <p:spPr>
          <a:xfrm>
            <a:off x="7092280" y="1805589"/>
            <a:ext cx="1584176" cy="3385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s-EC" sz="1600" b="1" i="1" dirty="0"/>
              <a:t>Semanal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rcRect t="6989"/>
          <a:stretch/>
        </p:blipFill>
        <p:spPr>
          <a:xfrm>
            <a:off x="1187624" y="1805589"/>
            <a:ext cx="2952328" cy="39812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Text Box 29"/>
          <p:cNvSpPr txBox="1">
            <a:spLocks noChangeArrowheads="1"/>
          </p:cNvSpPr>
          <p:nvPr/>
        </p:nvSpPr>
        <p:spPr bwMode="auto">
          <a:xfrm>
            <a:off x="5493587" y="1805589"/>
            <a:ext cx="1298736" cy="523220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lang="es-MX" sz="1400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Frecuencia de limpieza:</a:t>
            </a:r>
            <a:endParaRPr lang="es-ES" sz="1400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8" name="Text Box 35"/>
          <p:cNvSpPr txBox="1">
            <a:spLocks noChangeArrowheads="1"/>
          </p:cNvSpPr>
          <p:nvPr/>
        </p:nvSpPr>
        <p:spPr bwMode="auto">
          <a:xfrm>
            <a:off x="5508104" y="3212976"/>
            <a:ext cx="1284219" cy="523875"/>
          </a:xfrm>
          <a:prstGeom prst="rect">
            <a:avLst/>
          </a:prstGeom>
          <a:solidFill>
            <a:srgbClr val="008200"/>
          </a:solidFill>
          <a:ln w="9525">
            <a:solidFill>
              <a:schemeClr val="tx2"/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Trabajos a Ejecutar: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  <p:sp>
        <p:nvSpPr>
          <p:cNvPr id="19" name="Text Box 30"/>
          <p:cNvSpPr txBox="1">
            <a:spLocks noChangeArrowheads="1"/>
          </p:cNvSpPr>
          <p:nvPr/>
        </p:nvSpPr>
        <p:spPr bwMode="auto">
          <a:xfrm>
            <a:off x="5493587" y="2570560"/>
            <a:ext cx="1284219" cy="307777"/>
          </a:xfrm>
          <a:prstGeom prst="rect">
            <a:avLst/>
          </a:prstGeom>
          <a:solidFill>
            <a:srgbClr val="008200"/>
          </a:solidFill>
          <a:ln w="1270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s-ES"/>
            </a:defPPr>
            <a:lvl1pPr eaLnBrk="0" hangingPunct="0">
              <a:spcBef>
                <a:spcPct val="50000"/>
              </a:spcBef>
              <a:defRPr sz="1400"/>
            </a:lvl1pPr>
          </a:lstStyle>
          <a:p>
            <a:pPr>
              <a:defRPr/>
            </a:pPr>
            <a:r>
              <a:rPr lang="es-MX" b="1" i="1" dirty="0">
                <a:solidFill>
                  <a:schemeClr val="bg1"/>
                </a:solidFill>
                <a:latin typeface="HEINEKEN Core" panose="02000503050000020004" pitchFamily="2" charset="0"/>
              </a:rPr>
              <a:t>Materiales</a:t>
            </a:r>
            <a:endParaRPr lang="es-ES" b="1" i="1" dirty="0">
              <a:solidFill>
                <a:schemeClr val="bg1"/>
              </a:solidFill>
              <a:latin typeface="HEINEKEN Core" panose="0200050305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595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ABE4F0146DB64EBC5498D9D22CB75D" ma:contentTypeVersion="13" ma:contentTypeDescription="Create a new document." ma:contentTypeScope="" ma:versionID="6a06a4c36be43faa7f57e5cf2a55c30f">
  <xsd:schema xmlns:xsd="http://www.w3.org/2001/XMLSchema" xmlns:xs="http://www.w3.org/2001/XMLSchema" xmlns:p="http://schemas.microsoft.com/office/2006/metadata/properties" xmlns:ns2="a4f75dbb-4df3-481c-a5f5-80a559f112dd" xmlns:ns3="f323b21d-0708-442e-b7c2-520a641cc472" targetNamespace="http://schemas.microsoft.com/office/2006/metadata/properties" ma:root="true" ma:fieldsID="d1c068e4dccecae1efb4dd54bb87cc6f" ns2:_="" ns3:_="">
    <xsd:import namespace="a4f75dbb-4df3-481c-a5f5-80a559f112dd"/>
    <xsd:import namespace="f323b21d-0708-442e-b7c2-520a641cc4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75dbb-4df3-481c-a5f5-80a559f112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3b21d-0708-442e-b7c2-520a641cc4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E23A3D7-B9E0-4B50-BD03-B4447868954D}"/>
</file>

<file path=customXml/itemProps2.xml><?xml version="1.0" encoding="utf-8"?>
<ds:datastoreItem xmlns:ds="http://schemas.openxmlformats.org/officeDocument/2006/customXml" ds:itemID="{B96BD10B-CEB7-473A-82D1-A6AD0E9CFDD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AB17C1-5F57-49E0-B893-816F224EC8D8}">
  <ds:schemaRefs>
    <ds:schemaRef ds:uri="http://schemas.microsoft.com/office/2006/documentManagement/types"/>
    <ds:schemaRef ds:uri="a4f75dbb-4df3-481c-a5f5-80a559f112dd"/>
    <ds:schemaRef ds:uri="http://www.w3.org/XML/1998/namespace"/>
    <ds:schemaRef ds:uri="f323b21d-0708-442e-b7c2-520a641cc472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1106</TotalTime>
  <Words>875</Words>
  <Application>Microsoft Office PowerPoint</Application>
  <PresentationFormat>On-screen Show (4:3)</PresentationFormat>
  <Paragraphs>163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HEINEKEN Core</vt:lpstr>
      <vt:lpstr>Wingdings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Cordova Espinal, Carlos</dc:creator>
  <cp:lastModifiedBy>Tamara Estefania Moreno Almeida</cp:lastModifiedBy>
  <cp:revision>51</cp:revision>
  <cp:lastPrinted>2021-04-14T18:58:59Z</cp:lastPrinted>
  <dcterms:created xsi:type="dcterms:W3CDTF">2015-11-25T19:58:53Z</dcterms:created>
  <dcterms:modified xsi:type="dcterms:W3CDTF">2021-04-14T21:52:25Z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0x01010071ABE4F0146DB64EBC5498D9D22CB75D</vt:lpwstr>
  </property>
  <property fmtid="{D5CDD505-2E9C-101B-9397-08002B2CF9AE}" pid="3" name="Order">
    <vt:r8>415200</vt:r8>
  </property>
</Properties>
</file>