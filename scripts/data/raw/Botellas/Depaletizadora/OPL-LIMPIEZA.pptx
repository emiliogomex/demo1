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66" r:id="rId3"/>
    <p:sldId id="261" r:id="rId4"/>
    <p:sldId id="263" r:id="rId5"/>
    <p:sldId id="265" r:id="rId6"/>
    <p:sldId id="269" r:id="rId7"/>
    <p:sldId id="274" r:id="rId8"/>
    <p:sldId id="275" r:id="rId9"/>
  </p:sldIdLst>
  <p:sldSz cx="9144000" cy="6858000" type="screen4x3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660"/>
  </p:normalViewPr>
  <p:slideViewPr>
    <p:cSldViewPr>
      <p:cViewPr varScale="1">
        <p:scale>
          <a:sx n="56" d="100"/>
          <a:sy n="56" d="100"/>
        </p:scale>
        <p:origin x="40" y="3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D66C9-C2C7-4AA9-9014-A619A4F32043}" type="datetimeFigureOut">
              <a:rPr lang="es-MX" smtClean="0"/>
              <a:t>11/12/2019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70368-278A-4B9C-A249-AF7160C0DC0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729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85888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7087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063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53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369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1715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202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5431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25320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7264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96501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61442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85382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69009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35798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09306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2450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72697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62452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8666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611200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8480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124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9680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 redondeado"/>
          <p:cNvSpPr/>
          <p:nvPr/>
        </p:nvSpPr>
        <p:spPr>
          <a:xfrm>
            <a:off x="208113" y="2196618"/>
            <a:ext cx="8928991" cy="122413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OPL-PACK-INSPECTOR</a:t>
            </a:r>
            <a:r>
              <a:rPr kumimoji="0" lang="es-EC" sz="1800" b="0" i="1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BOTELLAS VACIAS</a:t>
            </a:r>
            <a:endParaRPr kumimoji="0" lang="es-EC" sz="1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Limpieza-ajuste e inspección- lubricación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LIMPIEZA</a:t>
            </a:r>
            <a:endParaRPr kumimoji="0" lang="es-EC" sz="1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WordArt 2"/>
          <p:cNvSpPr>
            <a:spLocks noChangeArrowheads="1" noChangeShapeType="1" noTextEdit="1"/>
          </p:cNvSpPr>
          <p:nvPr/>
        </p:nvSpPr>
        <p:spPr bwMode="auto">
          <a:xfrm rot="5400000">
            <a:off x="-1596028" y="3870945"/>
            <a:ext cx="4536506" cy="288031"/>
          </a:xfrm>
          <a:prstGeom prst="rect">
            <a:avLst/>
          </a:prstGeom>
          <a:noFill/>
          <a:ln>
            <a:noFill/>
          </a:ln>
          <a:extLst/>
        </p:spPr>
        <p:txBody>
          <a:bodyPr vert="wordArtVert" wrap="none" numCol="1" fromWordArt="1">
            <a:prstTxWarp prst="textPlain">
              <a:avLst>
                <a:gd name="adj" fmla="val 50000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3600" b="0" i="0" u="none" strike="noStrike" kern="10" cap="small" spc="0" normalizeH="0" baseline="0" noProof="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808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4" name="3 Elipse"/>
          <p:cNvSpPr/>
          <p:nvPr/>
        </p:nvSpPr>
        <p:spPr>
          <a:xfrm>
            <a:off x="2608362" y="3888806"/>
            <a:ext cx="515399" cy="4320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4 Elipse"/>
          <p:cNvSpPr/>
          <p:nvPr/>
        </p:nvSpPr>
        <p:spPr>
          <a:xfrm>
            <a:off x="2608362" y="4536878"/>
            <a:ext cx="515399" cy="43204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5 Elipse"/>
          <p:cNvSpPr/>
          <p:nvPr/>
        </p:nvSpPr>
        <p:spPr>
          <a:xfrm>
            <a:off x="2608363" y="5189898"/>
            <a:ext cx="515398" cy="4271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608363" y="5905030"/>
            <a:ext cx="51539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4008817" y="3816799"/>
            <a:ext cx="2808312" cy="43204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diaria 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008817" y="4536878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semanal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4008817" y="5184950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quincenal 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4008817" y="5905030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mensual 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6613344" y="2547237"/>
            <a:ext cx="2304255" cy="35397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s-EC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Autónomo</a:t>
            </a: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323206" y="2495746"/>
            <a:ext cx="2304256" cy="4569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Mantenimiento</a:t>
            </a: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7951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940623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INSPECTOR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LIMPIEZA CAJA DE LAMPARA INSP PARED 1 - 2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10 Rectángulo">
            <a:extLst>
              <a:ext uri="{FF2B5EF4-FFF2-40B4-BE49-F238E27FC236}">
                <a16:creationId xmlns:a16="http://schemas.microsoft.com/office/drawing/2014/main" id="{B1FFA0CC-59F6-4266-9934-2B27931B8C60}"/>
              </a:ext>
            </a:extLst>
          </p:cNvPr>
          <p:cNvSpPr/>
          <p:nvPr/>
        </p:nvSpPr>
        <p:spPr>
          <a:xfrm>
            <a:off x="4724553" y="2540545"/>
            <a:ext cx="4281905" cy="36004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Realizar </a:t>
            </a:r>
            <a:r>
              <a:rPr lang="es-MX" dirty="0">
                <a:solidFill>
                  <a:srgbClr val="000000"/>
                </a:solidFill>
              </a:rPr>
              <a:t>el trabajo con el equipo </a:t>
            </a:r>
            <a:r>
              <a:rPr lang="es-MX" dirty="0" smtClean="0">
                <a:solidFill>
                  <a:srgbClr val="000000"/>
                </a:solidFill>
              </a:rPr>
              <a:t>apagado</a:t>
            </a:r>
          </a:p>
          <a:p>
            <a:pPr marL="342900" indent="-342900">
              <a:buFontTx/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Abrir la caja de la lámpara de inspección de pared</a:t>
            </a: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Limpiar con un paño seco la superficie del vidrio y revisar que se encuentre en buen estado</a:t>
            </a: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Notificar en caso de encontrar novedades</a:t>
            </a:r>
          </a:p>
          <a:p>
            <a:pPr marL="342900" indent="-342900">
              <a:buAutoNum type="arabicPeriod"/>
            </a:pPr>
            <a:endParaRPr lang="es-MX" dirty="0">
              <a:solidFill>
                <a:srgbClr val="000000"/>
              </a:solidFill>
            </a:endParaRPr>
          </a:p>
          <a:p>
            <a:endParaRPr lang="es-MX" dirty="0">
              <a:solidFill>
                <a:srgbClr val="000000"/>
              </a:solidFill>
            </a:endParaRP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2DD0A2BE-CE5E-42F3-A045-BAB9C7859009}"/>
              </a:ext>
            </a:extLst>
          </p:cNvPr>
          <p:cNvSpPr txBox="1"/>
          <p:nvPr/>
        </p:nvSpPr>
        <p:spPr>
          <a:xfrm>
            <a:off x="138510" y="1504307"/>
            <a:ext cx="335336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b="1" i="1" u="sng" dirty="0" smtClean="0">
                <a:highlight>
                  <a:srgbClr val="FF0000"/>
                </a:highlight>
              </a:rPr>
              <a:t>DIARIA</a:t>
            </a:r>
            <a:endParaRPr lang="es-EC" sz="1600" i="1" dirty="0">
              <a:highlight>
                <a:srgbClr val="FF0000"/>
              </a:highlight>
            </a:endParaRP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3851920" y="1497431"/>
            <a:ext cx="257119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r>
              <a:rPr lang="es-EC" sz="1600" dirty="0"/>
              <a:t>Paño seco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F2B269F-E0CF-4389-A42E-90A6CD750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20" y="2492896"/>
            <a:ext cx="2377104" cy="369569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CAF3E3D-5C4B-4606-B2B8-80038B23BE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3051" y="2492895"/>
            <a:ext cx="2009775" cy="36957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823FB3-C317-4A5F-8402-1A84600C704E}"/>
              </a:ext>
            </a:extLst>
          </p:cNvPr>
          <p:cNvSpPr txBox="1"/>
          <p:nvPr/>
        </p:nvSpPr>
        <p:spPr>
          <a:xfrm>
            <a:off x="802712" y="6209547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PARED </a:t>
            </a:r>
            <a:r>
              <a:rPr lang="es-EC" dirty="0" smtClean="0"/>
              <a:t>1</a:t>
            </a:r>
          </a:p>
          <a:p>
            <a:r>
              <a:rPr lang="es-EC" dirty="0" smtClean="0"/>
              <a:t>Entrada</a:t>
            </a:r>
            <a:endParaRPr lang="es-EC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71C369E-BA00-4376-8F6D-B2C0C363D485}"/>
              </a:ext>
            </a:extLst>
          </p:cNvPr>
          <p:cNvSpPr txBox="1"/>
          <p:nvPr/>
        </p:nvSpPr>
        <p:spPr>
          <a:xfrm>
            <a:off x="3088902" y="6228020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PARED </a:t>
            </a:r>
            <a:r>
              <a:rPr lang="es-EC" dirty="0" smtClean="0"/>
              <a:t>2</a:t>
            </a:r>
          </a:p>
          <a:p>
            <a:r>
              <a:rPr lang="es-EC" dirty="0" smtClean="0"/>
              <a:t>Salida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8008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384977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INSPECTOR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LIMPIEZA DE CAMARAS DE INSPECCION BOCA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10 Rectángulo">
            <a:extLst>
              <a:ext uri="{FF2B5EF4-FFF2-40B4-BE49-F238E27FC236}">
                <a16:creationId xmlns:a16="http://schemas.microsoft.com/office/drawing/2014/main" id="{B1FFA0CC-59F6-4266-9934-2B27931B8C60}"/>
              </a:ext>
            </a:extLst>
          </p:cNvPr>
          <p:cNvSpPr/>
          <p:nvPr/>
        </p:nvSpPr>
        <p:spPr>
          <a:xfrm>
            <a:off x="1171935" y="4482799"/>
            <a:ext cx="6194832" cy="19214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pPr marL="342900" indent="-342900">
              <a:buFontTx/>
              <a:buAutoNum type="arabicPeriod"/>
            </a:pPr>
            <a:r>
              <a:rPr lang="es-MX" dirty="0">
                <a:solidFill>
                  <a:srgbClr val="000000"/>
                </a:solidFill>
              </a:rPr>
              <a:t>Realizar el trabajo con el equipo </a:t>
            </a:r>
            <a:r>
              <a:rPr lang="es-MX" dirty="0" smtClean="0">
                <a:solidFill>
                  <a:srgbClr val="000000"/>
                </a:solidFill>
              </a:rPr>
              <a:t>apagado</a:t>
            </a: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Abra las puertas de protección del equipo y con </a:t>
            </a:r>
            <a:r>
              <a:rPr lang="es-MX" dirty="0">
                <a:solidFill>
                  <a:srgbClr val="000000"/>
                </a:solidFill>
              </a:rPr>
              <a:t>un trapo seco limpie los sensores</a:t>
            </a:r>
          </a:p>
          <a:p>
            <a:pPr marL="342900" indent="-342900">
              <a:buAutoNum type="arabicPeriod"/>
            </a:pPr>
            <a:r>
              <a:rPr lang="es-MX" dirty="0">
                <a:solidFill>
                  <a:srgbClr val="000000"/>
                </a:solidFill>
              </a:rPr>
              <a:t>Verificar </a:t>
            </a:r>
            <a:r>
              <a:rPr lang="es-MX" dirty="0" smtClean="0">
                <a:solidFill>
                  <a:srgbClr val="000000"/>
                </a:solidFill>
              </a:rPr>
              <a:t>posicionamiento/fijación </a:t>
            </a:r>
            <a:r>
              <a:rPr lang="es-MX" dirty="0">
                <a:solidFill>
                  <a:srgbClr val="000000"/>
                </a:solidFill>
              </a:rPr>
              <a:t>para asegurar correcto funcionamiento</a:t>
            </a: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2588365" y="1501714"/>
            <a:ext cx="257119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</a:t>
            </a:r>
            <a:r>
              <a:rPr lang="es-EC" sz="1600" dirty="0"/>
              <a:t>  </a:t>
            </a:r>
            <a:r>
              <a:rPr lang="es-EC" sz="1600" dirty="0" smtClean="0"/>
              <a:t>Paño </a:t>
            </a:r>
            <a:r>
              <a:rPr lang="es-EC" sz="1600" dirty="0"/>
              <a:t>seco</a:t>
            </a:r>
          </a:p>
        </p:txBody>
      </p:sp>
      <p:sp>
        <p:nvSpPr>
          <p:cNvPr id="8" name="9 CuadroTexto">
            <a:extLst>
              <a:ext uri="{FF2B5EF4-FFF2-40B4-BE49-F238E27FC236}">
                <a16:creationId xmlns:a16="http://schemas.microsoft.com/office/drawing/2014/main" id="{5010B7E5-1B09-42D3-A42C-CB5D2ABF5324}"/>
              </a:ext>
            </a:extLst>
          </p:cNvPr>
          <p:cNvSpPr txBox="1"/>
          <p:nvPr/>
        </p:nvSpPr>
        <p:spPr>
          <a:xfrm>
            <a:off x="138510" y="1504307"/>
            <a:ext cx="2201241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4EFBBB81-9500-4540-9B24-C6EDE56786CC}"/>
              </a:ext>
            </a:extLst>
          </p:cNvPr>
          <p:cNvGrpSpPr/>
          <p:nvPr/>
        </p:nvGrpSpPr>
        <p:grpSpPr>
          <a:xfrm>
            <a:off x="226038" y="2088784"/>
            <a:ext cx="6435722" cy="2032323"/>
            <a:chOff x="1380522" y="2257945"/>
            <a:chExt cx="7367943" cy="2082218"/>
          </a:xfrm>
        </p:grpSpPr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AA29863E-EAAA-431B-8E22-077F0D1FA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80522" y="2257945"/>
              <a:ext cx="4898726" cy="1661948"/>
            </a:xfrm>
            <a:prstGeom prst="rect">
              <a:avLst/>
            </a:prstGeom>
          </p:spPr>
        </p:pic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BF5B20C9-2AD8-4760-BEA8-F8F0BA1F0665}"/>
                </a:ext>
              </a:extLst>
            </p:cNvPr>
            <p:cNvGrpSpPr/>
            <p:nvPr/>
          </p:nvGrpSpPr>
          <p:grpSpPr>
            <a:xfrm>
              <a:off x="1661374" y="2645102"/>
              <a:ext cx="7087091" cy="1695061"/>
              <a:chOff x="1594806" y="2805766"/>
              <a:chExt cx="7144018" cy="1865162"/>
            </a:xfrm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BEFFA113-0AAC-4550-AFB0-B612E46702E7}"/>
                  </a:ext>
                </a:extLst>
              </p:cNvPr>
              <p:cNvGrpSpPr/>
              <p:nvPr/>
            </p:nvGrpSpPr>
            <p:grpSpPr>
              <a:xfrm>
                <a:off x="1594806" y="2869961"/>
                <a:ext cx="7144018" cy="1800967"/>
                <a:chOff x="1611244" y="2887946"/>
                <a:chExt cx="7224935" cy="1848854"/>
              </a:xfrm>
            </p:grpSpPr>
            <p:grpSp>
              <p:nvGrpSpPr>
                <p:cNvPr id="17" name="Grupo 16">
                  <a:extLst>
                    <a:ext uri="{FF2B5EF4-FFF2-40B4-BE49-F238E27FC236}">
                      <a16:creationId xmlns:a16="http://schemas.microsoft.com/office/drawing/2014/main" id="{DDC0B31A-7737-4821-BE12-7A7DD659A6B3}"/>
                    </a:ext>
                  </a:extLst>
                </p:cNvPr>
                <p:cNvGrpSpPr/>
                <p:nvPr/>
              </p:nvGrpSpPr>
              <p:grpSpPr>
                <a:xfrm>
                  <a:off x="1611244" y="2887946"/>
                  <a:ext cx="5214587" cy="1229059"/>
                  <a:chOff x="2911587" y="2862729"/>
                  <a:chExt cx="5214587" cy="1229059"/>
                </a:xfrm>
              </p:grpSpPr>
              <p:cxnSp>
                <p:nvCxnSpPr>
                  <p:cNvPr id="12" name="Conector recto de flecha 11">
                    <a:extLst>
                      <a:ext uri="{FF2B5EF4-FFF2-40B4-BE49-F238E27FC236}">
                        <a16:creationId xmlns:a16="http://schemas.microsoft.com/office/drawing/2014/main" id="{38A27771-3B7C-4629-A0F6-70872D1CA2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1587" y="2940974"/>
                    <a:ext cx="5138624" cy="115081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Conector recto de flecha 13">
                    <a:extLst>
                      <a:ext uri="{FF2B5EF4-FFF2-40B4-BE49-F238E27FC236}">
                        <a16:creationId xmlns:a16="http://schemas.microsoft.com/office/drawing/2014/main" id="{F8E488C7-26C8-4CEA-9175-94E3E7EC87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12830" y="2862729"/>
                    <a:ext cx="3513344" cy="783058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BDAABB14-9CC5-4037-B0BE-57A5A9D99185}"/>
                    </a:ext>
                  </a:extLst>
                </p:cNvPr>
                <p:cNvSpPr txBox="1"/>
                <p:nvPr/>
              </p:nvSpPr>
              <p:spPr>
                <a:xfrm>
                  <a:off x="6884912" y="2990432"/>
                  <a:ext cx="1628472" cy="4642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C" dirty="0" smtClean="0"/>
                    <a:t>INSP </a:t>
                  </a:r>
                  <a:r>
                    <a:rPr lang="es-EC" dirty="0"/>
                    <a:t>BOCA</a:t>
                  </a:r>
                </a:p>
              </p:txBody>
            </p:sp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2802902D-0CFF-4B5F-A391-C7D7E80897FC}"/>
                    </a:ext>
                  </a:extLst>
                </p:cNvPr>
                <p:cNvSpPr txBox="1"/>
                <p:nvPr/>
              </p:nvSpPr>
              <p:spPr>
                <a:xfrm>
                  <a:off x="6870598" y="3430152"/>
                  <a:ext cx="1914289" cy="4642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C" dirty="0"/>
                    <a:t>INSP FONDO</a:t>
                  </a:r>
                </a:p>
              </p:txBody>
            </p:sp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4FE77A3D-F337-4346-9773-EA9D84A5E7D5}"/>
                    </a:ext>
                  </a:extLst>
                </p:cNvPr>
                <p:cNvSpPr txBox="1"/>
                <p:nvPr/>
              </p:nvSpPr>
              <p:spPr>
                <a:xfrm>
                  <a:off x="6921890" y="3924360"/>
                  <a:ext cx="1914289" cy="8124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C" dirty="0"/>
                    <a:t>INSP RESIDUO CAUSTICO</a:t>
                  </a:r>
                </a:p>
              </p:txBody>
            </p:sp>
          </p:grpSp>
          <p:cxnSp>
            <p:nvCxnSpPr>
              <p:cNvPr id="6" name="Conector recto de flecha 5">
                <a:extLst>
                  <a:ext uri="{FF2B5EF4-FFF2-40B4-BE49-F238E27FC236}">
                    <a16:creationId xmlns:a16="http://schemas.microsoft.com/office/drawing/2014/main" id="{C9023343-3A15-48B0-A62B-7815C01EF6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5873" y="2805766"/>
                <a:ext cx="1610232" cy="37493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5485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03512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pasteurizador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OPL-PACK-PZ-03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ESPEJOS DE REFLEXION INSPECCION PARED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10 Rectángulo">
            <a:extLst>
              <a:ext uri="{FF2B5EF4-FFF2-40B4-BE49-F238E27FC236}">
                <a16:creationId xmlns:a16="http://schemas.microsoft.com/office/drawing/2014/main" id="{B1FFA0CC-59F6-4266-9934-2B27931B8C60}"/>
              </a:ext>
            </a:extLst>
          </p:cNvPr>
          <p:cNvSpPr/>
          <p:nvPr/>
        </p:nvSpPr>
        <p:spPr>
          <a:xfrm>
            <a:off x="5004048" y="2089082"/>
            <a:ext cx="4012553" cy="43642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dirty="0">
                <a:solidFill>
                  <a:srgbClr val="000000"/>
                </a:solidFill>
              </a:rPr>
              <a:t>Realice el trabajo con el equipo apagado</a:t>
            </a:r>
          </a:p>
          <a:p>
            <a:pPr marL="342900" indent="-342900">
              <a:buAutoNum type="arabicPeriod"/>
            </a:pPr>
            <a:endParaRPr lang="es-MX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dirty="0">
                <a:solidFill>
                  <a:srgbClr val="000000"/>
                </a:solidFill>
              </a:rPr>
              <a:t>Limpie </a:t>
            </a:r>
            <a:r>
              <a:rPr lang="es-MX" dirty="0" smtClean="0">
                <a:solidFill>
                  <a:srgbClr val="000000"/>
                </a:solidFill>
              </a:rPr>
              <a:t>los espejos de reflexión de la inspección de pared con un paño seco</a:t>
            </a:r>
          </a:p>
          <a:p>
            <a:pPr marL="342900" indent="-342900">
              <a:buAutoNum type="arabicPeriod"/>
            </a:pPr>
            <a:endParaRPr lang="es-MX" dirty="0" smtClean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Asegurarse que no quede alguna mancha en el espejo puesto que interfiere en la inspección de botellas</a:t>
            </a:r>
            <a:endParaRPr lang="es-MX" dirty="0" smtClean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endParaRPr lang="es-MX" dirty="0" smtClean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Reportar en caso de encontrar novedades</a:t>
            </a:r>
            <a:endParaRPr lang="es-MX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endParaRPr lang="es-MX" dirty="0">
              <a:solidFill>
                <a:srgbClr val="000000"/>
              </a:solidFill>
            </a:endParaRP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1943093" y="1501714"/>
            <a:ext cx="257119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r>
              <a:rPr lang="es-EC" sz="1600" dirty="0"/>
              <a:t> </a:t>
            </a:r>
            <a:r>
              <a:rPr lang="es-EC" sz="1600" dirty="0" smtClean="0"/>
              <a:t>Paño seco</a:t>
            </a:r>
            <a:endParaRPr lang="es-EC" sz="1600" dirty="0"/>
          </a:p>
        </p:txBody>
      </p:sp>
      <p:sp>
        <p:nvSpPr>
          <p:cNvPr id="8" name="9 CuadroTexto">
            <a:extLst>
              <a:ext uri="{FF2B5EF4-FFF2-40B4-BE49-F238E27FC236}">
                <a16:creationId xmlns:a16="http://schemas.microsoft.com/office/drawing/2014/main" id="{5010B7E5-1B09-42D3-A42C-CB5D2ABF5324}"/>
              </a:ext>
            </a:extLst>
          </p:cNvPr>
          <p:cNvSpPr txBox="1"/>
          <p:nvPr/>
        </p:nvSpPr>
        <p:spPr>
          <a:xfrm>
            <a:off x="138511" y="1504307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F0FA4D-89BE-4178-986C-BF431E8CB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422" y="2405829"/>
            <a:ext cx="2326323" cy="32545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CFA4B6-B787-4883-B2A1-0063CD8AE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89" y="2405829"/>
            <a:ext cx="2141120" cy="325450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307DB1F-E3E4-4898-B61A-F284D262B8AD}"/>
              </a:ext>
            </a:extLst>
          </p:cNvPr>
          <p:cNvSpPr txBox="1"/>
          <p:nvPr/>
        </p:nvSpPr>
        <p:spPr>
          <a:xfrm>
            <a:off x="773643" y="5660331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PARED </a:t>
            </a:r>
            <a:r>
              <a:rPr lang="es-EC" dirty="0" smtClean="0"/>
              <a:t>1</a:t>
            </a:r>
          </a:p>
          <a:p>
            <a:r>
              <a:rPr lang="es-EC" dirty="0" smtClean="0"/>
              <a:t>ENTRADA</a:t>
            </a:r>
            <a:endParaRPr lang="es-EC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B28D35-D3AE-48AB-B308-A3B8CA7AEC5E}"/>
              </a:ext>
            </a:extLst>
          </p:cNvPr>
          <p:cNvSpPr txBox="1"/>
          <p:nvPr/>
        </p:nvSpPr>
        <p:spPr>
          <a:xfrm>
            <a:off x="3059833" y="5660331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PARED </a:t>
            </a:r>
            <a:r>
              <a:rPr lang="es-EC" dirty="0" smtClean="0"/>
              <a:t>2</a:t>
            </a:r>
          </a:p>
          <a:p>
            <a:r>
              <a:rPr lang="es-EC" dirty="0" smtClean="0"/>
              <a:t>SALIDA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2507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968575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pasteurizador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OPL-PACK-PZ-08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LIMPIEZA DEL DISPOSITIVO SOPLADOR DE FONDO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9 CuadroTexto">
            <a:extLst>
              <a:ext uri="{FF2B5EF4-FFF2-40B4-BE49-F238E27FC236}">
                <a16:creationId xmlns:a16="http://schemas.microsoft.com/office/drawing/2014/main" id="{2DD0A2BE-CE5E-42F3-A045-BAB9C7859009}"/>
              </a:ext>
            </a:extLst>
          </p:cNvPr>
          <p:cNvSpPr txBox="1"/>
          <p:nvPr/>
        </p:nvSpPr>
        <p:spPr>
          <a:xfrm>
            <a:off x="138511" y="1504307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</a:p>
          <a:p>
            <a:pPr algn="ctr"/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1943093" y="1501714"/>
            <a:ext cx="2052843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endParaRPr lang="es-EC" sz="1600" b="1" i="1" u="sng" dirty="0" smtClean="0"/>
          </a:p>
          <a:p>
            <a:pPr algn="ctr"/>
            <a:r>
              <a:rPr lang="es-EC" sz="1600" dirty="0" smtClean="0"/>
              <a:t>Paño </a:t>
            </a:r>
            <a:r>
              <a:rPr lang="es-EC" sz="1600" dirty="0" smtClean="0"/>
              <a:t>húmedo</a:t>
            </a:r>
            <a:endParaRPr lang="es-EC" sz="1600" dirty="0"/>
          </a:p>
        </p:txBody>
      </p:sp>
      <p:sp>
        <p:nvSpPr>
          <p:cNvPr id="16" name="10 Rectángulo">
            <a:extLst>
              <a:ext uri="{FF2B5EF4-FFF2-40B4-BE49-F238E27FC236}">
                <a16:creationId xmlns:a16="http://schemas.microsoft.com/office/drawing/2014/main" id="{CDD9B1B5-8F03-4548-BD7E-BF597BED9280}"/>
              </a:ext>
            </a:extLst>
          </p:cNvPr>
          <p:cNvSpPr/>
          <p:nvPr/>
        </p:nvSpPr>
        <p:spPr>
          <a:xfrm>
            <a:off x="4499992" y="1501714"/>
            <a:ext cx="4281905" cy="306896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sz="1600" dirty="0" smtClean="0">
                <a:solidFill>
                  <a:srgbClr val="000000"/>
                </a:solidFill>
              </a:rPr>
              <a:t>Realizar </a:t>
            </a:r>
            <a:r>
              <a:rPr lang="es-MX" sz="1600" dirty="0">
                <a:solidFill>
                  <a:srgbClr val="000000"/>
                </a:solidFill>
              </a:rPr>
              <a:t>el trabajo con el equipo </a:t>
            </a:r>
            <a:r>
              <a:rPr lang="es-MX" sz="1600" dirty="0" smtClean="0">
                <a:solidFill>
                  <a:srgbClr val="000000"/>
                </a:solidFill>
              </a:rPr>
              <a:t>apagado</a:t>
            </a:r>
          </a:p>
          <a:p>
            <a:pPr marL="342900" indent="-342900">
              <a:buAutoNum type="arabicPeriod"/>
            </a:pPr>
            <a:r>
              <a:rPr lang="es-MX" sz="1600" dirty="0" smtClean="0">
                <a:solidFill>
                  <a:srgbClr val="000000"/>
                </a:solidFill>
              </a:rPr>
              <a:t>Retirar el cepillo de la base del </a:t>
            </a:r>
            <a:r>
              <a:rPr lang="es-MX" sz="1600" dirty="0" err="1" smtClean="0">
                <a:solidFill>
                  <a:srgbClr val="000000"/>
                </a:solidFill>
              </a:rPr>
              <a:t>blower</a:t>
            </a:r>
            <a:endParaRPr lang="es-MX" sz="1600" dirty="0" smtClean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sz="1600" dirty="0">
                <a:solidFill>
                  <a:srgbClr val="000000"/>
                </a:solidFill>
              </a:rPr>
              <a:t>Remojar el cepillo soplador de fondo </a:t>
            </a:r>
            <a:r>
              <a:rPr lang="es-MX" sz="1600" dirty="0" smtClean="0">
                <a:solidFill>
                  <a:srgbClr val="000000"/>
                </a:solidFill>
              </a:rPr>
              <a:t>con agua, de preferencia tibia, </a:t>
            </a:r>
            <a:r>
              <a:rPr lang="es-MX" sz="1600" dirty="0" smtClean="0">
                <a:solidFill>
                  <a:srgbClr val="000000"/>
                </a:solidFill>
              </a:rPr>
              <a:t>y </a:t>
            </a:r>
            <a:r>
              <a:rPr lang="es-MX" sz="1600" dirty="0" smtClean="0">
                <a:solidFill>
                  <a:srgbClr val="000000"/>
                </a:solidFill>
              </a:rPr>
              <a:t>con la ayuda de un cepillo de cerdas suaves retirar la suciedad que se encuentra en los alrededores del dispositivo</a:t>
            </a:r>
          </a:p>
          <a:p>
            <a:pPr marL="342900" indent="-342900">
              <a:buAutoNum type="arabicPeriod"/>
            </a:pPr>
            <a:r>
              <a:rPr lang="es-MX" sz="1600" dirty="0" smtClean="0">
                <a:solidFill>
                  <a:srgbClr val="000000"/>
                </a:solidFill>
              </a:rPr>
              <a:t>Dejar secar al </a:t>
            </a:r>
            <a:r>
              <a:rPr lang="es-MX" sz="1600" dirty="0" smtClean="0">
                <a:solidFill>
                  <a:srgbClr val="000000"/>
                </a:solidFill>
              </a:rPr>
              <a:t>ambiente y colocar en la base del </a:t>
            </a:r>
            <a:r>
              <a:rPr lang="es-MX" sz="1600" dirty="0" err="1" smtClean="0">
                <a:solidFill>
                  <a:srgbClr val="000000"/>
                </a:solidFill>
              </a:rPr>
              <a:t>blower</a:t>
            </a:r>
            <a:r>
              <a:rPr lang="es-MX" sz="1600" dirty="0" smtClean="0">
                <a:solidFill>
                  <a:srgbClr val="000000"/>
                </a:solidFill>
              </a:rPr>
              <a:t> </a:t>
            </a:r>
          </a:p>
          <a:p>
            <a:pPr marL="342900" indent="-342900">
              <a:buAutoNum type="arabicPeriod"/>
            </a:pPr>
            <a:r>
              <a:rPr lang="es-MX" sz="1600" dirty="0" smtClean="0">
                <a:solidFill>
                  <a:srgbClr val="000000"/>
                </a:solidFill>
              </a:rPr>
              <a:t>Reportar </a:t>
            </a:r>
            <a:r>
              <a:rPr lang="es-MX" sz="1600" dirty="0" smtClean="0">
                <a:solidFill>
                  <a:srgbClr val="000000"/>
                </a:solidFill>
              </a:rPr>
              <a:t>si existen </a:t>
            </a:r>
            <a:r>
              <a:rPr lang="es-MX" sz="1600" dirty="0" smtClean="0">
                <a:solidFill>
                  <a:srgbClr val="000000"/>
                </a:solidFill>
              </a:rPr>
              <a:t>novedades</a:t>
            </a:r>
            <a:endParaRPr lang="es-MX" sz="1600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E192EF-D252-4992-AE33-FD0454A5E5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13870"/>
          <a:stretch/>
        </p:blipFill>
        <p:spPr>
          <a:xfrm>
            <a:off x="4467124" y="4653136"/>
            <a:ext cx="4216769" cy="20193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91" y="2215241"/>
            <a:ext cx="3343275" cy="3571875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1307DB1F-E3E4-4898-B61A-F284D262B8AD}"/>
              </a:ext>
            </a:extLst>
          </p:cNvPr>
          <p:cNvSpPr txBox="1"/>
          <p:nvPr/>
        </p:nvSpPr>
        <p:spPr>
          <a:xfrm>
            <a:off x="1280233" y="5913276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C" dirty="0" smtClean="0"/>
              <a:t>Cepillo</a:t>
            </a:r>
          </a:p>
          <a:p>
            <a:pPr marL="342900" indent="-342900">
              <a:buAutoNum type="arabicPeriod"/>
            </a:pPr>
            <a:r>
              <a:rPr lang="es-EC" dirty="0" smtClean="0"/>
              <a:t>Base </a:t>
            </a:r>
            <a:r>
              <a:rPr lang="es-EC" dirty="0" err="1" smtClean="0"/>
              <a:t>blower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82380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382823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pasteurizador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OPL-PACK-PZ-08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TAPA</a:t>
                      </a:r>
                      <a:r>
                        <a:rPr lang="es-MX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VIDRIO PROTECTOR 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9 CuadroTexto">
            <a:extLst>
              <a:ext uri="{FF2B5EF4-FFF2-40B4-BE49-F238E27FC236}">
                <a16:creationId xmlns:a16="http://schemas.microsoft.com/office/drawing/2014/main" id="{2DD0A2BE-CE5E-42F3-A045-BAB9C7859009}"/>
              </a:ext>
            </a:extLst>
          </p:cNvPr>
          <p:cNvSpPr txBox="1"/>
          <p:nvPr/>
        </p:nvSpPr>
        <p:spPr>
          <a:xfrm>
            <a:off x="1043608" y="1538626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</a:p>
          <a:p>
            <a:pPr algn="ctr"/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2848190" y="1536032"/>
            <a:ext cx="1836819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r>
              <a:rPr lang="es-EC" sz="1600" dirty="0"/>
              <a:t>Paño </a:t>
            </a:r>
            <a:r>
              <a:rPr lang="es-EC" sz="1600" dirty="0" smtClean="0"/>
              <a:t>húmedo</a:t>
            </a:r>
            <a:endParaRPr lang="es-EC" sz="1600" dirty="0"/>
          </a:p>
        </p:txBody>
      </p:sp>
      <p:sp>
        <p:nvSpPr>
          <p:cNvPr id="16" name="10 Rectángulo">
            <a:extLst>
              <a:ext uri="{FF2B5EF4-FFF2-40B4-BE49-F238E27FC236}">
                <a16:creationId xmlns:a16="http://schemas.microsoft.com/office/drawing/2014/main" id="{CDD9B1B5-8F03-4548-BD7E-BF597BED9280}"/>
              </a:ext>
            </a:extLst>
          </p:cNvPr>
          <p:cNvSpPr/>
          <p:nvPr/>
        </p:nvSpPr>
        <p:spPr>
          <a:xfrm>
            <a:off x="5436096" y="2123401"/>
            <a:ext cx="3436489" cy="37444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r>
              <a:rPr lang="es-MX" sz="1600" dirty="0" smtClean="0">
                <a:solidFill>
                  <a:srgbClr val="000000"/>
                </a:solidFill>
              </a:rPr>
              <a:t>1.- Limpiar </a:t>
            </a:r>
            <a:r>
              <a:rPr lang="es-MX" sz="1600" dirty="0">
                <a:solidFill>
                  <a:srgbClr val="000000"/>
                </a:solidFill>
              </a:rPr>
              <a:t>ambos </a:t>
            </a:r>
            <a:r>
              <a:rPr lang="es-MX" sz="1600" dirty="0" smtClean="0">
                <a:solidFill>
                  <a:srgbClr val="000000"/>
                </a:solidFill>
              </a:rPr>
              <a:t>lados de la tapa de vidrio protector de la caja de lámpara. Para poder limpiar la superficie inferior del vidrio protector es necesario retirar los tornillos.</a:t>
            </a:r>
          </a:p>
          <a:p>
            <a:endParaRPr lang="es-MX" sz="1600" dirty="0">
              <a:solidFill>
                <a:srgbClr val="000000"/>
              </a:solidFill>
            </a:endParaRPr>
          </a:p>
          <a:p>
            <a:r>
              <a:rPr lang="es-MX" sz="1600" dirty="0" smtClean="0">
                <a:solidFill>
                  <a:srgbClr val="000000"/>
                </a:solidFill>
              </a:rPr>
              <a:t>*En caso de que el vidrio se encuentre muy sucio, limpiarlo en agua tibia</a:t>
            </a:r>
          </a:p>
          <a:p>
            <a:endParaRPr lang="es-MX" sz="1600" dirty="0" smtClean="0">
              <a:solidFill>
                <a:srgbClr val="000000"/>
              </a:solidFill>
            </a:endParaRPr>
          </a:p>
          <a:p>
            <a:r>
              <a:rPr lang="es-MX" sz="1600" dirty="0" smtClean="0">
                <a:solidFill>
                  <a:srgbClr val="000000"/>
                </a:solidFill>
              </a:rPr>
              <a:t>*Recambiar el vidrio si está rayado o tiene fisuras</a:t>
            </a:r>
          </a:p>
          <a:p>
            <a:endParaRPr lang="es-MX" sz="16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10551" r="9138" b="19111"/>
          <a:stretch/>
        </p:blipFill>
        <p:spPr>
          <a:xfrm>
            <a:off x="467544" y="3068960"/>
            <a:ext cx="478669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5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43255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pasteurizador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OPL-PACK-PZ-08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LIMPIEZA </a:t>
                      </a:r>
                      <a:r>
                        <a:rPr lang="es-MX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</a:t>
                      </a:r>
                      <a:r>
                        <a:rPr lang="es-MX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BARRERAS DE LUZ Y REFLECTORES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9 CuadroTexto">
            <a:extLst>
              <a:ext uri="{FF2B5EF4-FFF2-40B4-BE49-F238E27FC236}">
                <a16:creationId xmlns:a16="http://schemas.microsoft.com/office/drawing/2014/main" id="{2DD0A2BE-CE5E-42F3-A045-BAB9C7859009}"/>
              </a:ext>
            </a:extLst>
          </p:cNvPr>
          <p:cNvSpPr txBox="1"/>
          <p:nvPr/>
        </p:nvSpPr>
        <p:spPr>
          <a:xfrm>
            <a:off x="138511" y="1504307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</a:p>
          <a:p>
            <a:pPr algn="ctr"/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1943093" y="1501714"/>
            <a:ext cx="257119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r>
              <a:rPr lang="es-EC" sz="1600" dirty="0"/>
              <a:t>Paño </a:t>
            </a:r>
            <a:r>
              <a:rPr lang="es-EC" sz="1600" dirty="0" smtClean="0"/>
              <a:t>seco</a:t>
            </a:r>
            <a:endParaRPr lang="es-EC" sz="1600" dirty="0"/>
          </a:p>
        </p:txBody>
      </p:sp>
      <p:sp>
        <p:nvSpPr>
          <p:cNvPr id="16" name="10 Rectángulo">
            <a:extLst>
              <a:ext uri="{FF2B5EF4-FFF2-40B4-BE49-F238E27FC236}">
                <a16:creationId xmlns:a16="http://schemas.microsoft.com/office/drawing/2014/main" id="{CDD9B1B5-8F03-4548-BD7E-BF597BED9280}"/>
              </a:ext>
            </a:extLst>
          </p:cNvPr>
          <p:cNvSpPr/>
          <p:nvPr/>
        </p:nvSpPr>
        <p:spPr>
          <a:xfrm>
            <a:off x="4734696" y="2168860"/>
            <a:ext cx="4281905" cy="37444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r>
              <a:rPr lang="es-EC" sz="1600" dirty="0" smtClean="0"/>
              <a:t>Verificar que el accionamiento de las barreras de luz y reflectores estén </a:t>
            </a:r>
            <a:r>
              <a:rPr lang="es-EC" sz="1600" dirty="0" smtClean="0"/>
              <a:t>funcionando y </a:t>
            </a:r>
            <a:r>
              <a:rPr lang="es-MX" sz="1600" dirty="0">
                <a:solidFill>
                  <a:srgbClr val="000000"/>
                </a:solidFill>
              </a:rPr>
              <a:t>que las conexiones se encuentren en buen estado </a:t>
            </a:r>
          </a:p>
          <a:p>
            <a:endParaRPr lang="es-EC" sz="1600" dirty="0" smtClean="0"/>
          </a:p>
          <a:p>
            <a:r>
              <a:rPr lang="es-EC" sz="1600" dirty="0"/>
              <a:t>Se prueban </a:t>
            </a:r>
            <a:r>
              <a:rPr lang="es-EC" sz="1600" b="1" u="sng" dirty="0"/>
              <a:t>antes y durante </a:t>
            </a:r>
            <a:r>
              <a:rPr lang="es-EC" sz="1600" dirty="0"/>
              <a:t>producción para verificar que no exista suciedad y cumplan su </a:t>
            </a:r>
            <a:r>
              <a:rPr lang="es-EC" sz="1600" dirty="0" smtClean="0"/>
              <a:t>función</a:t>
            </a:r>
            <a:r>
              <a:rPr lang="es-MX" sz="1600" b="1" u="sng" dirty="0" smtClean="0">
                <a:solidFill>
                  <a:srgbClr val="000000"/>
                </a:solidFill>
              </a:rPr>
              <a:t>. </a:t>
            </a:r>
            <a:r>
              <a:rPr lang="es-EC" sz="1600" dirty="0" smtClean="0"/>
              <a:t>Pasar </a:t>
            </a:r>
            <a:r>
              <a:rPr lang="es-EC" sz="1600" dirty="0" smtClean="0"/>
              <a:t>un paño seco y quitar cualquier suciedad. </a:t>
            </a:r>
          </a:p>
          <a:p>
            <a:endParaRPr lang="es-EC" sz="1600" dirty="0"/>
          </a:p>
          <a:p>
            <a:r>
              <a:rPr lang="es-EC" sz="1600" dirty="0" smtClean="0"/>
              <a:t>En caso de que se active incorrectamente, notificar novedad </a:t>
            </a:r>
            <a:endParaRPr lang="es-EC" sz="1600" dirty="0"/>
          </a:p>
          <a:p>
            <a:endParaRPr lang="es-MX" sz="1600" b="1" u="sng" dirty="0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31" y="2135216"/>
            <a:ext cx="2831567" cy="3933124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1307DB1F-E3E4-4898-B61A-F284D262B8AD}"/>
              </a:ext>
            </a:extLst>
          </p:cNvPr>
          <p:cNvSpPr txBox="1"/>
          <p:nvPr/>
        </p:nvSpPr>
        <p:spPr>
          <a:xfrm>
            <a:off x="1331640" y="6114474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C" dirty="0" smtClean="0"/>
              <a:t>Reflector</a:t>
            </a:r>
          </a:p>
          <a:p>
            <a:pPr marL="342900" indent="-342900">
              <a:buAutoNum type="arabicPeriod"/>
            </a:pPr>
            <a:r>
              <a:rPr lang="es-EC" dirty="0" smtClean="0"/>
              <a:t>Sensor PE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2771426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ABE4F0146DB64EBC5498D9D22CB75D" ma:contentTypeVersion="23" ma:contentTypeDescription="Create a new document." ma:contentTypeScope="" ma:versionID="f14fa7d6feb727413a69e67170209692">
  <xsd:schema xmlns:xsd="http://www.w3.org/2001/XMLSchema" xmlns:xs="http://www.w3.org/2001/XMLSchema" xmlns:p="http://schemas.microsoft.com/office/2006/metadata/properties" xmlns:ns2="a4f75dbb-4df3-481c-a5f5-80a559f112dd" xmlns:ns3="f323b21d-0708-442e-b7c2-520a641cc472" targetNamespace="http://schemas.microsoft.com/office/2006/metadata/properties" ma:root="true" ma:fieldsID="ae57c621386ebd61ce84cfbfd1af6916" ns2:_="" ns3:_="">
    <xsd:import namespace="a4f75dbb-4df3-481c-a5f5-80a559f112dd"/>
    <xsd:import namespace="f323b21d-0708-442e-b7c2-520a641cc4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Tipo_de_Solicitud" minOccurs="0"/>
                <xsd:element ref="ns2:_Flow_SignoffStatus" minOccurs="0"/>
                <xsd:element ref="ns2:Dateandtime" minOccurs="0"/>
                <xsd:element ref="ns2:MediaServiceObjectDetectorVersions" minOccurs="0"/>
                <xsd:element ref="ns2:MediaServiceSearchProperties" minOccurs="0"/>
                <xsd:element ref="ns2:Detalle" minOccurs="0"/>
                <xsd:element ref="ns2:Fech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5dbb-4df3-481c-a5f5-80a559f11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aa43d79-0337-43fd-9094-582e52f079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ipo_de_Solicitud" ma:index="24" nillable="true" ma:displayName="Menu_de_Solicitudes" ma:format="Dropdown" ma:internalName="Tipo_de_Solicitud">
      <xsd:simpleType>
        <xsd:restriction base="dms:Text">
          <xsd:maxLength value="255"/>
        </xsd:restriction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Dateandtime" ma:index="26" nillable="true" ma:displayName="Date and time" ma:format="DateOnly" ma:internalName="Dateandtime">
      <xsd:simpleType>
        <xsd:restriction base="dms:DateTim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etalle" ma:index="29" nillable="true" ma:displayName="Detalle" ma:description="Creacion de Guia" ma:format="DateTime" ma:internalName="Detalle">
      <xsd:simpleType>
        <xsd:restriction base="dms:DateTime"/>
      </xsd:simpleType>
    </xsd:element>
    <xsd:element name="Fecha" ma:index="30" nillable="true" ma:displayName="Fecha" ma:format="DateOnly" ma:internalName="Fecha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3b21d-0708-442e-b7c2-520a641cc4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a16dee9-2ef2-4e1f-bf24-50e3e3c5c4d4}" ma:internalName="TaxCatchAll" ma:showField="CatchAllData" ma:web="f323b21d-0708-442e-b7c2-520a641cc4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ipo_de_Solicitud xmlns="a4f75dbb-4df3-481c-a5f5-80a559f112dd" xsi:nil="true"/>
    <_Flow_SignoffStatus xmlns="a4f75dbb-4df3-481c-a5f5-80a559f112dd" xsi:nil="true"/>
    <lcf76f155ced4ddcb4097134ff3c332f xmlns="a4f75dbb-4df3-481c-a5f5-80a559f112dd">
      <Terms xmlns="http://schemas.microsoft.com/office/infopath/2007/PartnerControls"/>
    </lcf76f155ced4ddcb4097134ff3c332f>
    <TaxCatchAll xmlns="f323b21d-0708-442e-b7c2-520a641cc472" xsi:nil="true"/>
    <Dateandtime xmlns="a4f75dbb-4df3-481c-a5f5-80a559f112dd" xsi:nil="true"/>
    <Detalle xmlns="a4f75dbb-4df3-481c-a5f5-80a559f112dd" xsi:nil="true"/>
    <Fecha xmlns="a4f75dbb-4df3-481c-a5f5-80a559f112dd" xsi:nil="true"/>
  </documentManagement>
</p:properties>
</file>

<file path=customXml/itemProps1.xml><?xml version="1.0" encoding="utf-8"?>
<ds:datastoreItem xmlns:ds="http://schemas.openxmlformats.org/officeDocument/2006/customXml" ds:itemID="{ED97B6EB-E683-42A9-8F49-F3A2EC550AC0}"/>
</file>

<file path=customXml/itemProps2.xml><?xml version="1.0" encoding="utf-8"?>
<ds:datastoreItem xmlns:ds="http://schemas.openxmlformats.org/officeDocument/2006/customXml" ds:itemID="{5984C9A0-B2B6-4FE5-AA1F-A3C8A484EE3E}"/>
</file>

<file path=customXml/itemProps3.xml><?xml version="1.0" encoding="utf-8"?>
<ds:datastoreItem xmlns:ds="http://schemas.openxmlformats.org/officeDocument/2006/customXml" ds:itemID="{957E02BE-9AFD-44A3-9BD9-62D74BF8F214}"/>
</file>

<file path=docProps/app.xml><?xml version="1.0" encoding="utf-8"?>
<Properties xmlns="http://schemas.openxmlformats.org/officeDocument/2006/extended-properties" xmlns:vt="http://schemas.openxmlformats.org/officeDocument/2006/docPropsVTypes">
  <TotalTime>18214</TotalTime>
  <Words>643</Words>
  <Application>Microsoft Office PowerPoint</Application>
  <PresentationFormat>On-screen Show (4:3)</PresentationFormat>
  <Paragraphs>128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Cordova Espinal, Carlos</dc:creator>
  <cp:lastModifiedBy>Tamara Estefania Moreno Almeida</cp:lastModifiedBy>
  <cp:revision>118</cp:revision>
  <dcterms:created xsi:type="dcterms:W3CDTF">2016-11-08T20:02:24Z</dcterms:created>
  <dcterms:modified xsi:type="dcterms:W3CDTF">2019-12-11T18:25:32Z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0x01010071ABE4F0146DB64EBC5498D9D22CB75D</vt:lpwstr>
  </property>
  <property fmtid="{D5CDD505-2E9C-101B-9397-08002B2CF9AE}" pid="3" name="Order">
    <vt:r8>409600</vt:r8>
  </property>
</Properties>
</file>