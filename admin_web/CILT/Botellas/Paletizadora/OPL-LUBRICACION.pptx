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82" r:id="rId5"/>
    <p:sldId id="293" r:id="rId6"/>
    <p:sldId id="284" r:id="rId7"/>
    <p:sldId id="292" r:id="rId8"/>
    <p:sldId id="286" r:id="rId9"/>
    <p:sldId id="287" r:id="rId10"/>
    <p:sldId id="288" r:id="rId11"/>
    <p:sldId id="289" r:id="rId12"/>
    <p:sldId id="290" r:id="rId13"/>
    <p:sldId id="291" r:id="rId14"/>
    <p:sldId id="285" r:id="rId15"/>
  </p:sldIdLst>
  <p:sldSz cx="9144000" cy="6858000" type="screen4x3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53268D-3137-4F4A-A8ED-D2B9895D47A4}" v="4" dt="2022-08-23T21:27:27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3979" autoAdjust="0"/>
  </p:normalViewPr>
  <p:slideViewPr>
    <p:cSldViewPr>
      <p:cViewPr varScale="1">
        <p:scale>
          <a:sx n="67" d="100"/>
          <a:sy n="67" d="100"/>
        </p:scale>
        <p:origin x="142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EA1C3-1EBA-4F4C-971D-1FCB04B7859B}" type="datetimeFigureOut">
              <a:rPr lang="es-MX" smtClean="0"/>
              <a:t>23/08/2022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05C05-0708-44B2-A490-D5463A1C274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055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05C05-0708-44B2-A490-D5463A1C2746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6486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85888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70872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3063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053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369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1715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202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54316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25320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7264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9650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CBA49-FF61-4F94-B7C6-ADF6ECA39200}" type="datetimeFigureOut">
              <a:rPr lang="es-EC" smtClean="0"/>
              <a:t>23/8/2022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124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 redondeado"/>
          <p:cNvSpPr/>
          <p:nvPr/>
        </p:nvSpPr>
        <p:spPr>
          <a:xfrm>
            <a:off x="208113" y="2196618"/>
            <a:ext cx="8928991" cy="122413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OPL-PACK-INSPECTOR</a:t>
            </a:r>
            <a:r>
              <a:rPr kumimoji="0" lang="es-EC" sz="1800" b="0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BOTELLAS VACIAS</a:t>
            </a:r>
            <a:endParaRPr kumimoji="0" lang="es-EC" sz="1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Limpieza-ajuste e inspección- lubricación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LUBRICACION</a:t>
            </a:r>
            <a:endParaRPr kumimoji="0" lang="es-EC" sz="1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WordArt 2"/>
          <p:cNvSpPr>
            <a:spLocks noChangeArrowheads="1" noChangeShapeType="1" noTextEdit="1"/>
          </p:cNvSpPr>
          <p:nvPr/>
        </p:nvSpPr>
        <p:spPr bwMode="auto">
          <a:xfrm rot="5400000">
            <a:off x="-1596028" y="3870945"/>
            <a:ext cx="4536506" cy="288031"/>
          </a:xfrm>
          <a:prstGeom prst="rect">
            <a:avLst/>
          </a:prstGeom>
          <a:noFill/>
          <a:ln>
            <a:noFill/>
          </a:ln>
        </p:spPr>
        <p:txBody>
          <a:bodyPr vert="wordArtVert" wrap="none" numCol="1" fromWordArt="1">
            <a:prstTxWarp prst="textPlain">
              <a:avLst>
                <a:gd name="adj" fmla="val 50000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3600" b="0" i="0" u="none" strike="noStrike" kern="10" cap="small" spc="0" normalizeH="0" baseline="0" noProof="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808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4" name="3 Elipse"/>
          <p:cNvSpPr/>
          <p:nvPr/>
        </p:nvSpPr>
        <p:spPr>
          <a:xfrm>
            <a:off x="2608362" y="3888806"/>
            <a:ext cx="515399" cy="4320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4 Elipse"/>
          <p:cNvSpPr/>
          <p:nvPr/>
        </p:nvSpPr>
        <p:spPr>
          <a:xfrm>
            <a:off x="2608362" y="4536878"/>
            <a:ext cx="515399" cy="43204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5 Elipse"/>
          <p:cNvSpPr/>
          <p:nvPr/>
        </p:nvSpPr>
        <p:spPr>
          <a:xfrm>
            <a:off x="2608363" y="5189898"/>
            <a:ext cx="515398" cy="4271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608363" y="5905030"/>
            <a:ext cx="51539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4008817" y="3816799"/>
            <a:ext cx="2808312" cy="43204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diaria 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4008817" y="4536878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semanal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4008817" y="5184950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quincenal 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4008817" y="5905030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mensual 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6613344" y="2547237"/>
            <a:ext cx="2304255" cy="35397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s-EC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Autónomo</a:t>
            </a: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323206" y="2495746"/>
            <a:ext cx="2304256" cy="4569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Mantenimiento</a:t>
            </a: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7951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5C81DC-DA42-4490-8CC1-E6ADB5B555EF}"/>
              </a:ext>
            </a:extLst>
          </p:cNvPr>
          <p:cNvGraphicFramePr>
            <a:graphicFrameLocks noGrp="1"/>
          </p:cNvGraphicFramePr>
          <p:nvPr/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Aprender cómo realizar la lubricación del Inspector de Botellas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Vacias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RODAMIENTOS EJES DE APOYOS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45" name="Imagen 44">
            <a:extLst>
              <a:ext uri="{FF2B5EF4-FFF2-40B4-BE49-F238E27FC236}">
                <a16:creationId xmlns:a16="http://schemas.microsoft.com/office/drawing/2014/main" id="{CD47A0C2-7AF2-43E2-BEF0-CF60869642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875" t="80478" r="19170" b="14443"/>
          <a:stretch/>
        </p:blipFill>
        <p:spPr>
          <a:xfrm>
            <a:off x="148135" y="101632"/>
            <a:ext cx="1975593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" name="3 Imagen">
            <a:extLst>
              <a:ext uri="{FF2B5EF4-FFF2-40B4-BE49-F238E27FC236}">
                <a16:creationId xmlns:a16="http://schemas.microsoft.com/office/drawing/2014/main" id="{D27F7681-9674-42D6-9DDE-4AD2E0D9AC75}"/>
              </a:ext>
            </a:extLst>
          </p:cNvPr>
          <p:cNvPicPr/>
          <p:nvPr/>
        </p:nvPicPr>
        <p:blipFill rotWithShape="1">
          <a:blip r:embed="rId4"/>
          <a:srcRect l="12940" r="12823" b="9145"/>
          <a:stretch/>
        </p:blipFill>
        <p:spPr>
          <a:xfrm>
            <a:off x="7740352" y="116632"/>
            <a:ext cx="1276249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5" name="10 Rectángulo">
            <a:extLst>
              <a:ext uri="{FF2B5EF4-FFF2-40B4-BE49-F238E27FC236}">
                <a16:creationId xmlns:a16="http://schemas.microsoft.com/office/drawing/2014/main" id="{716A5C25-ADBB-4A8E-86BF-A8D8110F2B5E}"/>
              </a:ext>
            </a:extLst>
          </p:cNvPr>
          <p:cNvSpPr/>
          <p:nvPr/>
        </p:nvSpPr>
        <p:spPr>
          <a:xfrm>
            <a:off x="5796136" y="2278781"/>
            <a:ext cx="3212424" cy="376691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C" b="1" i="1" u="sng" dirty="0"/>
              <a:t>TRABAJOS A EJECUTAR</a:t>
            </a:r>
          </a:p>
          <a:p>
            <a:endParaRPr lang="es-EC" dirty="0"/>
          </a:p>
          <a:p>
            <a:r>
              <a:rPr lang="es-MX" dirty="0">
                <a:solidFill>
                  <a:srgbClr val="000000"/>
                </a:solidFill>
              </a:rPr>
              <a:t>1.- Lubrique con el equipo </a:t>
            </a:r>
            <a:r>
              <a:rPr lang="es-MX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 funcionamiento </a:t>
            </a:r>
          </a:p>
          <a:p>
            <a:r>
              <a:rPr lang="es-MX" dirty="0">
                <a:solidFill>
                  <a:srgbClr val="000000"/>
                </a:solidFill>
              </a:rPr>
              <a:t>3.- Limpie el grasero con un paño </a:t>
            </a:r>
          </a:p>
          <a:p>
            <a:r>
              <a:rPr lang="es-MX" dirty="0">
                <a:solidFill>
                  <a:srgbClr val="000000"/>
                </a:solidFill>
              </a:rPr>
              <a:t>4.-Utilice la grasa recomendada y lubrique con la engrasadora la cantidad establecida </a:t>
            </a:r>
            <a:r>
              <a:rPr lang="es-MX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(5 puntos de lubricación)</a:t>
            </a:r>
          </a:p>
          <a:p>
            <a:r>
              <a:rPr lang="es-MX" dirty="0">
                <a:solidFill>
                  <a:srgbClr val="000000"/>
                </a:solidFill>
              </a:rPr>
              <a:t>5.- Limpie el exceso de grasa de las boquillas de lubricación</a:t>
            </a:r>
          </a:p>
          <a:p>
            <a:r>
              <a:rPr lang="es-MX" dirty="0">
                <a:solidFill>
                  <a:srgbClr val="000000"/>
                </a:solidFill>
              </a:rPr>
              <a:t>6.- Reporte novedades </a:t>
            </a:r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858261D6-EF68-4055-8CC4-34261D7F3B78}"/>
              </a:ext>
            </a:extLst>
          </p:cNvPr>
          <p:cNvSpPr txBox="1"/>
          <p:nvPr/>
        </p:nvSpPr>
        <p:spPr>
          <a:xfrm>
            <a:off x="539093" y="1914386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i="1" dirty="0">
                <a:highlight>
                  <a:srgbClr val="FFFF00"/>
                </a:highlight>
              </a:rPr>
              <a:t>SEMANAL</a:t>
            </a:r>
          </a:p>
        </p:txBody>
      </p:sp>
      <p:sp>
        <p:nvSpPr>
          <p:cNvPr id="11" name="9 CuadroTexto">
            <a:extLst>
              <a:ext uri="{FF2B5EF4-FFF2-40B4-BE49-F238E27FC236}">
                <a16:creationId xmlns:a16="http://schemas.microsoft.com/office/drawing/2014/main" id="{68A4C7AE-E5BC-4F07-BA10-4F60F00537B4}"/>
              </a:ext>
            </a:extLst>
          </p:cNvPr>
          <p:cNvSpPr txBox="1"/>
          <p:nvPr/>
        </p:nvSpPr>
        <p:spPr>
          <a:xfrm>
            <a:off x="2330411" y="1914386"/>
            <a:ext cx="3177236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</a:p>
          <a:p>
            <a:pPr algn="ctr"/>
            <a:r>
              <a:rPr lang="es-EC" sz="1600" dirty="0"/>
              <a:t>REPSOL FG CALCIUM SULFONATE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2A280E5-A2E1-498E-A5C8-6F0DB8F7F2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3140967"/>
            <a:ext cx="4431148" cy="15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0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5C81DC-DA42-4490-8CC1-E6ADB5B55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400235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Aprender cómo realizar la lubricación del Inspector de Botellas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Vacias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GUIAS DE CORREAS DENTADAS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45" name="Imagen 44">
            <a:extLst>
              <a:ext uri="{FF2B5EF4-FFF2-40B4-BE49-F238E27FC236}">
                <a16:creationId xmlns:a16="http://schemas.microsoft.com/office/drawing/2014/main" id="{CD47A0C2-7AF2-43E2-BEF0-CF6086964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1975593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" name="3 Imagen">
            <a:extLst>
              <a:ext uri="{FF2B5EF4-FFF2-40B4-BE49-F238E27FC236}">
                <a16:creationId xmlns:a16="http://schemas.microsoft.com/office/drawing/2014/main" id="{D27F7681-9674-42D6-9DDE-4AD2E0D9AC75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740352" y="116632"/>
            <a:ext cx="1276249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10 Rectángulo">
            <a:extLst>
              <a:ext uri="{FF2B5EF4-FFF2-40B4-BE49-F238E27FC236}">
                <a16:creationId xmlns:a16="http://schemas.microsoft.com/office/drawing/2014/main" id="{716A5C25-ADBB-4A8E-86BF-A8D8110F2B5E}"/>
              </a:ext>
            </a:extLst>
          </p:cNvPr>
          <p:cNvSpPr/>
          <p:nvPr/>
        </p:nvSpPr>
        <p:spPr>
          <a:xfrm>
            <a:off x="595082" y="5086000"/>
            <a:ext cx="8012783" cy="17273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C" b="1" i="1" u="sng" dirty="0"/>
              <a:t>TRABAJOS A EJECUTAR</a:t>
            </a:r>
            <a:endParaRPr lang="es-EC" dirty="0"/>
          </a:p>
          <a:p>
            <a:r>
              <a:rPr lang="es-MX" dirty="0">
                <a:solidFill>
                  <a:srgbClr val="000000"/>
                </a:solidFill>
              </a:rPr>
              <a:t>1.- Lubrique con el equipo </a:t>
            </a:r>
            <a:r>
              <a:rPr lang="es-MX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parado</a:t>
            </a:r>
          </a:p>
          <a:p>
            <a:r>
              <a:rPr lang="es-MX" dirty="0">
                <a:solidFill>
                  <a:srgbClr val="000000"/>
                </a:solidFill>
              </a:rPr>
              <a:t>3.- Limpie con un paño la grasa de las guías</a:t>
            </a:r>
          </a:p>
          <a:p>
            <a:r>
              <a:rPr lang="es-MX" dirty="0">
                <a:solidFill>
                  <a:srgbClr val="000000"/>
                </a:solidFill>
              </a:rPr>
              <a:t>4.-Utilice la grasa recomendada y coloque una fina capa con un pincel o con el dedo</a:t>
            </a:r>
            <a:endParaRPr lang="es-MX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s-MX" dirty="0">
                <a:solidFill>
                  <a:srgbClr val="000000"/>
                </a:solidFill>
              </a:rPr>
              <a:t>5.- Accione los mecanismos lubricados y limpie el exceso de grasa </a:t>
            </a:r>
          </a:p>
          <a:p>
            <a:r>
              <a:rPr lang="es-MX" dirty="0">
                <a:solidFill>
                  <a:srgbClr val="000000"/>
                </a:solidFill>
              </a:rPr>
              <a:t>6.- Reporte novedades </a:t>
            </a:r>
          </a:p>
        </p:txBody>
      </p:sp>
      <p:sp>
        <p:nvSpPr>
          <p:cNvPr id="9" name="9 CuadroTexto">
            <a:extLst>
              <a:ext uri="{FF2B5EF4-FFF2-40B4-BE49-F238E27FC236}">
                <a16:creationId xmlns:a16="http://schemas.microsoft.com/office/drawing/2014/main" id="{858261D6-EF68-4055-8CC4-34261D7F3B78}"/>
              </a:ext>
            </a:extLst>
          </p:cNvPr>
          <p:cNvSpPr txBox="1"/>
          <p:nvPr/>
        </p:nvSpPr>
        <p:spPr>
          <a:xfrm>
            <a:off x="343842" y="1442712"/>
            <a:ext cx="2499966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i="1" dirty="0">
                <a:highlight>
                  <a:srgbClr val="FFFF00"/>
                </a:highlight>
              </a:rPr>
              <a:t>SEMANAL</a:t>
            </a:r>
          </a:p>
        </p:txBody>
      </p:sp>
      <p:sp>
        <p:nvSpPr>
          <p:cNvPr id="10" name="9 CuadroTexto">
            <a:extLst>
              <a:ext uri="{FF2B5EF4-FFF2-40B4-BE49-F238E27FC236}">
                <a16:creationId xmlns:a16="http://schemas.microsoft.com/office/drawing/2014/main" id="{68A4C7AE-E5BC-4F07-BA10-4F60F00537B4}"/>
              </a:ext>
            </a:extLst>
          </p:cNvPr>
          <p:cNvSpPr txBox="1"/>
          <p:nvPr/>
        </p:nvSpPr>
        <p:spPr>
          <a:xfrm>
            <a:off x="3059831" y="1442712"/>
            <a:ext cx="403244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r>
              <a:rPr lang="es-EC" sz="1600" dirty="0"/>
              <a:t>REPSOL FG CALCIUM SULFONATE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106" y="1947071"/>
            <a:ext cx="6624736" cy="304431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267744" y="2564904"/>
            <a:ext cx="5112568" cy="7603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8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5C81DC-DA42-4490-8CC1-E6ADB5B55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234273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Aprender cómo realizar la lubricación del Inspector de Botellas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Vacias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UNIDAD DE MANTENIMIENTO – TENSOR</a:t>
                      </a:r>
                      <a:r>
                        <a:rPr lang="es-MX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CORREA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45" name="Imagen 44">
            <a:extLst>
              <a:ext uri="{FF2B5EF4-FFF2-40B4-BE49-F238E27FC236}">
                <a16:creationId xmlns:a16="http://schemas.microsoft.com/office/drawing/2014/main" id="{CD47A0C2-7AF2-43E2-BEF0-CF6086964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1975593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" name="3 Imagen">
            <a:extLst>
              <a:ext uri="{FF2B5EF4-FFF2-40B4-BE49-F238E27FC236}">
                <a16:creationId xmlns:a16="http://schemas.microsoft.com/office/drawing/2014/main" id="{D27F7681-9674-42D6-9DDE-4AD2E0D9AC75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740352" y="116632"/>
            <a:ext cx="1276249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5" name="10 Rectángulo">
            <a:extLst>
              <a:ext uri="{FF2B5EF4-FFF2-40B4-BE49-F238E27FC236}">
                <a16:creationId xmlns:a16="http://schemas.microsoft.com/office/drawing/2014/main" id="{716A5C25-ADBB-4A8E-86BF-A8D8110F2B5E}"/>
              </a:ext>
            </a:extLst>
          </p:cNvPr>
          <p:cNvSpPr/>
          <p:nvPr/>
        </p:nvSpPr>
        <p:spPr>
          <a:xfrm>
            <a:off x="4748250" y="1522102"/>
            <a:ext cx="4268351" cy="52089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C" b="1" i="1" u="sng" dirty="0"/>
              <a:t>TRABAJOS A EJECUTAR</a:t>
            </a:r>
          </a:p>
          <a:p>
            <a:endParaRPr lang="es-EC" dirty="0"/>
          </a:p>
          <a:p>
            <a:r>
              <a:rPr lang="es-EC" dirty="0"/>
              <a:t>Revise que el nivel de aceite en el recipiente de la unidad de mantenimiento este dentro de los límites establecidos (mínimo 1/3) o hasta el nivel máximo, de ser necesario reposicionar aceite en el recipiente.</a:t>
            </a:r>
            <a:endParaRPr lang="es-MX" dirty="0"/>
          </a:p>
          <a:p>
            <a:r>
              <a:rPr lang="es-EC" dirty="0"/>
              <a:t> </a:t>
            </a:r>
            <a:endParaRPr lang="es-MX" dirty="0"/>
          </a:p>
          <a:p>
            <a:r>
              <a:rPr lang="es-EC" dirty="0"/>
              <a:t>Verifique que exista goteo por el indicador (10 gotas/minuto).Si no se cumple esta condición proceda de la siguiente manera:</a:t>
            </a:r>
            <a:endParaRPr lang="es-MX" dirty="0"/>
          </a:p>
          <a:p>
            <a:r>
              <a:rPr lang="es-EC" dirty="0"/>
              <a:t>    1. Gire el tornillo regulador con destornillador hasta la posición cerrada</a:t>
            </a:r>
            <a:endParaRPr lang="es-MX" dirty="0"/>
          </a:p>
          <a:p>
            <a:r>
              <a:rPr lang="es-EC" dirty="0"/>
              <a:t>    2. Gire (Abra) el tornillo regulador solo 1/4 de vuelta.</a:t>
            </a:r>
            <a:endParaRPr lang="es-MX" dirty="0"/>
          </a:p>
          <a:p>
            <a:r>
              <a:rPr lang="es-EC" dirty="0"/>
              <a:t> </a:t>
            </a:r>
            <a:endParaRPr lang="es-MX" dirty="0"/>
          </a:p>
          <a:p>
            <a:r>
              <a:rPr lang="es-EC" dirty="0"/>
              <a:t>Si luego de esta acción el goteo es irregular reporte novedad y abra SS para revisión</a:t>
            </a:r>
            <a:endParaRPr lang="es-MX" dirty="0"/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858261D6-EF68-4055-8CC4-34261D7F3B78}"/>
              </a:ext>
            </a:extLst>
          </p:cNvPr>
          <p:cNvSpPr txBox="1"/>
          <p:nvPr/>
        </p:nvSpPr>
        <p:spPr>
          <a:xfrm>
            <a:off x="703453" y="1546178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i="1" dirty="0">
                <a:highlight>
                  <a:srgbClr val="FFFF00"/>
                </a:highlight>
              </a:rPr>
              <a:t>SEMANAL</a:t>
            </a:r>
            <a:endParaRPr lang="es-EC" sz="1600" i="1" dirty="0">
              <a:solidFill>
                <a:prstClr val="black"/>
              </a:solidFill>
              <a:highlight>
                <a:srgbClr val="00FF00"/>
              </a:highlight>
              <a:latin typeface="Calibri"/>
            </a:endParaRPr>
          </a:p>
        </p:txBody>
      </p:sp>
      <p:sp>
        <p:nvSpPr>
          <p:cNvPr id="16" name="9 CuadroTexto">
            <a:extLst>
              <a:ext uri="{FF2B5EF4-FFF2-40B4-BE49-F238E27FC236}">
                <a16:creationId xmlns:a16="http://schemas.microsoft.com/office/drawing/2014/main" id="{E6E3B32F-2C85-4B14-AA83-1445E70399DF}"/>
              </a:ext>
            </a:extLst>
          </p:cNvPr>
          <p:cNvSpPr txBox="1"/>
          <p:nvPr/>
        </p:nvSpPr>
        <p:spPr>
          <a:xfrm>
            <a:off x="2483768" y="1522102"/>
            <a:ext cx="187220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</a:p>
          <a:p>
            <a:pPr algn="ctr"/>
            <a:r>
              <a:rPr lang="es-EC" sz="1600" dirty="0"/>
              <a:t>Spindura 10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2564904"/>
            <a:ext cx="3017713" cy="384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11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5C81DC-DA42-4490-8CC1-E6ADB5B55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690858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Aprender cómo realizar la lubricación del Inspector de Botellas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Vacias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RUEDA DENTADA ACCIONAMIENTO CORREAS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45" name="Imagen 44">
            <a:extLst>
              <a:ext uri="{FF2B5EF4-FFF2-40B4-BE49-F238E27FC236}">
                <a16:creationId xmlns:a16="http://schemas.microsoft.com/office/drawing/2014/main" id="{CD47A0C2-7AF2-43E2-BEF0-CF6086964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1975593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" name="3 Imagen">
            <a:extLst>
              <a:ext uri="{FF2B5EF4-FFF2-40B4-BE49-F238E27FC236}">
                <a16:creationId xmlns:a16="http://schemas.microsoft.com/office/drawing/2014/main" id="{D27F7681-9674-42D6-9DDE-4AD2E0D9AC75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740352" y="116632"/>
            <a:ext cx="1276249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5" name="10 Rectángulo">
            <a:extLst>
              <a:ext uri="{FF2B5EF4-FFF2-40B4-BE49-F238E27FC236}">
                <a16:creationId xmlns:a16="http://schemas.microsoft.com/office/drawing/2014/main" id="{716A5C25-ADBB-4A8E-86BF-A8D8110F2B5E}"/>
              </a:ext>
            </a:extLst>
          </p:cNvPr>
          <p:cNvSpPr/>
          <p:nvPr/>
        </p:nvSpPr>
        <p:spPr>
          <a:xfrm>
            <a:off x="4613813" y="2996952"/>
            <a:ext cx="4394747" cy="304874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TRABAJOS A EJECUTAR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1.- Lubrique con el equipo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PARADO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2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Limpie el grasero con un paño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3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.-Utilice la grasa recomendada y lubrique con la engrasadora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(4 puntos de lubricación)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4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Accione el equipo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</a:t>
            </a:r>
            <a:r>
              <a:rPr lang="es-MX" dirty="0">
                <a:solidFill>
                  <a:srgbClr val="000000"/>
                </a:solidFill>
                <a:latin typeface="Calibri"/>
              </a:rPr>
              <a:t>r unos minutos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5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Limpie el exceso de grasa del punto lubricado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6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Reporte novedades </a:t>
            </a:r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858261D6-EF68-4055-8CC4-34261D7F3B78}"/>
              </a:ext>
            </a:extLst>
          </p:cNvPr>
          <p:cNvSpPr txBox="1"/>
          <p:nvPr/>
        </p:nvSpPr>
        <p:spPr>
          <a:xfrm>
            <a:off x="4613814" y="1504307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Frecuencia: </a:t>
            </a:r>
            <a:r>
              <a:rPr kumimoji="0" lang="es-EC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/>
                <a:ea typeface="+mn-ea"/>
                <a:cs typeface="+mn-cs"/>
              </a:rPr>
              <a:t>QUINCENAL</a:t>
            </a:r>
          </a:p>
        </p:txBody>
      </p:sp>
      <p:sp>
        <p:nvSpPr>
          <p:cNvPr id="16" name="9 CuadroTexto">
            <a:extLst>
              <a:ext uri="{FF2B5EF4-FFF2-40B4-BE49-F238E27FC236}">
                <a16:creationId xmlns:a16="http://schemas.microsoft.com/office/drawing/2014/main" id="{E6E3B32F-2C85-4B14-AA83-1445E70399DF}"/>
              </a:ext>
            </a:extLst>
          </p:cNvPr>
          <p:cNvSpPr txBox="1"/>
          <p:nvPr/>
        </p:nvSpPr>
        <p:spPr>
          <a:xfrm>
            <a:off x="4583320" y="2250629"/>
            <a:ext cx="3118334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kumimoji="0" lang="es-EC" sz="1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Materiales: </a:t>
            </a:r>
          </a:p>
          <a:p>
            <a:pPr lvl="0" algn="ctr"/>
            <a:r>
              <a:rPr lang="es-EC" sz="1600" dirty="0">
                <a:solidFill>
                  <a:prstClr val="black"/>
                </a:solidFill>
              </a:rPr>
              <a:t>REPSOL FG CALCIUM SULFONATE </a:t>
            </a:r>
            <a:endParaRPr kumimoji="0" lang="es-EC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3528" y="1916832"/>
            <a:ext cx="2800350" cy="431482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 rot="10800000" flipV="1">
            <a:off x="1547664" y="5157192"/>
            <a:ext cx="576064" cy="4638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67544" y="5389106"/>
            <a:ext cx="93610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03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5C81DC-DA42-4490-8CC1-E6ADB5B55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53805"/>
              </p:ext>
            </p:extLst>
          </p:nvPr>
        </p:nvGraphicFramePr>
        <p:xfrm>
          <a:off x="58948" y="112812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Aprender cómo realizar la lubricación del Inspector de Botellas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Vacias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RODAMIENTO CARDAN ACCIONAMIENTO PRINCIPAL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45" name="Imagen 44">
            <a:extLst>
              <a:ext uri="{FF2B5EF4-FFF2-40B4-BE49-F238E27FC236}">
                <a16:creationId xmlns:a16="http://schemas.microsoft.com/office/drawing/2014/main" id="{CD47A0C2-7AF2-43E2-BEF0-CF6086964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1975593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" name="3 Imagen">
            <a:extLst>
              <a:ext uri="{FF2B5EF4-FFF2-40B4-BE49-F238E27FC236}">
                <a16:creationId xmlns:a16="http://schemas.microsoft.com/office/drawing/2014/main" id="{D27F7681-9674-42D6-9DDE-4AD2E0D9AC75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740352" y="116632"/>
            <a:ext cx="1276249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5" name="10 Rectángulo">
            <a:extLst>
              <a:ext uri="{FF2B5EF4-FFF2-40B4-BE49-F238E27FC236}">
                <a16:creationId xmlns:a16="http://schemas.microsoft.com/office/drawing/2014/main" id="{716A5C25-ADBB-4A8E-86BF-A8D8110F2B5E}"/>
              </a:ext>
            </a:extLst>
          </p:cNvPr>
          <p:cNvSpPr/>
          <p:nvPr/>
        </p:nvSpPr>
        <p:spPr>
          <a:xfrm>
            <a:off x="216605" y="4873519"/>
            <a:ext cx="8664717" cy="18634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TRABAJOS A EJECUTAR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1.- Lubrique con el equipo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PARADO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2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Limpie el grasero con un paño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3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.-Utilice la grasa recomendada y lubrique con la engrasadora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(6 puntos de lubricación)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4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Accione el equipo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</a:t>
            </a:r>
            <a:r>
              <a:rPr lang="es-MX" dirty="0">
                <a:solidFill>
                  <a:srgbClr val="000000"/>
                </a:solidFill>
                <a:latin typeface="Calibri"/>
              </a:rPr>
              <a:t>r unos minutos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5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Limpie el exceso de grasa del punto lubricado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6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Reporte novedades </a:t>
            </a:r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858261D6-EF68-4055-8CC4-34261D7F3B78}"/>
              </a:ext>
            </a:extLst>
          </p:cNvPr>
          <p:cNvSpPr txBox="1"/>
          <p:nvPr/>
        </p:nvSpPr>
        <p:spPr>
          <a:xfrm>
            <a:off x="216605" y="1507500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Frecuencia: </a:t>
            </a:r>
            <a:r>
              <a:rPr kumimoji="0" lang="es-EC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/>
                <a:ea typeface="+mn-ea"/>
                <a:cs typeface="+mn-cs"/>
              </a:rPr>
              <a:t>QUINCENAL</a:t>
            </a:r>
          </a:p>
        </p:txBody>
      </p:sp>
      <p:sp>
        <p:nvSpPr>
          <p:cNvPr id="16" name="9 CuadroTexto">
            <a:extLst>
              <a:ext uri="{FF2B5EF4-FFF2-40B4-BE49-F238E27FC236}">
                <a16:creationId xmlns:a16="http://schemas.microsoft.com/office/drawing/2014/main" id="{E6E3B32F-2C85-4B14-AA83-1445E70399DF}"/>
              </a:ext>
            </a:extLst>
          </p:cNvPr>
          <p:cNvSpPr txBox="1"/>
          <p:nvPr/>
        </p:nvSpPr>
        <p:spPr>
          <a:xfrm>
            <a:off x="2123728" y="1507500"/>
            <a:ext cx="3118334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kumimoji="0" lang="es-EC" sz="1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Materiales: </a:t>
            </a:r>
          </a:p>
          <a:p>
            <a:pPr lvl="0" algn="ctr"/>
            <a:r>
              <a:rPr lang="es-EC" sz="1600" dirty="0">
                <a:solidFill>
                  <a:prstClr val="black"/>
                </a:solidFill>
              </a:rPr>
              <a:t>REPSOL FG CALCIUM SULFONATE </a:t>
            </a:r>
            <a:endParaRPr kumimoji="0" lang="es-EC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923928" y="2302588"/>
            <a:ext cx="2081220" cy="2426535"/>
            <a:chOff x="6307204" y="1955721"/>
            <a:chExt cx="2309836" cy="2773402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7204" y="1955721"/>
              <a:ext cx="2309836" cy="2773402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7462122" y="3156858"/>
              <a:ext cx="720080" cy="6883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192" y="2302587"/>
            <a:ext cx="1872208" cy="2451323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>
            <a:off x="3059832" y="3573016"/>
            <a:ext cx="75760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343843" y="2302588"/>
            <a:ext cx="2571974" cy="2426535"/>
            <a:chOff x="343843" y="2302588"/>
            <a:chExt cx="2571974" cy="2426535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6"/>
            <a:srcRect r="55000"/>
            <a:stretch/>
          </p:blipFill>
          <p:spPr>
            <a:xfrm>
              <a:off x="343843" y="2302588"/>
              <a:ext cx="2571974" cy="2426535"/>
            </a:xfrm>
            <a:prstGeom prst="rect">
              <a:avLst/>
            </a:prstGeom>
          </p:spPr>
        </p:pic>
        <p:sp>
          <p:nvSpPr>
            <p:cNvPr id="20" name="Oval 19"/>
            <p:cNvSpPr/>
            <p:nvPr/>
          </p:nvSpPr>
          <p:spPr>
            <a:xfrm>
              <a:off x="683568" y="3156858"/>
              <a:ext cx="1656184" cy="157226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737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5C81DC-DA42-4490-8CC1-E6ADB5B55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971425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Aprender cómo realizar la lubricación del Inspector de Botellas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Vacias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RODAMIENTO CARDAN ACCIONAMIENTO REENVIO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45" name="Imagen 44">
            <a:extLst>
              <a:ext uri="{FF2B5EF4-FFF2-40B4-BE49-F238E27FC236}">
                <a16:creationId xmlns:a16="http://schemas.microsoft.com/office/drawing/2014/main" id="{CD47A0C2-7AF2-43E2-BEF0-CF6086964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1975593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" name="3 Imagen">
            <a:extLst>
              <a:ext uri="{FF2B5EF4-FFF2-40B4-BE49-F238E27FC236}">
                <a16:creationId xmlns:a16="http://schemas.microsoft.com/office/drawing/2014/main" id="{D27F7681-9674-42D6-9DDE-4AD2E0D9AC75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740352" y="116632"/>
            <a:ext cx="1276249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5" name="10 Rectángulo">
            <a:extLst>
              <a:ext uri="{FF2B5EF4-FFF2-40B4-BE49-F238E27FC236}">
                <a16:creationId xmlns:a16="http://schemas.microsoft.com/office/drawing/2014/main" id="{716A5C25-ADBB-4A8E-86BF-A8D8110F2B5E}"/>
              </a:ext>
            </a:extLst>
          </p:cNvPr>
          <p:cNvSpPr/>
          <p:nvPr/>
        </p:nvSpPr>
        <p:spPr>
          <a:xfrm>
            <a:off x="310688" y="4867250"/>
            <a:ext cx="8306352" cy="19377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TRABAJOS A EJECUTAR</a:t>
            </a:r>
            <a:endParaRPr kumimoji="0" lang="es-EC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1.- Lubrique con el equipo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PARADO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2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Limpie el grasero con un paño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3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.-Utilice la grasa recomendada y lubrique con la engrasadora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(6 puntos de lubricación)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4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Accione el equipo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</a:t>
            </a:r>
            <a:r>
              <a:rPr lang="es-MX" dirty="0">
                <a:solidFill>
                  <a:srgbClr val="000000"/>
                </a:solidFill>
                <a:latin typeface="Calibri"/>
              </a:rPr>
              <a:t>r unos minutos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5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Limpie el exceso de grasa del punto lubricado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6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Reporte novedades </a:t>
            </a:r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858261D6-EF68-4055-8CC4-34261D7F3B78}"/>
              </a:ext>
            </a:extLst>
          </p:cNvPr>
          <p:cNvSpPr txBox="1"/>
          <p:nvPr/>
        </p:nvSpPr>
        <p:spPr>
          <a:xfrm>
            <a:off x="343842" y="1549990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Frecuencia: </a:t>
            </a:r>
            <a:r>
              <a:rPr kumimoji="0" lang="es-EC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/>
                <a:ea typeface="+mn-ea"/>
                <a:cs typeface="+mn-cs"/>
              </a:rPr>
              <a:t>QUINCENAL</a:t>
            </a:r>
          </a:p>
        </p:txBody>
      </p:sp>
      <p:sp>
        <p:nvSpPr>
          <p:cNvPr id="16" name="9 CuadroTexto">
            <a:extLst>
              <a:ext uri="{FF2B5EF4-FFF2-40B4-BE49-F238E27FC236}">
                <a16:creationId xmlns:a16="http://schemas.microsoft.com/office/drawing/2014/main" id="{E6E3B32F-2C85-4B14-AA83-1445E70399DF}"/>
              </a:ext>
            </a:extLst>
          </p:cNvPr>
          <p:cNvSpPr txBox="1"/>
          <p:nvPr/>
        </p:nvSpPr>
        <p:spPr>
          <a:xfrm>
            <a:off x="2123728" y="1549990"/>
            <a:ext cx="3118334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kumimoji="0" lang="es-EC" sz="1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Materiales: </a:t>
            </a:r>
          </a:p>
          <a:p>
            <a:pPr lvl="0" algn="ctr"/>
            <a:r>
              <a:rPr lang="es-EC" sz="1600" dirty="0">
                <a:solidFill>
                  <a:prstClr val="black"/>
                </a:solidFill>
              </a:rPr>
              <a:t>REPSOL FG CALCIUM SULFONATE </a:t>
            </a:r>
            <a:endParaRPr kumimoji="0" lang="es-EC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923928" y="2302588"/>
            <a:ext cx="2081220" cy="2426535"/>
            <a:chOff x="6307204" y="1955721"/>
            <a:chExt cx="2309836" cy="2773402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7204" y="1955721"/>
              <a:ext cx="2309836" cy="2773402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7462122" y="3156858"/>
              <a:ext cx="720080" cy="6883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192" y="2302587"/>
            <a:ext cx="1872208" cy="2451323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3059832" y="3573016"/>
            <a:ext cx="75760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381368" y="2287740"/>
            <a:ext cx="2571974" cy="2426535"/>
            <a:chOff x="343843" y="2302588"/>
            <a:chExt cx="2571974" cy="2426535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6"/>
            <a:srcRect l="54530" t="1060" r="470" b="-1060"/>
            <a:stretch/>
          </p:blipFill>
          <p:spPr>
            <a:xfrm>
              <a:off x="343843" y="2302588"/>
              <a:ext cx="2571974" cy="2426535"/>
            </a:xfrm>
            <a:prstGeom prst="rect">
              <a:avLst/>
            </a:prstGeom>
          </p:spPr>
        </p:pic>
        <p:sp>
          <p:nvSpPr>
            <p:cNvPr id="19" name="Oval 18"/>
            <p:cNvSpPr/>
            <p:nvPr/>
          </p:nvSpPr>
          <p:spPr>
            <a:xfrm>
              <a:off x="1161113" y="3143146"/>
              <a:ext cx="1656184" cy="157226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965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5C81DC-DA42-4490-8CC1-E6ADB5B55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483769"/>
              </p:ext>
            </p:extLst>
          </p:nvPr>
        </p:nvGraphicFramePr>
        <p:xfrm>
          <a:off x="58948" y="112812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Aprender cómo realizar la lubricación del Inspector de Botellas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Vacias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CARDAN ACCIONAMIENTO TRANSPORTADOR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45" name="Imagen 44">
            <a:extLst>
              <a:ext uri="{FF2B5EF4-FFF2-40B4-BE49-F238E27FC236}">
                <a16:creationId xmlns:a16="http://schemas.microsoft.com/office/drawing/2014/main" id="{CD47A0C2-7AF2-43E2-BEF0-CF6086964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1975593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" name="3 Imagen">
            <a:extLst>
              <a:ext uri="{FF2B5EF4-FFF2-40B4-BE49-F238E27FC236}">
                <a16:creationId xmlns:a16="http://schemas.microsoft.com/office/drawing/2014/main" id="{D27F7681-9674-42D6-9DDE-4AD2E0D9AC75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740352" y="116632"/>
            <a:ext cx="1276249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5" name="10 Rectángulo">
            <a:extLst>
              <a:ext uri="{FF2B5EF4-FFF2-40B4-BE49-F238E27FC236}">
                <a16:creationId xmlns:a16="http://schemas.microsoft.com/office/drawing/2014/main" id="{716A5C25-ADBB-4A8E-86BF-A8D8110F2B5E}"/>
              </a:ext>
            </a:extLst>
          </p:cNvPr>
          <p:cNvSpPr/>
          <p:nvPr/>
        </p:nvSpPr>
        <p:spPr>
          <a:xfrm>
            <a:off x="5618277" y="1665853"/>
            <a:ext cx="3068408" cy="4488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TRABAJOS A EJECUTAR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1.- Lubrique con el equipo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PARADO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2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Limpie el grasero con un paño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3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.-Utilice la grasa recomendada y lubrique con la engrasadora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(2 puntos de lubricación)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4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Accione el equipo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</a:t>
            </a:r>
            <a:r>
              <a:rPr lang="es-MX" dirty="0">
                <a:solidFill>
                  <a:srgbClr val="000000"/>
                </a:solidFill>
                <a:latin typeface="Calibri"/>
              </a:rPr>
              <a:t>r unos minutos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5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Limpie el exceso de grasa del punto lubricado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6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Reporte novedades </a:t>
            </a:r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858261D6-EF68-4055-8CC4-34261D7F3B78}"/>
              </a:ext>
            </a:extLst>
          </p:cNvPr>
          <p:cNvSpPr txBox="1"/>
          <p:nvPr/>
        </p:nvSpPr>
        <p:spPr>
          <a:xfrm>
            <a:off x="539550" y="1665854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Frecuencia: </a:t>
            </a:r>
            <a:r>
              <a:rPr kumimoji="0" lang="es-EC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/>
                <a:ea typeface="+mn-ea"/>
                <a:cs typeface="+mn-cs"/>
              </a:rPr>
              <a:t>QUINCENAL</a:t>
            </a:r>
          </a:p>
        </p:txBody>
      </p:sp>
      <p:sp>
        <p:nvSpPr>
          <p:cNvPr id="16" name="9 CuadroTexto">
            <a:extLst>
              <a:ext uri="{FF2B5EF4-FFF2-40B4-BE49-F238E27FC236}">
                <a16:creationId xmlns:a16="http://schemas.microsoft.com/office/drawing/2014/main" id="{E6E3B32F-2C85-4B14-AA83-1445E70399DF}"/>
              </a:ext>
            </a:extLst>
          </p:cNvPr>
          <p:cNvSpPr txBox="1"/>
          <p:nvPr/>
        </p:nvSpPr>
        <p:spPr>
          <a:xfrm>
            <a:off x="2555776" y="1665853"/>
            <a:ext cx="2058037" cy="830997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kumimoji="0" lang="es-EC" sz="1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Materiales: </a:t>
            </a:r>
          </a:p>
          <a:p>
            <a:pPr lvl="0" algn="ctr"/>
            <a:r>
              <a:rPr lang="es-EC" sz="1600" dirty="0">
                <a:solidFill>
                  <a:prstClr val="black"/>
                </a:solidFill>
              </a:rPr>
              <a:t>REPSOL FG CALCIUM SULFONATE </a:t>
            </a:r>
            <a:endParaRPr kumimoji="0" lang="es-EC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4D9B35D-B164-49AF-99F0-8E78BB6F55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129"/>
          <a:stretch/>
        </p:blipFill>
        <p:spPr>
          <a:xfrm rot="16200000">
            <a:off x="22894" y="3643592"/>
            <a:ext cx="3379146" cy="187220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F3B558C-AE04-48FF-A434-4D30FEE43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2881892"/>
            <a:ext cx="1857378" cy="33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00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5C81DC-DA42-4490-8CC1-E6ADB5B55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193834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Aprender cómo realizar la lubricación del Inspector de Botellas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Vacias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CADENA DE RODILLO AJUSTE DE ALTURA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45" name="Imagen 44">
            <a:extLst>
              <a:ext uri="{FF2B5EF4-FFF2-40B4-BE49-F238E27FC236}">
                <a16:creationId xmlns:a16="http://schemas.microsoft.com/office/drawing/2014/main" id="{CD47A0C2-7AF2-43E2-BEF0-CF6086964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1975593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" name="3 Imagen">
            <a:extLst>
              <a:ext uri="{FF2B5EF4-FFF2-40B4-BE49-F238E27FC236}">
                <a16:creationId xmlns:a16="http://schemas.microsoft.com/office/drawing/2014/main" id="{D27F7681-9674-42D6-9DDE-4AD2E0D9AC75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740352" y="116632"/>
            <a:ext cx="1276249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5" name="10 Rectángulo">
            <a:extLst>
              <a:ext uri="{FF2B5EF4-FFF2-40B4-BE49-F238E27FC236}">
                <a16:creationId xmlns:a16="http://schemas.microsoft.com/office/drawing/2014/main" id="{716A5C25-ADBB-4A8E-86BF-A8D8110F2B5E}"/>
              </a:ext>
            </a:extLst>
          </p:cNvPr>
          <p:cNvSpPr/>
          <p:nvPr/>
        </p:nvSpPr>
        <p:spPr>
          <a:xfrm>
            <a:off x="5577908" y="1536964"/>
            <a:ext cx="3438693" cy="507116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TRABAJOS A EJECUTAR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1.- Lubrique con el equipo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PARADO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2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Limpie con un paño la superficie a lubricar</a:t>
            </a:r>
          </a:p>
          <a:p>
            <a:pPr lvl="0"/>
            <a:r>
              <a:rPr lang="es-MX" dirty="0">
                <a:solidFill>
                  <a:srgbClr val="000000"/>
                </a:solidFill>
                <a:latin typeface="Calibri"/>
              </a:rPr>
              <a:t>3.- Coloque </a:t>
            </a:r>
            <a:r>
              <a:rPr lang="es-EC" dirty="0"/>
              <a:t>una protección(Cartón/Papel) detrás de la cadena para evitar que llegue a los componentes electrónicos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4.-Utilice la grasa recomendada y aplique con el spray una fina capa de aceite de silicón grado alimenticio a lo largo de la cadena</a:t>
            </a:r>
            <a:endParaRPr lang="es-MX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srgbClr val="000000"/>
                </a:solidFill>
                <a:latin typeface="Calibri"/>
              </a:rPr>
              <a:t>5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.- Reporte novedades </a:t>
            </a:r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858261D6-EF68-4055-8CC4-34261D7F3B78}"/>
              </a:ext>
            </a:extLst>
          </p:cNvPr>
          <p:cNvSpPr txBox="1"/>
          <p:nvPr/>
        </p:nvSpPr>
        <p:spPr>
          <a:xfrm>
            <a:off x="539550" y="1665854"/>
            <a:ext cx="1584178" cy="830997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s-EC" sz="1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Frecuencia: </a:t>
            </a:r>
            <a:r>
              <a:rPr lang="es-EC" sz="1600" i="1" dirty="0">
                <a:solidFill>
                  <a:prstClr val="black"/>
                </a:solidFill>
                <a:highlight>
                  <a:srgbClr val="00FF00"/>
                </a:highlight>
              </a:rPr>
              <a:t>QUINCENAL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0000FF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9 CuadroTexto">
            <a:extLst>
              <a:ext uri="{FF2B5EF4-FFF2-40B4-BE49-F238E27FC236}">
                <a16:creationId xmlns:a16="http://schemas.microsoft.com/office/drawing/2014/main" id="{E6E3B32F-2C85-4B14-AA83-1445E70399DF}"/>
              </a:ext>
            </a:extLst>
          </p:cNvPr>
          <p:cNvSpPr txBox="1"/>
          <p:nvPr/>
        </p:nvSpPr>
        <p:spPr>
          <a:xfrm>
            <a:off x="2411760" y="1665853"/>
            <a:ext cx="2004904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Materiales: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FOOD GRADE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AA0C74E-5DDD-4ECA-8486-15BB10E54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5" y="2627857"/>
            <a:ext cx="5172234" cy="288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6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5C81DC-DA42-4490-8CC1-E6ADB5B55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210348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Aprender cómo realizar la lubricación del Inspector de Botellas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Vacias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UNIDAD DE MANTENIMIENTO - SOPLADO DE VIDRIO PROTECTOR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45" name="Imagen 44">
            <a:extLst>
              <a:ext uri="{FF2B5EF4-FFF2-40B4-BE49-F238E27FC236}">
                <a16:creationId xmlns:a16="http://schemas.microsoft.com/office/drawing/2014/main" id="{CD47A0C2-7AF2-43E2-BEF0-CF6086964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1975593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" name="3 Imagen">
            <a:extLst>
              <a:ext uri="{FF2B5EF4-FFF2-40B4-BE49-F238E27FC236}">
                <a16:creationId xmlns:a16="http://schemas.microsoft.com/office/drawing/2014/main" id="{D27F7681-9674-42D6-9DDE-4AD2E0D9AC75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740352" y="116632"/>
            <a:ext cx="1276249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5" name="10 Rectángulo">
            <a:extLst>
              <a:ext uri="{FF2B5EF4-FFF2-40B4-BE49-F238E27FC236}">
                <a16:creationId xmlns:a16="http://schemas.microsoft.com/office/drawing/2014/main" id="{716A5C25-ADBB-4A8E-86BF-A8D8110F2B5E}"/>
              </a:ext>
            </a:extLst>
          </p:cNvPr>
          <p:cNvSpPr/>
          <p:nvPr/>
        </p:nvSpPr>
        <p:spPr>
          <a:xfrm>
            <a:off x="4748250" y="1522102"/>
            <a:ext cx="4268351" cy="52089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C" b="1" i="1" u="sng" dirty="0"/>
              <a:t>TRABAJOS A EJECUTAR</a:t>
            </a:r>
          </a:p>
          <a:p>
            <a:endParaRPr lang="es-EC" dirty="0"/>
          </a:p>
          <a:p>
            <a:r>
              <a:rPr lang="es-EC" dirty="0"/>
              <a:t>Revise que el nivel de aceite en el recipiente de la unidad de mantenimiento este dentro de los límites establecidos (mínimo 1/3) o hasta el nivel máximo, de ser necesario reposicionar aceite en el recipiente.</a:t>
            </a:r>
            <a:endParaRPr lang="es-MX" dirty="0"/>
          </a:p>
          <a:p>
            <a:r>
              <a:rPr lang="es-EC" dirty="0"/>
              <a:t> </a:t>
            </a:r>
            <a:endParaRPr lang="es-MX" dirty="0"/>
          </a:p>
          <a:p>
            <a:r>
              <a:rPr lang="es-EC" dirty="0"/>
              <a:t>Verifique que exista goteo por el indicador (10 gotas/minuto).Si no se cumple esta condición proceda de la siguiente manera:</a:t>
            </a:r>
            <a:endParaRPr lang="es-MX" dirty="0"/>
          </a:p>
          <a:p>
            <a:r>
              <a:rPr lang="es-EC" dirty="0"/>
              <a:t>    1. Gire el tornillo regulador con destornillador hasta la posición cerrada</a:t>
            </a:r>
            <a:endParaRPr lang="es-MX" dirty="0"/>
          </a:p>
          <a:p>
            <a:r>
              <a:rPr lang="es-EC" dirty="0"/>
              <a:t>    2. Gire (Abra) el tornillo regulador solo 1/4 de vuelta.</a:t>
            </a:r>
            <a:endParaRPr lang="es-MX" dirty="0"/>
          </a:p>
          <a:p>
            <a:r>
              <a:rPr lang="es-EC" dirty="0"/>
              <a:t> </a:t>
            </a:r>
            <a:endParaRPr lang="es-MX" dirty="0"/>
          </a:p>
          <a:p>
            <a:r>
              <a:rPr lang="es-EC" dirty="0"/>
              <a:t>Si luego de esta acción el goteo es irregular reporte novedad y abra SS para revisión</a:t>
            </a:r>
            <a:endParaRPr lang="es-MX" dirty="0"/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858261D6-EF68-4055-8CC4-34261D7F3B78}"/>
              </a:ext>
            </a:extLst>
          </p:cNvPr>
          <p:cNvSpPr txBox="1"/>
          <p:nvPr/>
        </p:nvSpPr>
        <p:spPr>
          <a:xfrm>
            <a:off x="703453" y="1546178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i="1" dirty="0">
                <a:solidFill>
                  <a:prstClr val="black"/>
                </a:solidFill>
                <a:highlight>
                  <a:srgbClr val="00FF00"/>
                </a:highlight>
                <a:latin typeface="Calibri"/>
              </a:rPr>
              <a:t>QUINCENAL</a:t>
            </a:r>
          </a:p>
        </p:txBody>
      </p:sp>
      <p:sp>
        <p:nvSpPr>
          <p:cNvPr id="16" name="9 CuadroTexto">
            <a:extLst>
              <a:ext uri="{FF2B5EF4-FFF2-40B4-BE49-F238E27FC236}">
                <a16:creationId xmlns:a16="http://schemas.microsoft.com/office/drawing/2014/main" id="{E6E3B32F-2C85-4B14-AA83-1445E70399DF}"/>
              </a:ext>
            </a:extLst>
          </p:cNvPr>
          <p:cNvSpPr txBox="1"/>
          <p:nvPr/>
        </p:nvSpPr>
        <p:spPr>
          <a:xfrm>
            <a:off x="2483768" y="1522102"/>
            <a:ext cx="187220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</a:p>
          <a:p>
            <a:pPr algn="ctr"/>
            <a:r>
              <a:rPr lang="es-EC" sz="1600" dirty="0"/>
              <a:t>Spindura 10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2333993"/>
            <a:ext cx="2871682" cy="4296036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H="1">
            <a:off x="3059832" y="5805264"/>
            <a:ext cx="89857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20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5C81DC-DA42-4490-8CC1-E6ADB5B55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735405"/>
              </p:ext>
            </p:extLst>
          </p:nvPr>
        </p:nvGraphicFramePr>
        <p:xfrm>
          <a:off x="58948" y="106338"/>
          <a:ext cx="9085052" cy="1306438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Aprender cómo realizar la lubricación del Inspector de Botellas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Vacias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UNIDAD DE MANTENIMIENTO SOPLADOR DE FONDO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45" name="Imagen 44">
            <a:extLst>
              <a:ext uri="{FF2B5EF4-FFF2-40B4-BE49-F238E27FC236}">
                <a16:creationId xmlns:a16="http://schemas.microsoft.com/office/drawing/2014/main" id="{CD47A0C2-7AF2-43E2-BEF0-CF6086964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1975593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" name="3 Imagen">
            <a:extLst>
              <a:ext uri="{FF2B5EF4-FFF2-40B4-BE49-F238E27FC236}">
                <a16:creationId xmlns:a16="http://schemas.microsoft.com/office/drawing/2014/main" id="{D27F7681-9674-42D6-9DDE-4AD2E0D9AC75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740352" y="116632"/>
            <a:ext cx="1276249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5" name="10 Rectángulo">
            <a:extLst>
              <a:ext uri="{FF2B5EF4-FFF2-40B4-BE49-F238E27FC236}">
                <a16:creationId xmlns:a16="http://schemas.microsoft.com/office/drawing/2014/main" id="{716A5C25-ADBB-4A8E-86BF-A8D8110F2B5E}"/>
              </a:ext>
            </a:extLst>
          </p:cNvPr>
          <p:cNvSpPr/>
          <p:nvPr/>
        </p:nvSpPr>
        <p:spPr>
          <a:xfrm>
            <a:off x="4748250" y="1522102"/>
            <a:ext cx="4268351" cy="52089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C" b="1" i="1" u="sng" dirty="0"/>
              <a:t>TRABAJOS A EJECUTAR</a:t>
            </a:r>
          </a:p>
          <a:p>
            <a:endParaRPr lang="es-EC" dirty="0"/>
          </a:p>
          <a:p>
            <a:r>
              <a:rPr lang="es-EC" dirty="0"/>
              <a:t>Revise que el nivel de aceite en el recipiente de la unidad de mantenimiento este dentro de los límites establecidos (mínimo 1/3) o hasta el nivel máximo, de ser necesario reposicionar aceite en el recipiente.</a:t>
            </a:r>
            <a:endParaRPr lang="es-MX" dirty="0"/>
          </a:p>
          <a:p>
            <a:r>
              <a:rPr lang="es-EC" dirty="0"/>
              <a:t> </a:t>
            </a:r>
            <a:endParaRPr lang="es-MX" dirty="0"/>
          </a:p>
          <a:p>
            <a:r>
              <a:rPr lang="es-EC" dirty="0"/>
              <a:t>Verifique que exista goteo por el indicador (10 gotas/minuto).Si no se cumple esta condición proceda de la siguiente manera:</a:t>
            </a:r>
            <a:endParaRPr lang="es-MX" dirty="0"/>
          </a:p>
          <a:p>
            <a:r>
              <a:rPr lang="es-EC" dirty="0"/>
              <a:t>    1. Gire el tornillo regulador con destornillador hasta la posición cerrada</a:t>
            </a:r>
            <a:endParaRPr lang="es-MX" dirty="0"/>
          </a:p>
          <a:p>
            <a:r>
              <a:rPr lang="es-EC" dirty="0"/>
              <a:t>    2. Gire (Abra) el tornillo regulador solo 1/4 de vuelta.</a:t>
            </a:r>
            <a:endParaRPr lang="es-MX" dirty="0"/>
          </a:p>
          <a:p>
            <a:r>
              <a:rPr lang="es-EC" dirty="0"/>
              <a:t> </a:t>
            </a:r>
            <a:endParaRPr lang="es-MX" dirty="0"/>
          </a:p>
          <a:p>
            <a:r>
              <a:rPr lang="es-EC" dirty="0"/>
              <a:t>Si luego de esta acción el goteo es irregular reporte novedad y abra SS para revisión</a:t>
            </a:r>
            <a:endParaRPr lang="es-MX" dirty="0"/>
          </a:p>
        </p:txBody>
      </p:sp>
      <p:sp>
        <p:nvSpPr>
          <p:cNvPr id="16" name="9 CuadroTexto">
            <a:extLst>
              <a:ext uri="{FF2B5EF4-FFF2-40B4-BE49-F238E27FC236}">
                <a16:creationId xmlns:a16="http://schemas.microsoft.com/office/drawing/2014/main" id="{E6E3B32F-2C85-4B14-AA83-1445E70399DF}"/>
              </a:ext>
            </a:extLst>
          </p:cNvPr>
          <p:cNvSpPr txBox="1"/>
          <p:nvPr/>
        </p:nvSpPr>
        <p:spPr>
          <a:xfrm>
            <a:off x="2483768" y="1522102"/>
            <a:ext cx="187220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</a:p>
          <a:p>
            <a:pPr algn="ctr"/>
            <a:r>
              <a:rPr lang="es-EC" sz="1600" dirty="0"/>
              <a:t>Spindura 10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931" y="2325764"/>
            <a:ext cx="2376264" cy="4268047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H="1">
            <a:off x="3203848" y="5661248"/>
            <a:ext cx="89857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9 CuadroTexto">
            <a:extLst>
              <a:ext uri="{FF2B5EF4-FFF2-40B4-BE49-F238E27FC236}">
                <a16:creationId xmlns:a16="http://schemas.microsoft.com/office/drawing/2014/main" id="{858261D6-EF68-4055-8CC4-34261D7F3B78}"/>
              </a:ext>
            </a:extLst>
          </p:cNvPr>
          <p:cNvSpPr txBox="1"/>
          <p:nvPr/>
        </p:nvSpPr>
        <p:spPr>
          <a:xfrm>
            <a:off x="703453" y="1546178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i="1" dirty="0">
                <a:solidFill>
                  <a:prstClr val="black"/>
                </a:solidFill>
                <a:highlight>
                  <a:srgbClr val="00FF00"/>
                </a:highlight>
                <a:latin typeface="Calibri"/>
              </a:rPr>
              <a:t>QUINCENAL</a:t>
            </a:r>
          </a:p>
        </p:txBody>
      </p:sp>
    </p:spTree>
    <p:extLst>
      <p:ext uri="{BB962C8B-B14F-4D97-AF65-F5344CB8AC3E}">
        <p14:creationId xmlns:p14="http://schemas.microsoft.com/office/powerpoint/2010/main" val="20309741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ABE4F0146DB64EBC5498D9D22CB75D" ma:contentTypeVersion="23" ma:contentTypeDescription="Create a new document." ma:contentTypeScope="" ma:versionID="f14fa7d6feb727413a69e67170209692">
  <xsd:schema xmlns:xsd="http://www.w3.org/2001/XMLSchema" xmlns:xs="http://www.w3.org/2001/XMLSchema" xmlns:p="http://schemas.microsoft.com/office/2006/metadata/properties" xmlns:ns2="a4f75dbb-4df3-481c-a5f5-80a559f112dd" xmlns:ns3="f323b21d-0708-442e-b7c2-520a641cc472" targetNamespace="http://schemas.microsoft.com/office/2006/metadata/properties" ma:root="true" ma:fieldsID="ae57c621386ebd61ce84cfbfd1af6916" ns2:_="" ns3:_="">
    <xsd:import namespace="a4f75dbb-4df3-481c-a5f5-80a559f112dd"/>
    <xsd:import namespace="f323b21d-0708-442e-b7c2-520a641cc4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Tipo_de_Solicitud" minOccurs="0"/>
                <xsd:element ref="ns2:_Flow_SignoffStatus" minOccurs="0"/>
                <xsd:element ref="ns2:Dateandtime" minOccurs="0"/>
                <xsd:element ref="ns2:MediaServiceObjectDetectorVersions" minOccurs="0"/>
                <xsd:element ref="ns2:MediaServiceSearchProperties" minOccurs="0"/>
                <xsd:element ref="ns2:Detalle" minOccurs="0"/>
                <xsd:element ref="ns2:Fech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5dbb-4df3-481c-a5f5-80a559f11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aa43d79-0337-43fd-9094-582e52f079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ipo_de_Solicitud" ma:index="24" nillable="true" ma:displayName="Menu_de_Solicitudes" ma:format="Dropdown" ma:internalName="Tipo_de_Solicitud">
      <xsd:simpleType>
        <xsd:restriction base="dms:Text">
          <xsd:maxLength value="255"/>
        </xsd:restriction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Dateandtime" ma:index="26" nillable="true" ma:displayName="Date and time" ma:format="DateOnly" ma:internalName="Dateandtime">
      <xsd:simpleType>
        <xsd:restriction base="dms:DateTim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etalle" ma:index="29" nillable="true" ma:displayName="Detalle" ma:description="Creacion de Guia" ma:format="DateTime" ma:internalName="Detalle">
      <xsd:simpleType>
        <xsd:restriction base="dms:DateTime"/>
      </xsd:simpleType>
    </xsd:element>
    <xsd:element name="Fecha" ma:index="30" nillable="true" ma:displayName="Fecha" ma:format="DateOnly" ma:internalName="Fecha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3b21d-0708-442e-b7c2-520a641cc4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a16dee9-2ef2-4e1f-bf24-50e3e3c5c4d4}" ma:internalName="TaxCatchAll" ma:showField="CatchAllData" ma:web="f323b21d-0708-442e-b7c2-520a641cc4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ipo_de_Solicitud xmlns="a4f75dbb-4df3-481c-a5f5-80a559f112dd" xsi:nil="true"/>
    <_Flow_SignoffStatus xmlns="a4f75dbb-4df3-481c-a5f5-80a559f112dd" xsi:nil="true"/>
    <lcf76f155ced4ddcb4097134ff3c332f xmlns="a4f75dbb-4df3-481c-a5f5-80a559f112dd">
      <Terms xmlns="http://schemas.microsoft.com/office/infopath/2007/PartnerControls"/>
    </lcf76f155ced4ddcb4097134ff3c332f>
    <TaxCatchAll xmlns="f323b21d-0708-442e-b7c2-520a641cc472" xsi:nil="true"/>
    <Dateandtime xmlns="a4f75dbb-4df3-481c-a5f5-80a559f112dd" xsi:nil="true"/>
    <Detalle xmlns="a4f75dbb-4df3-481c-a5f5-80a559f112dd" xsi:nil="true"/>
    <Fecha xmlns="a4f75dbb-4df3-481c-a5f5-80a559f112dd" xsi:nil="true"/>
  </documentManagement>
</p:properties>
</file>

<file path=customXml/itemProps1.xml><?xml version="1.0" encoding="utf-8"?>
<ds:datastoreItem xmlns:ds="http://schemas.openxmlformats.org/officeDocument/2006/customXml" ds:itemID="{028BC7FE-4F04-46DC-8CC4-BE1DDA2A82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8D33C8-84D7-4626-B6D4-E45D53AA2E6C}"/>
</file>

<file path=customXml/itemProps3.xml><?xml version="1.0" encoding="utf-8"?>
<ds:datastoreItem xmlns:ds="http://schemas.openxmlformats.org/officeDocument/2006/customXml" ds:itemID="{E09F6736-4693-4F8A-B1AC-7F41B763ACBD}">
  <ds:schemaRefs>
    <ds:schemaRef ds:uri="http://schemas.microsoft.com/office/2006/metadata/properties"/>
    <ds:schemaRef ds:uri="http://schemas.microsoft.com/office/infopath/2007/PartnerControls"/>
    <ds:schemaRef ds:uri="a4f75dbb-4df3-481c-a5f5-80a559f112dd"/>
    <ds:schemaRef ds:uri="f323b21d-0708-442e-b7c2-520a641cc47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9247</TotalTime>
  <Words>1181</Words>
  <Application>Microsoft Office PowerPoint</Application>
  <PresentationFormat>On-screen Show (4:3)</PresentationFormat>
  <Paragraphs>186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Cordova Espinal, Carlos</dc:creator>
  <cp:lastModifiedBy>Miguel Sandoya</cp:lastModifiedBy>
  <cp:revision>94</cp:revision>
  <dcterms:created xsi:type="dcterms:W3CDTF">2016-11-08T20:02:24Z</dcterms:created>
  <dcterms:modified xsi:type="dcterms:W3CDTF">2022-08-23T21:27:29Z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0x01010071ABE4F0146DB64EBC5498D9D22CB75D</vt:lpwstr>
  </property>
  <property fmtid="{D5CDD505-2E9C-101B-9397-08002B2CF9AE}" pid="3" name="Order">
    <vt:r8>424600</vt:r8>
  </property>
  <property fmtid="{D5CDD505-2E9C-101B-9397-08002B2CF9AE}" pid="4" name="MediaServiceImageTags">
    <vt:lpwstr/>
  </property>
</Properties>
</file>